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5835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9728"/>
          </a:xfrm>
          <a:prstGeom prst="rect">
            <a:avLst/>
          </a:prstGeom>
          <a:solidFill>
            <a:srgbClr val="1F3864"/>
          </a:solidFill>
          <a:ln/>
        </p:spPr>
      </p:sp>
      <p:sp>
        <p:nvSpPr>
          <p:cNvPr id="3" name="Text 1"/>
          <p:cNvSpPr/>
          <p:nvPr/>
        </p:nvSpPr>
        <p:spPr>
          <a:xfrm>
            <a:off x="4572000" y="9144"/>
            <a:ext cx="7159752" cy="128016"/>
          </a:xfrm>
          <a:prstGeom prst="rect">
            <a:avLst/>
          </a:prstGeom>
          <a:noFill/>
          <a:ln/>
        </p:spPr>
        <p:txBody>
          <a:bodyPr wrap="square" rtlCol="0" anchor="ctr"/>
          <a:lstStyle/>
          <a:p>
            <a:pPr marL="0" indent="0" algn="r">
              <a:buNone/>
            </a:pPr>
            <a:r>
              <a:rPr lang="en-US" sz="900" b="1" dirty="0">
                <a:solidFill>
                  <a:srgbClr val="1F3864"/>
                </a:solidFill>
              </a:rPr>
              <a:t>CSA15 | Cloud Computing and Big Data Analytics</a:t>
            </a:r>
            <a:endParaRPr lang="en-US" sz="900" dirty="0"/>
          </a:p>
        </p:txBody>
      </p:sp>
      <p:sp>
        <p:nvSpPr>
          <p:cNvPr id="4" name="Shape 2"/>
          <p:cNvSpPr/>
          <p:nvPr/>
        </p:nvSpPr>
        <p:spPr>
          <a:xfrm>
            <a:off x="0" y="6720840"/>
            <a:ext cx="12192000" cy="137160"/>
          </a:xfrm>
          <a:prstGeom prst="rect">
            <a:avLst/>
          </a:prstGeom>
          <a:solidFill>
            <a:srgbClr val="FFFFFF"/>
          </a:solidFill>
          <a:ln/>
        </p:spPr>
      </p:sp>
      <p:sp>
        <p:nvSpPr>
          <p:cNvPr id="5" name="Text 3"/>
          <p:cNvSpPr/>
          <p:nvPr/>
        </p:nvSpPr>
        <p:spPr>
          <a:xfrm>
            <a:off x="274320" y="6729984"/>
            <a:ext cx="8229600" cy="109728"/>
          </a:xfrm>
          <a:prstGeom prst="rect">
            <a:avLst/>
          </a:prstGeom>
          <a:noFill/>
          <a:ln/>
        </p:spPr>
        <p:txBody>
          <a:bodyPr wrap="square" rtlCol="0" anchor="ctr"/>
          <a:lstStyle/>
          <a:p>
            <a:pPr marL="0" indent="0">
              <a:buNone/>
            </a:pPr>
            <a:r>
              <a:rPr lang="en-US" sz="800" dirty="0">
                <a:solidFill>
                  <a:srgbClr val="595959"/>
                </a:solidFill>
              </a:rPr>
              <a:t>Individual student submission template | Department of Computer Science and Engineering</a:t>
            </a:r>
            <a:endParaRPr lang="en-US" sz="800" dirty="0"/>
          </a:p>
        </p:txBody>
      </p:sp>
      <p:sp>
        <p:nvSpPr>
          <p:cNvPr id="6" name="Text 4"/>
          <p:cNvSpPr/>
          <p:nvPr/>
        </p:nvSpPr>
        <p:spPr>
          <a:xfrm>
            <a:off x="10515600" y="6729984"/>
            <a:ext cx="1554480" cy="109728"/>
          </a:xfrm>
          <a:prstGeom prst="rect">
            <a:avLst/>
          </a:prstGeom>
          <a:noFill/>
          <a:ln/>
        </p:spPr>
        <p:txBody>
          <a:bodyPr wrap="square" rtlCol="0" anchor="ctr"/>
          <a:lstStyle/>
          <a:p>
            <a:pPr marL="0" indent="0" algn="r">
              <a:buNone/>
            </a:pPr>
            <a:r>
              <a:rPr lang="en-US" sz="800" b="1" dirty="0">
                <a:solidFill>
                  <a:srgbClr val="1F3864"/>
                </a:solidFill>
              </a:rPr>
              <a:t>CO1 AT3 | 01</a:t>
            </a:r>
            <a:endParaRPr lang="en-US" sz="800" dirty="0"/>
          </a:p>
        </p:txBody>
      </p:sp>
      <p:sp>
        <p:nvSpPr>
          <p:cNvPr id="7" name="Text 5"/>
          <p:cNvSpPr/>
          <p:nvPr/>
        </p:nvSpPr>
        <p:spPr>
          <a:xfrm>
            <a:off x="411480" y="822960"/>
            <a:ext cx="6583680" cy="640080"/>
          </a:xfrm>
          <a:prstGeom prst="rect">
            <a:avLst/>
          </a:prstGeom>
          <a:noFill/>
          <a:ln/>
        </p:spPr>
        <p:txBody>
          <a:bodyPr wrap="square" rtlCol="0" anchor="ctr"/>
          <a:lstStyle/>
          <a:p>
            <a:pPr marL="0" indent="0">
              <a:buNone/>
            </a:pPr>
            <a:r>
              <a:rPr lang="en-US" sz="2600" b="1" dirty="0">
                <a:solidFill>
                  <a:srgbClr val="1F3864"/>
                </a:solidFill>
              </a:rPr>
              <a:t>CSA15 Cloud Computing and Big Data Analytics</a:t>
            </a:r>
            <a:endParaRPr lang="en-US" sz="2600" dirty="0"/>
          </a:p>
        </p:txBody>
      </p:sp>
      <p:sp>
        <p:nvSpPr>
          <p:cNvPr id="8" name="Shape 6"/>
          <p:cNvSpPr/>
          <p:nvPr/>
        </p:nvSpPr>
        <p:spPr>
          <a:xfrm>
            <a:off x="411480" y="1508760"/>
            <a:ext cx="6217920" cy="36576"/>
          </a:xfrm>
          <a:prstGeom prst="rect">
            <a:avLst/>
          </a:prstGeom>
          <a:solidFill>
            <a:srgbClr val="2E75B6"/>
          </a:solidFill>
          <a:ln/>
        </p:spPr>
      </p:sp>
      <p:sp>
        <p:nvSpPr>
          <p:cNvPr id="9" name="Text 7"/>
          <p:cNvSpPr/>
          <p:nvPr/>
        </p:nvSpPr>
        <p:spPr>
          <a:xfrm>
            <a:off x="411480" y="1627632"/>
            <a:ext cx="6583680" cy="384048"/>
          </a:xfrm>
          <a:prstGeom prst="rect">
            <a:avLst/>
          </a:prstGeom>
          <a:noFill/>
          <a:ln/>
        </p:spPr>
        <p:txBody>
          <a:bodyPr wrap="square" rtlCol="0" anchor="ctr"/>
          <a:lstStyle/>
          <a:p>
            <a:pPr marL="0" indent="0">
              <a:buNone/>
            </a:pPr>
            <a:r>
              <a:rPr lang="en-US" sz="2000" b="1" dirty="0">
                <a:solidFill>
                  <a:srgbClr val="2E75B6"/>
                </a:solidFill>
              </a:rPr>
              <a:t>Capstone Cloud Technical Presentation</a:t>
            </a:r>
            <a:endParaRPr lang="en-US" sz="2000" dirty="0"/>
          </a:p>
        </p:txBody>
      </p:sp>
      <p:sp>
        <p:nvSpPr>
          <p:cNvPr id="10" name="Text 8"/>
          <p:cNvSpPr/>
          <p:nvPr/>
        </p:nvSpPr>
        <p:spPr>
          <a:xfrm>
            <a:off x="411480" y="2057400"/>
            <a:ext cx="6583680" cy="274320"/>
          </a:xfrm>
          <a:prstGeom prst="rect">
            <a:avLst/>
          </a:prstGeom>
          <a:noFill/>
          <a:ln/>
        </p:spPr>
        <p:txBody>
          <a:bodyPr wrap="square" rtlCol="0" anchor="ctr"/>
          <a:lstStyle/>
          <a:p>
            <a:pPr marL="0" indent="0">
              <a:buNone/>
            </a:pPr>
            <a:r>
              <a:rPr lang="en-US" sz="1400" dirty="0">
                <a:solidFill>
                  <a:srgbClr val="595959"/>
                </a:solidFill>
              </a:rPr>
              <a:t>Individual Student Presentation Deck</a:t>
            </a:r>
            <a:endParaRPr lang="en-US" sz="1400" dirty="0"/>
          </a:p>
        </p:txBody>
      </p:sp>
      <p:sp>
        <p:nvSpPr>
          <p:cNvPr id="11" name="Shape 9"/>
          <p:cNvSpPr/>
          <p:nvPr/>
        </p:nvSpPr>
        <p:spPr>
          <a:xfrm>
            <a:off x="411480" y="3931920"/>
            <a:ext cx="6583680" cy="1188720"/>
          </a:xfrm>
          <a:prstGeom prst="rect">
            <a:avLst/>
          </a:prstGeom>
          <a:solidFill>
            <a:srgbClr val="EFF3F8"/>
          </a:solidFill>
          <a:ln w="12700">
            <a:solidFill>
              <a:srgbClr val="C8D4E8"/>
            </a:solidFill>
            <a:prstDash val="solid"/>
          </a:ln>
        </p:spPr>
      </p:sp>
      <p:sp>
        <p:nvSpPr>
          <p:cNvPr id="12" name="Shape 10"/>
          <p:cNvSpPr/>
          <p:nvPr/>
        </p:nvSpPr>
        <p:spPr>
          <a:xfrm>
            <a:off x="411480" y="3931920"/>
            <a:ext cx="54864" cy="1188720"/>
          </a:xfrm>
          <a:prstGeom prst="rect">
            <a:avLst/>
          </a:prstGeom>
          <a:solidFill>
            <a:srgbClr val="1F3864"/>
          </a:solidFill>
          <a:ln/>
        </p:spPr>
      </p:sp>
      <p:sp>
        <p:nvSpPr>
          <p:cNvPr id="13" name="Text 11"/>
          <p:cNvSpPr/>
          <p:nvPr/>
        </p:nvSpPr>
        <p:spPr>
          <a:xfrm>
            <a:off x="594360" y="4059936"/>
            <a:ext cx="6309360" cy="256032"/>
          </a:xfrm>
          <a:prstGeom prst="rect">
            <a:avLst/>
          </a:prstGeom>
          <a:noFill/>
          <a:ln/>
        </p:spPr>
        <p:txBody>
          <a:bodyPr wrap="square" rtlCol="0" anchor="ctr"/>
          <a:lstStyle/>
          <a:p>
            <a:pPr marL="0" indent="0">
              <a:buNone/>
            </a:pPr>
            <a:r>
              <a:rPr lang="en-US" sz="1400" b="1" dirty="0">
                <a:solidFill>
                  <a:srgbClr val="2E75B6"/>
                </a:solidFill>
              </a:rPr>
              <a:t>Presentation Focus</a:t>
            </a:r>
            <a:endParaRPr lang="en-US" sz="1400" dirty="0"/>
          </a:p>
        </p:txBody>
      </p:sp>
      <p:sp>
        <p:nvSpPr>
          <p:cNvPr id="14" name="Text 12"/>
          <p:cNvSpPr/>
          <p:nvPr/>
        </p:nvSpPr>
        <p:spPr>
          <a:xfrm>
            <a:off x="594360" y="4352544"/>
            <a:ext cx="6309360" cy="658368"/>
          </a:xfrm>
          <a:prstGeom prst="rect">
            <a:avLst/>
          </a:prstGeom>
          <a:noFill/>
          <a:ln/>
        </p:spPr>
        <p:txBody>
          <a:bodyPr wrap="square" rtlCol="0" anchor="ctr"/>
          <a:lstStyle/>
          <a:p>
            <a:pPr marL="0" indent="0">
              <a:buNone/>
            </a:pPr>
            <a:r>
              <a:rPr lang="en-US" sz="1200" dirty="0">
                <a:solidFill>
                  <a:srgbClr val="595959"/>
                </a:solidFill>
              </a:rPr>
              <a:t>Present your capstone as a cloud-backed product. Explain the problem, architecture, service choices, evidence, and CO1 learning clearly.</a:t>
            </a:r>
            <a:endParaRPr lang="en-US" sz="1200" dirty="0"/>
          </a:p>
        </p:txBody>
      </p:sp>
      <p:sp>
        <p:nvSpPr>
          <p:cNvPr id="15" name="Shape 13"/>
          <p:cNvSpPr/>
          <p:nvPr/>
        </p:nvSpPr>
        <p:spPr>
          <a:xfrm>
            <a:off x="7406640" y="1005840"/>
            <a:ext cx="4389120" cy="3657600"/>
          </a:xfrm>
          <a:prstGeom prst="rect">
            <a:avLst/>
          </a:prstGeom>
          <a:solidFill>
            <a:srgbClr val="FFFFFF"/>
          </a:solidFill>
          <a:ln w="19050">
            <a:solidFill>
              <a:srgbClr val="C8D4E8"/>
            </a:solidFill>
            <a:prstDash val="solid"/>
          </a:ln>
        </p:spPr>
      </p:sp>
      <p:sp>
        <p:nvSpPr>
          <p:cNvPr id="16" name="Shape 14"/>
          <p:cNvSpPr/>
          <p:nvPr/>
        </p:nvSpPr>
        <p:spPr>
          <a:xfrm>
            <a:off x="7406640" y="1005840"/>
            <a:ext cx="4389120" cy="36576"/>
          </a:xfrm>
          <a:prstGeom prst="rect">
            <a:avLst/>
          </a:prstGeom>
          <a:solidFill>
            <a:srgbClr val="1F3864"/>
          </a:solidFill>
          <a:ln/>
        </p:spPr>
      </p:sp>
      <p:sp>
        <p:nvSpPr>
          <p:cNvPr id="17" name="Text 15"/>
          <p:cNvSpPr/>
          <p:nvPr/>
        </p:nvSpPr>
        <p:spPr>
          <a:xfrm>
            <a:off x="7543800" y="1115568"/>
            <a:ext cx="4114800" cy="274320"/>
          </a:xfrm>
          <a:prstGeom prst="rect">
            <a:avLst/>
          </a:prstGeom>
          <a:noFill/>
          <a:ln/>
        </p:spPr>
        <p:txBody>
          <a:bodyPr wrap="square" rtlCol="0" anchor="ctr"/>
          <a:lstStyle/>
          <a:p>
            <a:pPr marL="0" indent="0">
              <a:buNone/>
            </a:pPr>
            <a:r>
              <a:rPr lang="en-US" sz="1400" b="1" dirty="0">
                <a:solidFill>
                  <a:srgbClr val="2E75B6"/>
                </a:solidFill>
              </a:rPr>
              <a:t>Presenter Details</a:t>
            </a:r>
            <a:endParaRPr lang="en-US" sz="1400" dirty="0"/>
          </a:p>
        </p:txBody>
      </p:sp>
      <p:sp>
        <p:nvSpPr>
          <p:cNvPr id="18" name="Text 16"/>
          <p:cNvSpPr/>
          <p:nvPr/>
        </p:nvSpPr>
        <p:spPr>
          <a:xfrm>
            <a:off x="7543800" y="1508760"/>
            <a:ext cx="1828800" cy="256032"/>
          </a:xfrm>
          <a:prstGeom prst="rect">
            <a:avLst/>
          </a:prstGeom>
          <a:noFill/>
          <a:ln/>
        </p:spPr>
        <p:txBody>
          <a:bodyPr wrap="square" rtlCol="0" anchor="ctr"/>
          <a:lstStyle/>
          <a:p>
            <a:pPr marL="0" indent="0">
              <a:buNone/>
            </a:pPr>
            <a:r>
              <a:rPr lang="en-US" sz="1100" b="1" dirty="0">
                <a:solidFill>
                  <a:srgbClr val="1F3864"/>
                </a:solidFill>
              </a:rPr>
              <a:t>Student Name:</a:t>
            </a:r>
            <a:endParaRPr lang="en-US" sz="1100" dirty="0"/>
          </a:p>
        </p:txBody>
      </p:sp>
      <p:sp>
        <p:nvSpPr>
          <p:cNvPr id="19" name="Text 17"/>
          <p:cNvSpPr/>
          <p:nvPr/>
        </p:nvSpPr>
        <p:spPr>
          <a:xfrm>
            <a:off x="9372600" y="1508760"/>
            <a:ext cx="2286000" cy="256032"/>
          </a:xfrm>
          <a:prstGeom prst="rect">
            <a:avLst/>
          </a:prstGeom>
          <a:noFill/>
          <a:ln/>
        </p:spPr>
        <p:txBody>
          <a:bodyPr wrap="square" rtlCol="0" anchor="ctr"/>
          <a:lstStyle/>
          <a:p>
            <a:pPr marL="0" indent="0">
              <a:buNone/>
            </a:pPr>
            <a:r>
              <a:rPr lang="en-US" sz="1000" dirty="0">
                <a:solidFill>
                  <a:srgbClr val="595959"/>
                </a:solidFill>
              </a:rPr>
              <a:t>L Nihas Goud</a:t>
            </a:r>
            <a:endParaRPr lang="en-US" sz="1000" dirty="0"/>
          </a:p>
        </p:txBody>
      </p:sp>
      <p:sp>
        <p:nvSpPr>
          <p:cNvPr id="20" name="Text 18"/>
          <p:cNvSpPr/>
          <p:nvPr/>
        </p:nvSpPr>
        <p:spPr>
          <a:xfrm>
            <a:off x="7543800" y="1828800"/>
            <a:ext cx="1828800" cy="256032"/>
          </a:xfrm>
          <a:prstGeom prst="rect">
            <a:avLst/>
          </a:prstGeom>
          <a:noFill/>
          <a:ln/>
        </p:spPr>
        <p:txBody>
          <a:bodyPr wrap="square" rtlCol="0" anchor="ctr"/>
          <a:lstStyle/>
          <a:p>
            <a:pPr marL="0" indent="0">
              <a:buNone/>
            </a:pPr>
            <a:r>
              <a:rPr lang="en-US" sz="1100" b="1" dirty="0">
                <a:solidFill>
                  <a:srgbClr val="1F3864"/>
                </a:solidFill>
              </a:rPr>
              <a:t>Register Number:</a:t>
            </a:r>
            <a:endParaRPr lang="en-US" sz="1100" dirty="0"/>
          </a:p>
        </p:txBody>
      </p:sp>
      <p:sp>
        <p:nvSpPr>
          <p:cNvPr id="21" name="Text 19"/>
          <p:cNvSpPr/>
          <p:nvPr/>
        </p:nvSpPr>
        <p:spPr>
          <a:xfrm>
            <a:off x="9372600" y="1828800"/>
            <a:ext cx="2286000" cy="256032"/>
          </a:xfrm>
          <a:prstGeom prst="rect">
            <a:avLst/>
          </a:prstGeom>
          <a:noFill/>
          <a:ln/>
        </p:spPr>
        <p:txBody>
          <a:bodyPr wrap="square" rtlCol="0" anchor="ctr"/>
          <a:lstStyle/>
          <a:p>
            <a:pPr marL="0" indent="0">
              <a:buNone/>
            </a:pPr>
            <a:r>
              <a:rPr lang="en-US" sz="1000" dirty="0">
                <a:solidFill>
                  <a:srgbClr val="595959"/>
                </a:solidFill>
              </a:rPr>
              <a:t>192472346</a:t>
            </a:r>
            <a:endParaRPr lang="en-US" sz="1000" dirty="0"/>
          </a:p>
        </p:txBody>
      </p:sp>
      <p:sp>
        <p:nvSpPr>
          <p:cNvPr id="22" name="Text 20"/>
          <p:cNvSpPr/>
          <p:nvPr/>
        </p:nvSpPr>
        <p:spPr>
          <a:xfrm>
            <a:off x="7543800" y="2148840"/>
            <a:ext cx="1828800" cy="256032"/>
          </a:xfrm>
          <a:prstGeom prst="rect">
            <a:avLst/>
          </a:prstGeom>
          <a:noFill/>
          <a:ln/>
        </p:spPr>
        <p:txBody>
          <a:bodyPr wrap="square" rtlCol="0" anchor="ctr"/>
          <a:lstStyle/>
          <a:p>
            <a:pPr marL="0" indent="0">
              <a:buNone/>
            </a:pPr>
            <a:r>
              <a:rPr lang="en-US" sz="1100" b="1" dirty="0">
                <a:solidFill>
                  <a:srgbClr val="1F3864"/>
                </a:solidFill>
              </a:rPr>
              <a:t>Class / Section / Slot:</a:t>
            </a:r>
            <a:endParaRPr lang="en-US" sz="1100" dirty="0"/>
          </a:p>
        </p:txBody>
      </p:sp>
      <p:sp>
        <p:nvSpPr>
          <p:cNvPr id="23" name="Text 21"/>
          <p:cNvSpPr/>
          <p:nvPr/>
        </p:nvSpPr>
        <p:spPr>
          <a:xfrm>
            <a:off x="9372600" y="2148840"/>
            <a:ext cx="2286000" cy="256032"/>
          </a:xfrm>
          <a:prstGeom prst="rect">
            <a:avLst/>
          </a:prstGeom>
          <a:noFill/>
          <a:ln/>
        </p:spPr>
        <p:txBody>
          <a:bodyPr wrap="square" rtlCol="0" anchor="ctr"/>
          <a:lstStyle/>
          <a:p>
            <a:pPr marL="0" indent="0">
              <a:buNone/>
            </a:pPr>
            <a:r>
              <a:rPr lang="en-US" sz="1000" dirty="0">
                <a:solidFill>
                  <a:srgbClr val="595959"/>
                </a:solidFill>
              </a:rPr>
              <a:t>CSA1512</a:t>
            </a:r>
            <a:endParaRPr lang="en-US" sz="1000" dirty="0"/>
          </a:p>
        </p:txBody>
      </p:sp>
      <p:sp>
        <p:nvSpPr>
          <p:cNvPr id="24" name="Text 22"/>
          <p:cNvSpPr/>
          <p:nvPr/>
        </p:nvSpPr>
        <p:spPr>
          <a:xfrm>
            <a:off x="7543800" y="2468880"/>
            <a:ext cx="1828800" cy="256032"/>
          </a:xfrm>
          <a:prstGeom prst="rect">
            <a:avLst/>
          </a:prstGeom>
          <a:noFill/>
          <a:ln/>
        </p:spPr>
        <p:txBody>
          <a:bodyPr wrap="square" rtlCol="0" anchor="ctr"/>
          <a:lstStyle/>
          <a:p>
            <a:pPr marL="0" indent="0">
              <a:buNone/>
            </a:pPr>
            <a:r>
              <a:rPr lang="en-US" sz="1100" b="1" dirty="0">
                <a:solidFill>
                  <a:srgbClr val="1F3864"/>
                </a:solidFill>
              </a:rPr>
              <a:t>Capstone Title:</a:t>
            </a:r>
            <a:endParaRPr lang="en-US" sz="1100" dirty="0"/>
          </a:p>
        </p:txBody>
      </p:sp>
      <p:sp>
        <p:nvSpPr>
          <p:cNvPr id="25" name="Text 23"/>
          <p:cNvSpPr/>
          <p:nvPr/>
        </p:nvSpPr>
        <p:spPr>
          <a:xfrm>
            <a:off x="9372600" y="2468880"/>
            <a:ext cx="2286000" cy="256032"/>
          </a:xfrm>
          <a:prstGeom prst="rect">
            <a:avLst/>
          </a:prstGeom>
          <a:noFill/>
          <a:ln/>
        </p:spPr>
        <p:txBody>
          <a:bodyPr wrap="square" rtlCol="0" anchor="ctr"/>
          <a:lstStyle/>
          <a:p>
            <a:pPr marL="0" indent="0">
              <a:buNone/>
            </a:pPr>
            <a:r>
              <a:rPr lang="en-US" sz="1000" dirty="0">
                <a:solidFill>
                  <a:srgbClr val="595959"/>
                </a:solidFill>
              </a:rPr>
              <a:t>SkillHire – Cloud Resume-to-Job Matcher Using NLP Skill Gap Intelligence</a:t>
            </a:r>
            <a:endParaRPr lang="en-US" sz="1000" dirty="0"/>
          </a:p>
        </p:txBody>
      </p:sp>
      <p:sp>
        <p:nvSpPr>
          <p:cNvPr id="26" name="Text 24"/>
          <p:cNvSpPr/>
          <p:nvPr/>
        </p:nvSpPr>
        <p:spPr>
          <a:xfrm>
            <a:off x="7543800" y="2944368"/>
            <a:ext cx="1828800" cy="256032"/>
          </a:xfrm>
          <a:prstGeom prst="rect">
            <a:avLst/>
          </a:prstGeom>
          <a:noFill/>
          <a:ln/>
        </p:spPr>
        <p:txBody>
          <a:bodyPr wrap="square" rtlCol="0" anchor="ctr"/>
          <a:lstStyle/>
          <a:p>
            <a:pPr marL="0" indent="0">
              <a:buNone/>
            </a:pPr>
            <a:r>
              <a:rPr lang="en-US" sz="1100" b="1" dirty="0">
                <a:solidFill>
                  <a:srgbClr val="1F3864"/>
                </a:solidFill>
              </a:rPr>
              <a:t>Selected SDG Goal(s):</a:t>
            </a:r>
            <a:endParaRPr lang="en-US" sz="1100" dirty="0"/>
          </a:p>
        </p:txBody>
      </p:sp>
      <p:sp>
        <p:nvSpPr>
          <p:cNvPr id="27" name="Text 25"/>
          <p:cNvSpPr/>
          <p:nvPr/>
        </p:nvSpPr>
        <p:spPr>
          <a:xfrm>
            <a:off x="9372600" y="2944368"/>
            <a:ext cx="2286000" cy="256032"/>
          </a:xfrm>
          <a:prstGeom prst="rect">
            <a:avLst/>
          </a:prstGeom>
          <a:noFill/>
          <a:ln/>
        </p:spPr>
        <p:txBody>
          <a:bodyPr wrap="square" rtlCol="0" anchor="ctr"/>
          <a:lstStyle/>
          <a:p>
            <a:pPr marL="0" indent="0">
              <a:buNone/>
            </a:pPr>
            <a:r>
              <a:rPr lang="en-US" sz="1000" dirty="0">
                <a:solidFill>
                  <a:srgbClr val="595959"/>
                </a:solidFill>
              </a:rPr>
              <a:t>SDG 8 – Decent Work &amp; Economic Growth</a:t>
            </a:r>
            <a:endParaRPr lang="en-US" sz="1000" dirty="0"/>
          </a:p>
        </p:txBody>
      </p:sp>
      <p:sp>
        <p:nvSpPr>
          <p:cNvPr id="28" name="Text 26"/>
          <p:cNvSpPr/>
          <p:nvPr/>
        </p:nvSpPr>
        <p:spPr>
          <a:xfrm>
            <a:off x="7543800" y="3264408"/>
            <a:ext cx="1828800" cy="256032"/>
          </a:xfrm>
          <a:prstGeom prst="rect">
            <a:avLst/>
          </a:prstGeom>
          <a:noFill/>
          <a:ln/>
        </p:spPr>
        <p:txBody>
          <a:bodyPr wrap="square" rtlCol="0" anchor="ctr"/>
          <a:lstStyle/>
          <a:p>
            <a:pPr marL="0" indent="0">
              <a:buNone/>
            </a:pPr>
            <a:r>
              <a:rPr lang="en-US" sz="1100" b="1" dirty="0">
                <a:solidFill>
                  <a:srgbClr val="1F3864"/>
                </a:solidFill>
              </a:rPr>
              <a:t>Cloud Platform / Tools:</a:t>
            </a:r>
            <a:endParaRPr lang="en-US" sz="1100" dirty="0"/>
          </a:p>
        </p:txBody>
      </p:sp>
      <p:sp>
        <p:nvSpPr>
          <p:cNvPr id="29" name="Text 27"/>
          <p:cNvSpPr/>
          <p:nvPr/>
        </p:nvSpPr>
        <p:spPr>
          <a:xfrm>
            <a:off x="9372600" y="3264408"/>
            <a:ext cx="2286000" cy="256032"/>
          </a:xfrm>
          <a:prstGeom prst="rect">
            <a:avLst/>
          </a:prstGeom>
          <a:noFill/>
          <a:ln/>
        </p:spPr>
        <p:txBody>
          <a:bodyPr wrap="square" rtlCol="0" anchor="ctr"/>
          <a:lstStyle/>
          <a:p>
            <a:pPr marL="0" indent="0">
              <a:buNone/>
            </a:pPr>
            <a:r>
              <a:rPr lang="en-US" sz="1000" dirty="0">
                <a:solidFill>
                  <a:srgbClr val="595959"/>
                </a:solidFill>
              </a:rPr>
              <a:t>AWS (Lambda, API GW, S3, DynamoDB, Cognito, CloudWatch)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9728"/>
          </a:xfrm>
          <a:prstGeom prst="rect">
            <a:avLst/>
          </a:prstGeom>
          <a:solidFill>
            <a:srgbClr val="1F3864"/>
          </a:solidFill>
          <a:ln/>
        </p:spPr>
      </p:sp>
      <p:sp>
        <p:nvSpPr>
          <p:cNvPr id="3" name="Text 1"/>
          <p:cNvSpPr/>
          <p:nvPr/>
        </p:nvSpPr>
        <p:spPr>
          <a:xfrm>
            <a:off x="4572000" y="9144"/>
            <a:ext cx="7159752" cy="128016"/>
          </a:xfrm>
          <a:prstGeom prst="rect">
            <a:avLst/>
          </a:prstGeom>
          <a:noFill/>
          <a:ln/>
        </p:spPr>
        <p:txBody>
          <a:bodyPr wrap="square" rtlCol="0" anchor="ctr"/>
          <a:lstStyle/>
          <a:p>
            <a:pPr marL="0" indent="0" algn="r">
              <a:buNone/>
            </a:pPr>
            <a:r>
              <a:rPr lang="en-US" sz="900" b="1" dirty="0">
                <a:solidFill>
                  <a:srgbClr val="1F3864"/>
                </a:solidFill>
              </a:rPr>
              <a:t>CSA15 | Cloud Computing and Big Data Analytics</a:t>
            </a:r>
            <a:endParaRPr lang="en-US" sz="900" dirty="0"/>
          </a:p>
        </p:txBody>
      </p:sp>
      <p:sp>
        <p:nvSpPr>
          <p:cNvPr id="4" name="Shape 2"/>
          <p:cNvSpPr/>
          <p:nvPr/>
        </p:nvSpPr>
        <p:spPr>
          <a:xfrm>
            <a:off x="0" y="6720840"/>
            <a:ext cx="12192000" cy="137160"/>
          </a:xfrm>
          <a:prstGeom prst="rect">
            <a:avLst/>
          </a:prstGeom>
          <a:solidFill>
            <a:srgbClr val="FFFFFF"/>
          </a:solidFill>
          <a:ln/>
        </p:spPr>
      </p:sp>
      <p:sp>
        <p:nvSpPr>
          <p:cNvPr id="5" name="Text 3"/>
          <p:cNvSpPr/>
          <p:nvPr/>
        </p:nvSpPr>
        <p:spPr>
          <a:xfrm>
            <a:off x="274320" y="6729984"/>
            <a:ext cx="8229600" cy="109728"/>
          </a:xfrm>
          <a:prstGeom prst="rect">
            <a:avLst/>
          </a:prstGeom>
          <a:noFill/>
          <a:ln/>
        </p:spPr>
        <p:txBody>
          <a:bodyPr wrap="square" rtlCol="0" anchor="ctr"/>
          <a:lstStyle/>
          <a:p>
            <a:pPr marL="0" indent="0">
              <a:buNone/>
            </a:pPr>
            <a:r>
              <a:rPr lang="en-US" sz="800" dirty="0">
                <a:solidFill>
                  <a:srgbClr val="595959"/>
                </a:solidFill>
              </a:rPr>
              <a:t>Individual student submission template | Department of Computer Science and Engineering</a:t>
            </a:r>
            <a:endParaRPr lang="en-US" sz="800" dirty="0"/>
          </a:p>
        </p:txBody>
      </p:sp>
      <p:sp>
        <p:nvSpPr>
          <p:cNvPr id="6" name="Text 4"/>
          <p:cNvSpPr/>
          <p:nvPr/>
        </p:nvSpPr>
        <p:spPr>
          <a:xfrm>
            <a:off x="10515600" y="6729984"/>
            <a:ext cx="1554480" cy="109728"/>
          </a:xfrm>
          <a:prstGeom prst="rect">
            <a:avLst/>
          </a:prstGeom>
          <a:noFill/>
          <a:ln/>
        </p:spPr>
        <p:txBody>
          <a:bodyPr wrap="square" rtlCol="0" anchor="ctr"/>
          <a:lstStyle/>
          <a:p>
            <a:pPr marL="0" indent="0" algn="r">
              <a:buNone/>
            </a:pPr>
            <a:r>
              <a:rPr lang="en-US" sz="800" b="1" dirty="0">
                <a:solidFill>
                  <a:srgbClr val="1F3864"/>
                </a:solidFill>
              </a:rPr>
              <a:t>CO1 AT3 | 02</a:t>
            </a:r>
            <a:endParaRPr lang="en-US" sz="800" dirty="0"/>
          </a:p>
        </p:txBody>
      </p:sp>
      <p:sp>
        <p:nvSpPr>
          <p:cNvPr id="7" name="Text 5"/>
          <p:cNvSpPr/>
          <p:nvPr/>
        </p:nvSpPr>
        <p:spPr>
          <a:xfrm>
            <a:off x="365760" y="201168"/>
            <a:ext cx="11430000" cy="502920"/>
          </a:xfrm>
          <a:prstGeom prst="rect">
            <a:avLst/>
          </a:prstGeom>
          <a:noFill/>
          <a:ln/>
        </p:spPr>
        <p:txBody>
          <a:bodyPr wrap="square" rtlCol="0" anchor="ctr"/>
          <a:lstStyle/>
          <a:p>
            <a:pPr marL="0" indent="0">
              <a:buNone/>
            </a:pPr>
            <a:r>
              <a:rPr lang="en-US" sz="2800" b="1" dirty="0">
                <a:solidFill>
                  <a:srgbClr val="1F3864"/>
                </a:solidFill>
              </a:rPr>
              <a:t>Problem Context and Stakeholder Mapping</a:t>
            </a:r>
            <a:endParaRPr lang="en-US" sz="2800" dirty="0"/>
          </a:p>
        </p:txBody>
      </p:sp>
      <p:sp>
        <p:nvSpPr>
          <p:cNvPr id="8" name="Text 6"/>
          <p:cNvSpPr/>
          <p:nvPr/>
        </p:nvSpPr>
        <p:spPr>
          <a:xfrm>
            <a:off x="365760" y="713232"/>
            <a:ext cx="9144000" cy="201168"/>
          </a:xfrm>
          <a:prstGeom prst="rect">
            <a:avLst/>
          </a:prstGeom>
          <a:noFill/>
          <a:ln/>
        </p:spPr>
        <p:txBody>
          <a:bodyPr wrap="square" rtlCol="0" anchor="ctr"/>
          <a:lstStyle/>
          <a:p>
            <a:pPr marL="0" indent="0">
              <a:buNone/>
            </a:pPr>
            <a:r>
              <a:rPr lang="en-US" sz="1400" dirty="0">
                <a:solidFill>
                  <a:srgbClr val="595959"/>
                </a:solidFill>
              </a:rPr>
              <a:t>Our capstone begins with a real problem to solve</a:t>
            </a:r>
            <a:endParaRPr lang="en-US" sz="1400" dirty="0"/>
          </a:p>
        </p:txBody>
      </p:sp>
      <p:sp>
        <p:nvSpPr>
          <p:cNvPr id="9" name="Shape 7"/>
          <p:cNvSpPr/>
          <p:nvPr/>
        </p:nvSpPr>
        <p:spPr>
          <a:xfrm>
            <a:off x="365760" y="1005840"/>
            <a:ext cx="5394960" cy="2011680"/>
          </a:xfrm>
          <a:prstGeom prst="rect">
            <a:avLst/>
          </a:prstGeom>
          <a:solidFill>
            <a:srgbClr val="EFF3F8"/>
          </a:solidFill>
          <a:ln w="12700">
            <a:solidFill>
              <a:srgbClr val="C8D4E8"/>
            </a:solidFill>
            <a:prstDash val="solid"/>
          </a:ln>
        </p:spPr>
      </p:sp>
      <p:sp>
        <p:nvSpPr>
          <p:cNvPr id="10" name="Shape 8"/>
          <p:cNvSpPr/>
          <p:nvPr/>
        </p:nvSpPr>
        <p:spPr>
          <a:xfrm>
            <a:off x="365760" y="1005840"/>
            <a:ext cx="5394960" cy="54864"/>
          </a:xfrm>
          <a:prstGeom prst="rect">
            <a:avLst/>
          </a:prstGeom>
          <a:solidFill>
            <a:srgbClr val="1F3864"/>
          </a:solidFill>
          <a:ln/>
        </p:spPr>
      </p:sp>
      <p:sp>
        <p:nvSpPr>
          <p:cNvPr id="11" name="Text 9"/>
          <p:cNvSpPr/>
          <p:nvPr/>
        </p:nvSpPr>
        <p:spPr>
          <a:xfrm>
            <a:off x="502920" y="1152144"/>
            <a:ext cx="5166360" cy="256032"/>
          </a:xfrm>
          <a:prstGeom prst="rect">
            <a:avLst/>
          </a:prstGeom>
          <a:noFill/>
          <a:ln/>
        </p:spPr>
        <p:txBody>
          <a:bodyPr wrap="square" rtlCol="0" anchor="ctr"/>
          <a:lstStyle/>
          <a:p>
            <a:pPr marL="0" indent="0">
              <a:buNone/>
            </a:pPr>
            <a:r>
              <a:rPr lang="en-US" sz="1400" b="1" dirty="0">
                <a:solidFill>
                  <a:srgbClr val="2E75B6"/>
                </a:solidFill>
              </a:rPr>
              <a:t>Problem Statement</a:t>
            </a:r>
            <a:endParaRPr lang="en-US" sz="1400" dirty="0"/>
          </a:p>
        </p:txBody>
      </p:sp>
      <p:sp>
        <p:nvSpPr>
          <p:cNvPr id="12" name="Text 10"/>
          <p:cNvSpPr/>
          <p:nvPr/>
        </p:nvSpPr>
        <p:spPr>
          <a:xfrm>
            <a:off x="502920" y="1463040"/>
            <a:ext cx="5166360" cy="1463040"/>
          </a:xfrm>
          <a:prstGeom prst="rect">
            <a:avLst/>
          </a:prstGeom>
          <a:noFill/>
          <a:ln/>
        </p:spPr>
        <p:txBody>
          <a:bodyPr wrap="square" rtlCol="0" anchor="ctr"/>
          <a:lstStyle/>
          <a:p>
            <a:pPr marL="0" indent="0">
              <a:buNone/>
            </a:pPr>
            <a:r>
              <a:rPr lang="en-US" sz="1150" dirty="0">
                <a:solidFill>
                  <a:srgbClr val="595959"/>
                </a:solidFill>
              </a:rPr>
              <a:t>Candidates and recruiters lack a fast, objective way to quantify skill gaps between a resume and a job description. Manual screening is slow, biased, and unscalable — a recruiter handling 50+ applicants daily misses qualified candidates and wastes time on poor fits.</a:t>
            </a:r>
            <a:endParaRPr lang="en-US" sz="1150" dirty="0"/>
          </a:p>
        </p:txBody>
      </p:sp>
      <p:sp>
        <p:nvSpPr>
          <p:cNvPr id="13" name="Shape 11"/>
          <p:cNvSpPr/>
          <p:nvPr/>
        </p:nvSpPr>
        <p:spPr>
          <a:xfrm>
            <a:off x="6217920" y="1005840"/>
            <a:ext cx="5394960" cy="2011680"/>
          </a:xfrm>
          <a:prstGeom prst="rect">
            <a:avLst/>
          </a:prstGeom>
          <a:solidFill>
            <a:srgbClr val="EFF3F8"/>
          </a:solidFill>
          <a:ln w="12700">
            <a:solidFill>
              <a:srgbClr val="C8D4E8"/>
            </a:solidFill>
            <a:prstDash val="solid"/>
          </a:ln>
        </p:spPr>
      </p:sp>
      <p:sp>
        <p:nvSpPr>
          <p:cNvPr id="14" name="Shape 12"/>
          <p:cNvSpPr/>
          <p:nvPr/>
        </p:nvSpPr>
        <p:spPr>
          <a:xfrm>
            <a:off x="6217920" y="1005840"/>
            <a:ext cx="5394960" cy="54864"/>
          </a:xfrm>
          <a:prstGeom prst="rect">
            <a:avLst/>
          </a:prstGeom>
          <a:solidFill>
            <a:srgbClr val="1F3864"/>
          </a:solidFill>
          <a:ln/>
        </p:spPr>
      </p:sp>
      <p:sp>
        <p:nvSpPr>
          <p:cNvPr id="15" name="Text 13"/>
          <p:cNvSpPr/>
          <p:nvPr/>
        </p:nvSpPr>
        <p:spPr>
          <a:xfrm>
            <a:off x="6355080" y="1152144"/>
            <a:ext cx="5166360" cy="256032"/>
          </a:xfrm>
          <a:prstGeom prst="rect">
            <a:avLst/>
          </a:prstGeom>
          <a:noFill/>
          <a:ln/>
        </p:spPr>
        <p:txBody>
          <a:bodyPr wrap="square" rtlCol="0" anchor="ctr"/>
          <a:lstStyle/>
          <a:p>
            <a:pPr marL="0" indent="0">
              <a:buNone/>
            </a:pPr>
            <a:r>
              <a:rPr lang="en-US" sz="1400" b="1" dirty="0">
                <a:solidFill>
                  <a:srgbClr val="2E75B6"/>
                </a:solidFill>
              </a:rPr>
              <a:t>Target Users</a:t>
            </a:r>
            <a:endParaRPr lang="en-US" sz="1400" dirty="0"/>
          </a:p>
        </p:txBody>
      </p:sp>
      <p:sp>
        <p:nvSpPr>
          <p:cNvPr id="16" name="Text 14"/>
          <p:cNvSpPr/>
          <p:nvPr/>
        </p:nvSpPr>
        <p:spPr>
          <a:xfrm>
            <a:off x="6355080" y="1463040"/>
            <a:ext cx="5166360" cy="1463040"/>
          </a:xfrm>
          <a:prstGeom prst="rect">
            <a:avLst/>
          </a:prstGeom>
          <a:noFill/>
          <a:ln/>
        </p:spPr>
        <p:txBody>
          <a:bodyPr wrap="square" rtlCol="0" anchor="ctr"/>
          <a:lstStyle/>
          <a:p>
            <a:pPr marL="0" indent="0">
              <a:buNone/>
            </a:pPr>
            <a:r>
              <a:rPr lang="en-US" sz="1150" dirty="0">
                <a:solidFill>
                  <a:srgbClr val="595959"/>
                </a:solidFill>
              </a:rPr>
              <a:t>• Candidates: fresh graduates and job-switchers who need to know which skills to upskill before applying.</a:t>
            </a:r>
            <a:endParaRPr lang="en-US" sz="1150" dirty="0"/>
          </a:p>
          <a:p>
            <a:pPr marL="0" indent="0">
              <a:buNone/>
            </a:pPr>
            <a:r>
              <a:rPr lang="en-US" sz="1150" dirty="0">
                <a:solidFill>
                  <a:srgbClr val="595959"/>
                </a:solidFill>
              </a:rPr>
              <a:t>• Recruiters: HR professionals at placement cells and companies who need ranked shortlists.</a:t>
            </a:r>
            <a:endParaRPr lang="en-US" sz="1150" dirty="0"/>
          </a:p>
          <a:p>
            <a:pPr marL="0" indent="0">
              <a:buNone/>
            </a:pPr>
            <a:r>
              <a:rPr lang="en-US" sz="1150" dirty="0">
                <a:solidFill>
                  <a:srgbClr val="595959"/>
                </a:solidFill>
              </a:rPr>
              <a:t>• Admins: placement officers monitoring institution-wide hiring trends.</a:t>
            </a:r>
            <a:endParaRPr lang="en-US" sz="1150" dirty="0"/>
          </a:p>
        </p:txBody>
      </p:sp>
      <p:sp>
        <p:nvSpPr>
          <p:cNvPr id="17" name="Shape 15"/>
          <p:cNvSpPr/>
          <p:nvPr/>
        </p:nvSpPr>
        <p:spPr>
          <a:xfrm>
            <a:off x="365760" y="3200400"/>
            <a:ext cx="5394960" cy="2011680"/>
          </a:xfrm>
          <a:prstGeom prst="rect">
            <a:avLst/>
          </a:prstGeom>
          <a:solidFill>
            <a:srgbClr val="EFF3F8"/>
          </a:solidFill>
          <a:ln w="12700">
            <a:solidFill>
              <a:srgbClr val="C8D4E8"/>
            </a:solidFill>
            <a:prstDash val="solid"/>
          </a:ln>
        </p:spPr>
      </p:sp>
      <p:sp>
        <p:nvSpPr>
          <p:cNvPr id="18" name="Shape 16"/>
          <p:cNvSpPr/>
          <p:nvPr/>
        </p:nvSpPr>
        <p:spPr>
          <a:xfrm>
            <a:off x="365760" y="3200400"/>
            <a:ext cx="5394960" cy="54864"/>
          </a:xfrm>
          <a:prstGeom prst="rect">
            <a:avLst/>
          </a:prstGeom>
          <a:solidFill>
            <a:srgbClr val="1F3864"/>
          </a:solidFill>
          <a:ln/>
        </p:spPr>
      </p:sp>
      <p:sp>
        <p:nvSpPr>
          <p:cNvPr id="19" name="Text 17"/>
          <p:cNvSpPr/>
          <p:nvPr/>
        </p:nvSpPr>
        <p:spPr>
          <a:xfrm>
            <a:off x="502920" y="3346704"/>
            <a:ext cx="5166360" cy="256032"/>
          </a:xfrm>
          <a:prstGeom prst="rect">
            <a:avLst/>
          </a:prstGeom>
          <a:noFill/>
          <a:ln/>
        </p:spPr>
        <p:txBody>
          <a:bodyPr wrap="square" rtlCol="0" anchor="ctr"/>
          <a:lstStyle/>
          <a:p>
            <a:pPr marL="0" indent="0">
              <a:buNone/>
            </a:pPr>
            <a:r>
              <a:rPr lang="en-US" sz="1400" b="1" dirty="0">
                <a:solidFill>
                  <a:srgbClr val="2E75B6"/>
                </a:solidFill>
              </a:rPr>
              <a:t>SDG Fit</a:t>
            </a:r>
            <a:endParaRPr lang="en-US" sz="1400" dirty="0"/>
          </a:p>
        </p:txBody>
      </p:sp>
      <p:sp>
        <p:nvSpPr>
          <p:cNvPr id="20" name="Text 18"/>
          <p:cNvSpPr/>
          <p:nvPr/>
        </p:nvSpPr>
        <p:spPr>
          <a:xfrm>
            <a:off x="502920" y="3657600"/>
            <a:ext cx="5166360" cy="1463040"/>
          </a:xfrm>
          <a:prstGeom prst="rect">
            <a:avLst/>
          </a:prstGeom>
          <a:noFill/>
          <a:ln/>
        </p:spPr>
        <p:txBody>
          <a:bodyPr wrap="square" rtlCol="0" anchor="ctr"/>
          <a:lstStyle/>
          <a:p>
            <a:pPr marL="0" indent="0">
              <a:buNone/>
            </a:pPr>
            <a:r>
              <a:rPr lang="en-US" sz="1150" dirty="0">
                <a:solidFill>
                  <a:srgbClr val="595959"/>
                </a:solidFill>
              </a:rPr>
              <a:t>SDG 8 – Decent Work and Economic Growth.</a:t>
            </a:r>
            <a:endParaRPr lang="en-US" sz="1150" dirty="0"/>
          </a:p>
          <a:p>
            <a:pPr marL="0" indent="0">
              <a:buNone/>
            </a:pPr>
            <a:r>
              <a:rPr lang="en-US" sz="1150" dirty="0">
                <a:solidFill>
                  <a:srgbClr val="595959"/>
                </a:solidFill>
              </a:rPr>
              <a:t>SkillHire reduces skill-mismatch unemployment by giving candidates actionable gap reports and helping recruiters identify talent faster, improving labour-market efficiency for both sides.</a:t>
            </a:r>
            <a:endParaRPr lang="en-US" sz="1150" dirty="0"/>
          </a:p>
        </p:txBody>
      </p:sp>
      <p:sp>
        <p:nvSpPr>
          <p:cNvPr id="21" name="Shape 19"/>
          <p:cNvSpPr/>
          <p:nvPr/>
        </p:nvSpPr>
        <p:spPr>
          <a:xfrm>
            <a:off x="6217920" y="3200400"/>
            <a:ext cx="5394960" cy="2011680"/>
          </a:xfrm>
          <a:prstGeom prst="rect">
            <a:avLst/>
          </a:prstGeom>
          <a:solidFill>
            <a:srgbClr val="EFF3F8"/>
          </a:solidFill>
          <a:ln w="12700">
            <a:solidFill>
              <a:srgbClr val="C8D4E8"/>
            </a:solidFill>
            <a:prstDash val="solid"/>
          </a:ln>
        </p:spPr>
      </p:sp>
      <p:sp>
        <p:nvSpPr>
          <p:cNvPr id="22" name="Shape 20"/>
          <p:cNvSpPr/>
          <p:nvPr/>
        </p:nvSpPr>
        <p:spPr>
          <a:xfrm>
            <a:off x="6217920" y="3200400"/>
            <a:ext cx="5394960" cy="54864"/>
          </a:xfrm>
          <a:prstGeom prst="rect">
            <a:avLst/>
          </a:prstGeom>
          <a:solidFill>
            <a:srgbClr val="1F3864"/>
          </a:solidFill>
          <a:ln/>
        </p:spPr>
      </p:sp>
      <p:sp>
        <p:nvSpPr>
          <p:cNvPr id="23" name="Text 21"/>
          <p:cNvSpPr/>
          <p:nvPr/>
        </p:nvSpPr>
        <p:spPr>
          <a:xfrm>
            <a:off x="6355080" y="3346704"/>
            <a:ext cx="5166360" cy="256032"/>
          </a:xfrm>
          <a:prstGeom prst="rect">
            <a:avLst/>
          </a:prstGeom>
          <a:noFill/>
          <a:ln/>
        </p:spPr>
        <p:txBody>
          <a:bodyPr wrap="square" rtlCol="0" anchor="ctr"/>
          <a:lstStyle/>
          <a:p>
            <a:pPr marL="0" indent="0">
              <a:buNone/>
            </a:pPr>
            <a:r>
              <a:rPr lang="en-US" sz="1400" b="1" dirty="0">
                <a:solidFill>
                  <a:srgbClr val="2E75B6"/>
                </a:solidFill>
              </a:rPr>
              <a:t>Product Boundary</a:t>
            </a:r>
            <a:endParaRPr lang="en-US" sz="1400" dirty="0"/>
          </a:p>
        </p:txBody>
      </p:sp>
      <p:sp>
        <p:nvSpPr>
          <p:cNvPr id="24" name="Text 22"/>
          <p:cNvSpPr/>
          <p:nvPr/>
        </p:nvSpPr>
        <p:spPr>
          <a:xfrm>
            <a:off x="6355080" y="3657600"/>
            <a:ext cx="5166360" cy="1463040"/>
          </a:xfrm>
          <a:prstGeom prst="rect">
            <a:avLst/>
          </a:prstGeom>
          <a:noFill/>
          <a:ln/>
        </p:spPr>
        <p:txBody>
          <a:bodyPr wrap="square" rtlCol="0" anchor="ctr"/>
          <a:lstStyle/>
          <a:p>
            <a:pPr marL="0" indent="0">
              <a:buNone/>
            </a:pPr>
            <a:r>
              <a:rPr lang="en-US" sz="1150" dirty="0">
                <a:solidFill>
                  <a:srgbClr val="595959"/>
                </a:solidFill>
              </a:rPr>
              <a:t>V1 includes: resume PDF upload, JD text input, NLP skill extraction (spaCy), skill gap score, missing-skills report, and a React dashboard. Excluded from V1: live job-board scraping, mobile app, and multi-language support.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9728"/>
          </a:xfrm>
          <a:prstGeom prst="rect">
            <a:avLst/>
          </a:prstGeom>
          <a:solidFill>
            <a:srgbClr val="1F3864"/>
          </a:solidFill>
          <a:ln/>
        </p:spPr>
      </p:sp>
      <p:sp>
        <p:nvSpPr>
          <p:cNvPr id="3" name="Text 1"/>
          <p:cNvSpPr/>
          <p:nvPr/>
        </p:nvSpPr>
        <p:spPr>
          <a:xfrm>
            <a:off x="4572000" y="9144"/>
            <a:ext cx="7159752" cy="128016"/>
          </a:xfrm>
          <a:prstGeom prst="rect">
            <a:avLst/>
          </a:prstGeom>
          <a:noFill/>
          <a:ln/>
        </p:spPr>
        <p:txBody>
          <a:bodyPr wrap="square" rtlCol="0" anchor="ctr"/>
          <a:lstStyle/>
          <a:p>
            <a:pPr marL="0" indent="0" algn="r">
              <a:buNone/>
            </a:pPr>
            <a:r>
              <a:rPr lang="en-US" sz="900" b="1" dirty="0">
                <a:solidFill>
                  <a:srgbClr val="1F3864"/>
                </a:solidFill>
              </a:rPr>
              <a:t>CSA15 | Cloud Computing and Big Data Analytics</a:t>
            </a:r>
            <a:endParaRPr lang="en-US" sz="900" dirty="0"/>
          </a:p>
        </p:txBody>
      </p:sp>
      <p:sp>
        <p:nvSpPr>
          <p:cNvPr id="4" name="Shape 2"/>
          <p:cNvSpPr/>
          <p:nvPr/>
        </p:nvSpPr>
        <p:spPr>
          <a:xfrm>
            <a:off x="0" y="6720840"/>
            <a:ext cx="12192000" cy="137160"/>
          </a:xfrm>
          <a:prstGeom prst="rect">
            <a:avLst/>
          </a:prstGeom>
          <a:solidFill>
            <a:srgbClr val="FFFFFF"/>
          </a:solidFill>
          <a:ln/>
        </p:spPr>
      </p:sp>
      <p:sp>
        <p:nvSpPr>
          <p:cNvPr id="5" name="Text 3"/>
          <p:cNvSpPr/>
          <p:nvPr/>
        </p:nvSpPr>
        <p:spPr>
          <a:xfrm>
            <a:off x="274320" y="6729984"/>
            <a:ext cx="8229600" cy="109728"/>
          </a:xfrm>
          <a:prstGeom prst="rect">
            <a:avLst/>
          </a:prstGeom>
          <a:noFill/>
          <a:ln/>
        </p:spPr>
        <p:txBody>
          <a:bodyPr wrap="square" rtlCol="0" anchor="ctr"/>
          <a:lstStyle/>
          <a:p>
            <a:pPr marL="0" indent="0">
              <a:buNone/>
            </a:pPr>
            <a:r>
              <a:rPr lang="en-US" sz="800" dirty="0">
                <a:solidFill>
                  <a:srgbClr val="595959"/>
                </a:solidFill>
              </a:rPr>
              <a:t>Individual student submission template | Department of Computer Science and Engineering</a:t>
            </a:r>
            <a:endParaRPr lang="en-US" sz="800" dirty="0"/>
          </a:p>
        </p:txBody>
      </p:sp>
      <p:sp>
        <p:nvSpPr>
          <p:cNvPr id="6" name="Text 4"/>
          <p:cNvSpPr/>
          <p:nvPr/>
        </p:nvSpPr>
        <p:spPr>
          <a:xfrm>
            <a:off x="10515600" y="6729984"/>
            <a:ext cx="1554480" cy="109728"/>
          </a:xfrm>
          <a:prstGeom prst="rect">
            <a:avLst/>
          </a:prstGeom>
          <a:noFill/>
          <a:ln/>
        </p:spPr>
        <p:txBody>
          <a:bodyPr wrap="square" rtlCol="0" anchor="ctr"/>
          <a:lstStyle/>
          <a:p>
            <a:pPr marL="0" indent="0" algn="r">
              <a:buNone/>
            </a:pPr>
            <a:r>
              <a:rPr lang="en-US" sz="800" b="1" dirty="0">
                <a:solidFill>
                  <a:srgbClr val="1F3864"/>
                </a:solidFill>
              </a:rPr>
              <a:t>CO1 AT3 | 03</a:t>
            </a:r>
            <a:endParaRPr lang="en-US" sz="800" dirty="0"/>
          </a:p>
        </p:txBody>
      </p:sp>
      <p:sp>
        <p:nvSpPr>
          <p:cNvPr id="7" name="Text 5"/>
          <p:cNvSpPr/>
          <p:nvPr/>
        </p:nvSpPr>
        <p:spPr>
          <a:xfrm>
            <a:off x="365760" y="201168"/>
            <a:ext cx="11430000" cy="502920"/>
          </a:xfrm>
          <a:prstGeom prst="rect">
            <a:avLst/>
          </a:prstGeom>
          <a:noFill/>
          <a:ln/>
        </p:spPr>
        <p:txBody>
          <a:bodyPr wrap="square" rtlCol="0" anchor="ctr"/>
          <a:lstStyle/>
          <a:p>
            <a:pPr marL="0" indent="0">
              <a:buNone/>
            </a:pPr>
            <a:r>
              <a:rPr lang="en-US" sz="2800" b="1" dirty="0">
                <a:solidFill>
                  <a:srgbClr val="1F3864"/>
                </a:solidFill>
              </a:rPr>
              <a:t>Cloud Adoption Rationale and Concept Map</a:t>
            </a:r>
            <a:endParaRPr lang="en-US" sz="2800" dirty="0"/>
          </a:p>
        </p:txBody>
      </p:sp>
      <p:sp>
        <p:nvSpPr>
          <p:cNvPr id="8" name="Text 6"/>
          <p:cNvSpPr/>
          <p:nvPr/>
        </p:nvSpPr>
        <p:spPr>
          <a:xfrm>
            <a:off x="365760" y="713232"/>
            <a:ext cx="9144000" cy="201168"/>
          </a:xfrm>
          <a:prstGeom prst="rect">
            <a:avLst/>
          </a:prstGeom>
          <a:noFill/>
          <a:ln/>
        </p:spPr>
        <p:txBody>
          <a:bodyPr wrap="square" rtlCol="0" anchor="ctr"/>
          <a:lstStyle/>
          <a:p>
            <a:pPr marL="0" indent="0">
              <a:buNone/>
            </a:pPr>
            <a:r>
              <a:rPr lang="en-US" sz="1400" dirty="0">
                <a:solidFill>
                  <a:srgbClr val="595959"/>
                </a:solidFill>
              </a:rPr>
              <a:t>The problem needs cloud support to become a usable product</a:t>
            </a:r>
            <a:endParaRPr lang="en-US" sz="1400" dirty="0"/>
          </a:p>
        </p:txBody>
      </p:sp>
      <p:sp>
        <p:nvSpPr>
          <p:cNvPr id="9" name="Shape 7"/>
          <p:cNvSpPr/>
          <p:nvPr/>
        </p:nvSpPr>
        <p:spPr>
          <a:xfrm>
            <a:off x="365760" y="1005840"/>
            <a:ext cx="5212080" cy="1737360"/>
          </a:xfrm>
          <a:prstGeom prst="rect">
            <a:avLst/>
          </a:prstGeom>
          <a:solidFill>
            <a:srgbClr val="EFF3F8"/>
          </a:solidFill>
          <a:ln w="12700">
            <a:solidFill>
              <a:srgbClr val="C8D4E8"/>
            </a:solidFill>
            <a:prstDash val="solid"/>
          </a:ln>
        </p:spPr>
      </p:sp>
      <p:sp>
        <p:nvSpPr>
          <p:cNvPr id="10" name="Shape 8"/>
          <p:cNvSpPr/>
          <p:nvPr/>
        </p:nvSpPr>
        <p:spPr>
          <a:xfrm>
            <a:off x="365760" y="1005840"/>
            <a:ext cx="5212080" cy="54864"/>
          </a:xfrm>
          <a:prstGeom prst="rect">
            <a:avLst/>
          </a:prstGeom>
          <a:solidFill>
            <a:srgbClr val="1F3864"/>
          </a:solidFill>
          <a:ln/>
        </p:spPr>
      </p:sp>
      <p:sp>
        <p:nvSpPr>
          <p:cNvPr id="11" name="Text 9"/>
          <p:cNvSpPr/>
          <p:nvPr/>
        </p:nvSpPr>
        <p:spPr>
          <a:xfrm>
            <a:off x="502920" y="1152144"/>
            <a:ext cx="4983480" cy="256032"/>
          </a:xfrm>
          <a:prstGeom prst="rect">
            <a:avLst/>
          </a:prstGeom>
          <a:noFill/>
          <a:ln/>
        </p:spPr>
        <p:txBody>
          <a:bodyPr wrap="square" rtlCol="0" anchor="ctr"/>
          <a:lstStyle/>
          <a:p>
            <a:pPr marL="0" indent="0">
              <a:buNone/>
            </a:pPr>
            <a:r>
              <a:rPr lang="en-US" sz="1400" b="1" dirty="0">
                <a:solidFill>
                  <a:srgbClr val="2E75B6"/>
                </a:solidFill>
              </a:rPr>
              <a:t>Cloud Definition</a:t>
            </a:r>
            <a:endParaRPr lang="en-US" sz="1400" dirty="0"/>
          </a:p>
        </p:txBody>
      </p:sp>
      <p:sp>
        <p:nvSpPr>
          <p:cNvPr id="12" name="Text 10"/>
          <p:cNvSpPr/>
          <p:nvPr/>
        </p:nvSpPr>
        <p:spPr>
          <a:xfrm>
            <a:off x="502920" y="1463040"/>
            <a:ext cx="4983480" cy="1188720"/>
          </a:xfrm>
          <a:prstGeom prst="rect">
            <a:avLst/>
          </a:prstGeom>
          <a:noFill/>
          <a:ln/>
        </p:spPr>
        <p:txBody>
          <a:bodyPr wrap="square" rtlCol="0" anchor="ctr"/>
          <a:lstStyle/>
          <a:p>
            <a:pPr marL="0" indent="0">
              <a:buNone/>
            </a:pPr>
            <a:r>
              <a:rPr lang="en-US" sz="1150" dirty="0">
                <a:solidFill>
                  <a:srgbClr val="595959"/>
                </a:solidFill>
              </a:rPr>
              <a:t>Cloud computing is on-demand access to shared compute, storage, and AI services over the internet, billed by use. For SkillHire, cloud means the NLP inference, file storage, and dashboard all run as managed services — no team-owned servers.</a:t>
            </a:r>
            <a:endParaRPr lang="en-US" sz="1150" dirty="0"/>
          </a:p>
        </p:txBody>
      </p:sp>
      <p:sp>
        <p:nvSpPr>
          <p:cNvPr id="13" name="Shape 11"/>
          <p:cNvSpPr/>
          <p:nvPr/>
        </p:nvSpPr>
        <p:spPr>
          <a:xfrm>
            <a:off x="365760" y="2880360"/>
            <a:ext cx="5212080" cy="2194560"/>
          </a:xfrm>
          <a:prstGeom prst="rect">
            <a:avLst/>
          </a:prstGeom>
          <a:solidFill>
            <a:srgbClr val="EFF3F8"/>
          </a:solidFill>
          <a:ln w="12700">
            <a:solidFill>
              <a:srgbClr val="C8D4E8"/>
            </a:solidFill>
            <a:prstDash val="solid"/>
          </a:ln>
        </p:spPr>
      </p:sp>
      <p:sp>
        <p:nvSpPr>
          <p:cNvPr id="14" name="Shape 12"/>
          <p:cNvSpPr/>
          <p:nvPr/>
        </p:nvSpPr>
        <p:spPr>
          <a:xfrm>
            <a:off x="365760" y="2880360"/>
            <a:ext cx="5212080" cy="54864"/>
          </a:xfrm>
          <a:prstGeom prst="rect">
            <a:avLst/>
          </a:prstGeom>
          <a:solidFill>
            <a:srgbClr val="1F3864"/>
          </a:solidFill>
          <a:ln/>
        </p:spPr>
      </p:sp>
      <p:sp>
        <p:nvSpPr>
          <p:cNvPr id="15" name="Text 13"/>
          <p:cNvSpPr/>
          <p:nvPr/>
        </p:nvSpPr>
        <p:spPr>
          <a:xfrm>
            <a:off x="502920" y="3026664"/>
            <a:ext cx="4983480" cy="256032"/>
          </a:xfrm>
          <a:prstGeom prst="rect">
            <a:avLst/>
          </a:prstGeom>
          <a:noFill/>
          <a:ln/>
        </p:spPr>
        <p:txBody>
          <a:bodyPr wrap="square" rtlCol="0" anchor="ctr"/>
          <a:lstStyle/>
          <a:p>
            <a:pPr marL="0" indent="0">
              <a:buNone/>
            </a:pPr>
            <a:r>
              <a:rPr lang="en-US" sz="1400" b="1" dirty="0">
                <a:solidFill>
                  <a:srgbClr val="2E75B6"/>
                </a:solidFill>
              </a:rPr>
              <a:t>Cloud Characteristics</a:t>
            </a:r>
            <a:endParaRPr lang="en-US" sz="1400" dirty="0"/>
          </a:p>
        </p:txBody>
      </p:sp>
      <p:sp>
        <p:nvSpPr>
          <p:cNvPr id="16" name="Text 14"/>
          <p:cNvSpPr/>
          <p:nvPr/>
        </p:nvSpPr>
        <p:spPr>
          <a:xfrm>
            <a:off x="502920" y="3337560"/>
            <a:ext cx="4983480" cy="1645920"/>
          </a:xfrm>
          <a:prstGeom prst="rect">
            <a:avLst/>
          </a:prstGeom>
          <a:noFill/>
          <a:ln/>
        </p:spPr>
        <p:txBody>
          <a:bodyPr wrap="square" rtlCol="0" anchor="ctr"/>
          <a:lstStyle/>
          <a:p>
            <a:pPr marL="0" indent="0">
              <a:buNone/>
            </a:pPr>
            <a:r>
              <a:rPr lang="en-US" sz="1150" dirty="0">
                <a:solidFill>
                  <a:srgbClr val="595959"/>
                </a:solidFill>
              </a:rPr>
              <a:t>• Elasticity: Lambda scales from 0 → 500 concurrent NLP jobs during placement bursts.</a:t>
            </a:r>
            <a:endParaRPr lang="en-US" sz="1150" dirty="0"/>
          </a:p>
          <a:p>
            <a:pPr marL="0" indent="0">
              <a:buNone/>
            </a:pPr>
            <a:r>
              <a:rPr lang="en-US" sz="1150" dirty="0">
                <a:solidFill>
                  <a:srgbClr val="595959"/>
                </a:solidFill>
              </a:rPr>
              <a:t>• Scalability: DynamoDB on-demand grows with users — no schema change required.</a:t>
            </a:r>
            <a:endParaRPr lang="en-US" sz="1150" dirty="0"/>
          </a:p>
          <a:p>
            <a:pPr marL="0" indent="0">
              <a:buNone/>
            </a:pPr>
            <a:r>
              <a:rPr lang="en-US" sz="1150" dirty="0">
                <a:solidFill>
                  <a:srgbClr val="595959"/>
                </a:solidFill>
              </a:rPr>
              <a:t>• Measured service: AWS bills per Lambda invocation; idle cost is zero.</a:t>
            </a:r>
            <a:endParaRPr lang="en-US" sz="1150" dirty="0"/>
          </a:p>
          <a:p>
            <a:pPr marL="0" indent="0">
              <a:buNone/>
            </a:pPr>
            <a:r>
              <a:rPr lang="en-US" sz="1150" dirty="0">
                <a:solidFill>
                  <a:srgbClr val="595959"/>
                </a:solidFill>
              </a:rPr>
              <a:t>• Resource pooling: spaCy NLP model container is shared across requests via Lambda.</a:t>
            </a:r>
            <a:endParaRPr lang="en-US" sz="1150" dirty="0"/>
          </a:p>
        </p:txBody>
      </p:sp>
      <p:sp>
        <p:nvSpPr>
          <p:cNvPr id="17" name="Shape 15"/>
          <p:cNvSpPr/>
          <p:nvPr/>
        </p:nvSpPr>
        <p:spPr>
          <a:xfrm>
            <a:off x="6217920" y="960120"/>
            <a:ext cx="5577840" cy="4297680"/>
          </a:xfrm>
          <a:prstGeom prst="rect">
            <a:avLst/>
          </a:prstGeom>
          <a:solidFill>
            <a:srgbClr val="EFF3F8"/>
          </a:solidFill>
          <a:ln w="12700">
            <a:solidFill>
              <a:srgbClr val="C8D4E8"/>
            </a:solidFill>
            <a:prstDash val="solid"/>
          </a:ln>
        </p:spPr>
      </p:sp>
      <p:sp>
        <p:nvSpPr>
          <p:cNvPr id="18" name="Text 16"/>
          <p:cNvSpPr/>
          <p:nvPr/>
        </p:nvSpPr>
        <p:spPr>
          <a:xfrm>
            <a:off x="6355080" y="1051560"/>
            <a:ext cx="5303520" cy="274320"/>
          </a:xfrm>
          <a:prstGeom prst="rect">
            <a:avLst/>
          </a:prstGeom>
          <a:noFill/>
          <a:ln/>
        </p:spPr>
        <p:txBody>
          <a:bodyPr wrap="square" rtlCol="0" anchor="ctr"/>
          <a:lstStyle/>
          <a:p>
            <a:pPr marL="0" indent="0">
              <a:buNone/>
            </a:pPr>
            <a:r>
              <a:rPr lang="en-US" sz="1400" b="1" dirty="0">
                <a:solidFill>
                  <a:srgbClr val="2E75B6"/>
                </a:solidFill>
              </a:rPr>
              <a:t>Cloud Concept Map</a:t>
            </a:r>
            <a:endParaRPr lang="en-US" sz="1400" dirty="0"/>
          </a:p>
        </p:txBody>
      </p:sp>
      <p:sp>
        <p:nvSpPr>
          <p:cNvPr id="19" name="Shape 17"/>
          <p:cNvSpPr/>
          <p:nvPr/>
        </p:nvSpPr>
        <p:spPr>
          <a:xfrm>
            <a:off x="7863840" y="1463040"/>
            <a:ext cx="2286000" cy="475488"/>
          </a:xfrm>
          <a:prstGeom prst="rect">
            <a:avLst/>
          </a:prstGeom>
          <a:solidFill>
            <a:srgbClr val="1F3864"/>
          </a:solidFill>
          <a:ln w="12700">
            <a:solidFill>
              <a:srgbClr val="1F3864"/>
            </a:solidFill>
            <a:prstDash val="solid"/>
          </a:ln>
        </p:spPr>
      </p:sp>
      <p:sp>
        <p:nvSpPr>
          <p:cNvPr id="20" name="Text 18"/>
          <p:cNvSpPr/>
          <p:nvPr/>
        </p:nvSpPr>
        <p:spPr>
          <a:xfrm>
            <a:off x="7863840" y="1463040"/>
            <a:ext cx="2286000" cy="475488"/>
          </a:xfrm>
          <a:prstGeom prst="rect">
            <a:avLst/>
          </a:prstGeom>
          <a:noFill/>
          <a:ln/>
        </p:spPr>
        <p:txBody>
          <a:bodyPr wrap="square" rtlCol="0" anchor="ctr"/>
          <a:lstStyle/>
          <a:p>
            <a:pPr marL="0" indent="0" algn="ctr">
              <a:buNone/>
            </a:pPr>
            <a:r>
              <a:rPr lang="en-US" sz="1000" b="1" dirty="0">
                <a:solidFill>
                  <a:srgbClr val="FFFFFF"/>
                </a:solidFill>
              </a:rPr>
              <a:t>SkillHire</a:t>
            </a:r>
            <a:endParaRPr lang="en-US" sz="1000" dirty="0"/>
          </a:p>
          <a:p>
            <a:pPr marL="0" indent="0" algn="ctr">
              <a:buNone/>
            </a:pPr>
            <a:r>
              <a:rPr lang="en-US" sz="1000" b="1" dirty="0">
                <a:solidFill>
                  <a:srgbClr val="FFFFFF"/>
                </a:solidFill>
              </a:rPr>
              <a:t>(Capstone Anchor)</a:t>
            </a:r>
            <a:endParaRPr lang="en-US" sz="1000" dirty="0"/>
          </a:p>
        </p:txBody>
      </p:sp>
      <p:sp>
        <p:nvSpPr>
          <p:cNvPr id="21" name="Shape 19"/>
          <p:cNvSpPr/>
          <p:nvPr/>
        </p:nvSpPr>
        <p:spPr>
          <a:xfrm>
            <a:off x="6355080" y="2240280"/>
            <a:ext cx="1645920" cy="411480"/>
          </a:xfrm>
          <a:prstGeom prst="roundRect">
            <a:avLst>
              <a:gd name="adj" fmla="val 8889"/>
            </a:avLst>
          </a:prstGeom>
          <a:solidFill>
            <a:srgbClr val="2E75B6"/>
          </a:solidFill>
          <a:ln/>
        </p:spPr>
      </p:sp>
      <p:sp>
        <p:nvSpPr>
          <p:cNvPr id="22" name="Text 20"/>
          <p:cNvSpPr/>
          <p:nvPr/>
        </p:nvSpPr>
        <p:spPr>
          <a:xfrm>
            <a:off x="6355080" y="2240280"/>
            <a:ext cx="1645920" cy="411480"/>
          </a:xfrm>
          <a:prstGeom prst="rect">
            <a:avLst/>
          </a:prstGeom>
          <a:noFill/>
          <a:ln/>
        </p:spPr>
        <p:txBody>
          <a:bodyPr wrap="square" rtlCol="0" anchor="ctr"/>
          <a:lstStyle/>
          <a:p>
            <a:pPr marL="0" indent="0" algn="ctr">
              <a:buNone/>
            </a:pPr>
            <a:r>
              <a:rPr lang="en-US" sz="950" b="1" dirty="0">
                <a:solidFill>
                  <a:srgbClr val="FFFFFF"/>
                </a:solidFill>
              </a:rPr>
              <a:t>Cloud</a:t>
            </a:r>
            <a:endParaRPr lang="en-US" sz="950" dirty="0"/>
          </a:p>
          <a:p>
            <a:pPr marL="0" indent="0" algn="ctr">
              <a:buNone/>
            </a:pPr>
            <a:r>
              <a:rPr lang="en-US" sz="950" b="1" dirty="0">
                <a:solidFill>
                  <a:srgbClr val="FFFFFF"/>
                </a:solidFill>
              </a:rPr>
              <a:t>Fundamentals</a:t>
            </a:r>
            <a:endParaRPr lang="en-US" sz="950" dirty="0"/>
          </a:p>
        </p:txBody>
      </p:sp>
      <p:sp>
        <p:nvSpPr>
          <p:cNvPr id="23" name="Shape 21"/>
          <p:cNvSpPr/>
          <p:nvPr/>
        </p:nvSpPr>
        <p:spPr>
          <a:xfrm>
            <a:off x="6355080" y="3246120"/>
            <a:ext cx="1645920" cy="411480"/>
          </a:xfrm>
          <a:prstGeom prst="roundRect">
            <a:avLst>
              <a:gd name="adj" fmla="val 8889"/>
            </a:avLst>
          </a:prstGeom>
          <a:solidFill>
            <a:srgbClr val="217346"/>
          </a:solidFill>
          <a:ln/>
        </p:spPr>
      </p:sp>
      <p:sp>
        <p:nvSpPr>
          <p:cNvPr id="24" name="Text 22"/>
          <p:cNvSpPr/>
          <p:nvPr/>
        </p:nvSpPr>
        <p:spPr>
          <a:xfrm>
            <a:off x="6355080" y="3246120"/>
            <a:ext cx="1645920" cy="411480"/>
          </a:xfrm>
          <a:prstGeom prst="rect">
            <a:avLst/>
          </a:prstGeom>
          <a:noFill/>
          <a:ln/>
        </p:spPr>
        <p:txBody>
          <a:bodyPr wrap="square" rtlCol="0" anchor="ctr"/>
          <a:lstStyle/>
          <a:p>
            <a:pPr marL="0" indent="0" algn="ctr">
              <a:buNone/>
            </a:pPr>
            <a:r>
              <a:rPr lang="en-US" sz="950" b="1" dirty="0">
                <a:solidFill>
                  <a:srgbClr val="FFFFFF"/>
                </a:solidFill>
              </a:rPr>
              <a:t>IaaS / PaaS</a:t>
            </a:r>
            <a:endParaRPr lang="en-US" sz="950" dirty="0"/>
          </a:p>
          <a:p>
            <a:pPr marL="0" indent="0" algn="ctr">
              <a:buNone/>
            </a:pPr>
            <a:r>
              <a:rPr lang="en-US" sz="950" b="1" dirty="0">
                <a:solidFill>
                  <a:srgbClr val="FFFFFF"/>
                </a:solidFill>
              </a:rPr>
              <a:t>SaaS / XaaS</a:t>
            </a:r>
            <a:endParaRPr lang="en-US" sz="950" dirty="0"/>
          </a:p>
        </p:txBody>
      </p:sp>
      <p:sp>
        <p:nvSpPr>
          <p:cNvPr id="25" name="Shape 23"/>
          <p:cNvSpPr/>
          <p:nvPr/>
        </p:nvSpPr>
        <p:spPr>
          <a:xfrm>
            <a:off x="8229600" y="2788920"/>
            <a:ext cx="1645920" cy="411480"/>
          </a:xfrm>
          <a:prstGeom prst="roundRect">
            <a:avLst>
              <a:gd name="adj" fmla="val 8889"/>
            </a:avLst>
          </a:prstGeom>
          <a:solidFill>
            <a:srgbClr val="C65911"/>
          </a:solidFill>
          <a:ln/>
        </p:spPr>
      </p:sp>
      <p:sp>
        <p:nvSpPr>
          <p:cNvPr id="26" name="Text 24"/>
          <p:cNvSpPr/>
          <p:nvPr/>
        </p:nvSpPr>
        <p:spPr>
          <a:xfrm>
            <a:off x="8229600" y="2788920"/>
            <a:ext cx="1645920" cy="411480"/>
          </a:xfrm>
          <a:prstGeom prst="rect">
            <a:avLst/>
          </a:prstGeom>
          <a:noFill/>
          <a:ln/>
        </p:spPr>
        <p:txBody>
          <a:bodyPr wrap="square" rtlCol="0" anchor="ctr"/>
          <a:lstStyle/>
          <a:p>
            <a:pPr marL="0" indent="0" algn="ctr">
              <a:buNone/>
            </a:pPr>
            <a:r>
              <a:rPr lang="en-US" sz="950" b="1" dirty="0">
                <a:solidFill>
                  <a:srgbClr val="FFFFFF"/>
                </a:solidFill>
              </a:rPr>
              <a:t>REST API</a:t>
            </a:r>
            <a:endParaRPr lang="en-US" sz="950" dirty="0"/>
          </a:p>
          <a:p>
            <a:pPr marL="0" indent="0" algn="ctr">
              <a:buNone/>
            </a:pPr>
            <a:r>
              <a:rPr lang="en-US" sz="950" b="1" dirty="0">
                <a:solidFill>
                  <a:srgbClr val="FFFFFF"/>
                </a:solidFill>
              </a:rPr>
              <a:t>/upload /match</a:t>
            </a:r>
            <a:endParaRPr lang="en-US" sz="950" dirty="0"/>
          </a:p>
        </p:txBody>
      </p:sp>
      <p:sp>
        <p:nvSpPr>
          <p:cNvPr id="27" name="Shape 25"/>
          <p:cNvSpPr/>
          <p:nvPr/>
        </p:nvSpPr>
        <p:spPr>
          <a:xfrm>
            <a:off x="8229600" y="3794760"/>
            <a:ext cx="1645920" cy="411480"/>
          </a:xfrm>
          <a:prstGeom prst="roundRect">
            <a:avLst>
              <a:gd name="adj" fmla="val 8889"/>
            </a:avLst>
          </a:prstGeom>
          <a:solidFill>
            <a:srgbClr val="6B2C91"/>
          </a:solidFill>
          <a:ln/>
        </p:spPr>
      </p:sp>
      <p:sp>
        <p:nvSpPr>
          <p:cNvPr id="28" name="Text 26"/>
          <p:cNvSpPr/>
          <p:nvPr/>
        </p:nvSpPr>
        <p:spPr>
          <a:xfrm>
            <a:off x="8229600" y="3794760"/>
            <a:ext cx="1645920" cy="411480"/>
          </a:xfrm>
          <a:prstGeom prst="rect">
            <a:avLst/>
          </a:prstGeom>
          <a:noFill/>
          <a:ln/>
        </p:spPr>
        <p:txBody>
          <a:bodyPr wrap="square" rtlCol="0" anchor="ctr"/>
          <a:lstStyle/>
          <a:p>
            <a:pPr marL="0" indent="0" algn="ctr">
              <a:buNone/>
            </a:pPr>
            <a:r>
              <a:rPr lang="en-US" sz="950" b="1" dirty="0">
                <a:solidFill>
                  <a:srgbClr val="FFFFFF"/>
                </a:solidFill>
              </a:rPr>
              <a:t>Lambda NLP</a:t>
            </a:r>
            <a:endParaRPr lang="en-US" sz="950" dirty="0"/>
          </a:p>
          <a:p>
            <a:pPr marL="0" indent="0" algn="ctr">
              <a:buNone/>
            </a:pPr>
            <a:r>
              <a:rPr lang="en-US" sz="950" b="1" dirty="0">
                <a:solidFill>
                  <a:srgbClr val="FFFFFF"/>
                </a:solidFill>
              </a:rPr>
              <a:t>(spaCy NER)</a:t>
            </a:r>
            <a:endParaRPr lang="en-US" sz="950" dirty="0"/>
          </a:p>
        </p:txBody>
      </p:sp>
      <p:sp>
        <p:nvSpPr>
          <p:cNvPr id="29" name="Shape 27"/>
          <p:cNvSpPr/>
          <p:nvPr/>
        </p:nvSpPr>
        <p:spPr>
          <a:xfrm>
            <a:off x="10058400" y="2240280"/>
            <a:ext cx="1554480" cy="411480"/>
          </a:xfrm>
          <a:prstGeom prst="roundRect">
            <a:avLst>
              <a:gd name="adj" fmla="val 8889"/>
            </a:avLst>
          </a:prstGeom>
          <a:solidFill>
            <a:srgbClr val="C0392B"/>
          </a:solidFill>
          <a:ln/>
        </p:spPr>
      </p:sp>
      <p:sp>
        <p:nvSpPr>
          <p:cNvPr id="30" name="Text 28"/>
          <p:cNvSpPr/>
          <p:nvPr/>
        </p:nvSpPr>
        <p:spPr>
          <a:xfrm>
            <a:off x="10058400" y="2240280"/>
            <a:ext cx="1554480" cy="411480"/>
          </a:xfrm>
          <a:prstGeom prst="rect">
            <a:avLst/>
          </a:prstGeom>
          <a:noFill/>
          <a:ln/>
        </p:spPr>
        <p:txBody>
          <a:bodyPr wrap="square" rtlCol="0" anchor="ctr"/>
          <a:lstStyle/>
          <a:p>
            <a:pPr marL="0" indent="0" algn="ctr">
              <a:buNone/>
            </a:pPr>
            <a:r>
              <a:rPr lang="en-US" sz="950" b="1" dirty="0">
                <a:solidFill>
                  <a:srgbClr val="FFFFFF"/>
                </a:solidFill>
              </a:rPr>
              <a:t>DynamoDB</a:t>
            </a:r>
            <a:endParaRPr lang="en-US" sz="950" dirty="0"/>
          </a:p>
          <a:p>
            <a:pPr marL="0" indent="0" algn="ctr">
              <a:buNone/>
            </a:pPr>
            <a:r>
              <a:rPr lang="en-US" sz="950" b="1" dirty="0">
                <a:solidFill>
                  <a:srgbClr val="FFFFFF"/>
                </a:solidFill>
              </a:rPr>
              <a:t>+ S3 Storage</a:t>
            </a:r>
            <a:endParaRPr lang="en-US" sz="950" dirty="0"/>
          </a:p>
        </p:txBody>
      </p:sp>
      <p:sp>
        <p:nvSpPr>
          <p:cNvPr id="31" name="Shape 29"/>
          <p:cNvSpPr/>
          <p:nvPr/>
        </p:nvSpPr>
        <p:spPr>
          <a:xfrm>
            <a:off x="10058400" y="3246120"/>
            <a:ext cx="1554480" cy="411480"/>
          </a:xfrm>
          <a:prstGeom prst="roundRect">
            <a:avLst>
              <a:gd name="adj" fmla="val 8889"/>
            </a:avLst>
          </a:prstGeom>
          <a:solidFill>
            <a:srgbClr val="107C41"/>
          </a:solidFill>
          <a:ln/>
        </p:spPr>
      </p:sp>
      <p:sp>
        <p:nvSpPr>
          <p:cNvPr id="32" name="Text 30"/>
          <p:cNvSpPr/>
          <p:nvPr/>
        </p:nvSpPr>
        <p:spPr>
          <a:xfrm>
            <a:off x="10058400" y="3246120"/>
            <a:ext cx="1554480" cy="411480"/>
          </a:xfrm>
          <a:prstGeom prst="rect">
            <a:avLst/>
          </a:prstGeom>
          <a:noFill/>
          <a:ln/>
        </p:spPr>
        <p:txBody>
          <a:bodyPr wrap="square" rtlCol="0" anchor="ctr"/>
          <a:lstStyle/>
          <a:p>
            <a:pPr marL="0" indent="0" algn="ctr">
              <a:buNone/>
            </a:pPr>
            <a:r>
              <a:rPr lang="en-US" sz="950" b="1" dirty="0">
                <a:solidFill>
                  <a:srgbClr val="FFFFFF"/>
                </a:solidFill>
              </a:rPr>
              <a:t>Cognito +</a:t>
            </a:r>
            <a:endParaRPr lang="en-US" sz="950" dirty="0"/>
          </a:p>
          <a:p>
            <a:pPr marL="0" indent="0" algn="ctr">
              <a:buNone/>
            </a:pPr>
            <a:r>
              <a:rPr lang="en-US" sz="950" b="1" dirty="0">
                <a:solidFill>
                  <a:srgbClr val="FFFFFF"/>
                </a:solidFill>
              </a:rPr>
              <a:t>CloudWatch</a:t>
            </a:r>
            <a:endParaRPr lang="en-US" sz="950" dirty="0"/>
          </a:p>
        </p:txBody>
      </p:sp>
      <p:sp>
        <p:nvSpPr>
          <p:cNvPr id="33" name="Shape 31"/>
          <p:cNvSpPr/>
          <p:nvPr/>
        </p:nvSpPr>
        <p:spPr>
          <a:xfrm>
            <a:off x="6355080" y="4526280"/>
            <a:ext cx="5303520" cy="548640"/>
          </a:xfrm>
          <a:prstGeom prst="rect">
            <a:avLst/>
          </a:prstGeom>
          <a:solidFill>
            <a:srgbClr val="1F3864"/>
          </a:solidFill>
          <a:ln/>
        </p:spPr>
      </p:sp>
      <p:sp>
        <p:nvSpPr>
          <p:cNvPr id="34" name="Text 32"/>
          <p:cNvSpPr/>
          <p:nvPr/>
        </p:nvSpPr>
        <p:spPr>
          <a:xfrm>
            <a:off x="6355080" y="4526280"/>
            <a:ext cx="5303520" cy="548640"/>
          </a:xfrm>
          <a:prstGeom prst="rect">
            <a:avLst/>
          </a:prstGeom>
          <a:noFill/>
          <a:ln/>
        </p:spPr>
        <p:txBody>
          <a:bodyPr wrap="square" rtlCol="0" anchor="ctr"/>
          <a:lstStyle/>
          <a:p>
            <a:pPr marL="0" indent="0" algn="ctr">
              <a:buNone/>
            </a:pPr>
            <a:r>
              <a:rPr lang="en-US" sz="900" dirty="0">
                <a:solidFill>
                  <a:srgbClr val="FFFFFF"/>
                </a:solidFill>
              </a:rPr>
              <a:t>Candidate/Recruiter → React UI → API Gateway → Lambda NLP → DynamoDB + S3 → Skill-Gap Dashboard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9728"/>
          </a:xfrm>
          <a:prstGeom prst="rect">
            <a:avLst/>
          </a:prstGeom>
          <a:solidFill>
            <a:srgbClr val="1F3864"/>
          </a:solidFill>
          <a:ln/>
        </p:spPr>
      </p:sp>
      <p:sp>
        <p:nvSpPr>
          <p:cNvPr id="3" name="Text 1"/>
          <p:cNvSpPr/>
          <p:nvPr/>
        </p:nvSpPr>
        <p:spPr>
          <a:xfrm>
            <a:off x="4572000" y="9144"/>
            <a:ext cx="7159752" cy="128016"/>
          </a:xfrm>
          <a:prstGeom prst="rect">
            <a:avLst/>
          </a:prstGeom>
          <a:noFill/>
          <a:ln/>
        </p:spPr>
        <p:txBody>
          <a:bodyPr wrap="square" rtlCol="0" anchor="ctr"/>
          <a:lstStyle/>
          <a:p>
            <a:pPr marL="0" indent="0" algn="r">
              <a:buNone/>
            </a:pPr>
            <a:r>
              <a:rPr lang="en-US" sz="900" b="1" dirty="0">
                <a:solidFill>
                  <a:srgbClr val="1F3864"/>
                </a:solidFill>
              </a:rPr>
              <a:t>CSA15 | Cloud Computing and Big Data Analytics</a:t>
            </a:r>
            <a:endParaRPr lang="en-US" sz="900" dirty="0"/>
          </a:p>
        </p:txBody>
      </p:sp>
      <p:sp>
        <p:nvSpPr>
          <p:cNvPr id="4" name="Shape 2"/>
          <p:cNvSpPr/>
          <p:nvPr/>
        </p:nvSpPr>
        <p:spPr>
          <a:xfrm>
            <a:off x="0" y="6720840"/>
            <a:ext cx="12192000" cy="137160"/>
          </a:xfrm>
          <a:prstGeom prst="rect">
            <a:avLst/>
          </a:prstGeom>
          <a:solidFill>
            <a:srgbClr val="FFFFFF"/>
          </a:solidFill>
          <a:ln/>
        </p:spPr>
      </p:sp>
      <p:sp>
        <p:nvSpPr>
          <p:cNvPr id="5" name="Text 3"/>
          <p:cNvSpPr/>
          <p:nvPr/>
        </p:nvSpPr>
        <p:spPr>
          <a:xfrm>
            <a:off x="274320" y="6729984"/>
            <a:ext cx="8229600" cy="109728"/>
          </a:xfrm>
          <a:prstGeom prst="rect">
            <a:avLst/>
          </a:prstGeom>
          <a:noFill/>
          <a:ln/>
        </p:spPr>
        <p:txBody>
          <a:bodyPr wrap="square" rtlCol="0" anchor="ctr"/>
          <a:lstStyle/>
          <a:p>
            <a:pPr marL="0" indent="0">
              <a:buNone/>
            </a:pPr>
            <a:r>
              <a:rPr lang="en-US" sz="800" dirty="0">
                <a:solidFill>
                  <a:srgbClr val="595959"/>
                </a:solidFill>
              </a:rPr>
              <a:t>Individual student submission template | Department of Computer Science and Engineering</a:t>
            </a:r>
            <a:endParaRPr lang="en-US" sz="800" dirty="0"/>
          </a:p>
        </p:txBody>
      </p:sp>
      <p:sp>
        <p:nvSpPr>
          <p:cNvPr id="6" name="Text 4"/>
          <p:cNvSpPr/>
          <p:nvPr/>
        </p:nvSpPr>
        <p:spPr>
          <a:xfrm>
            <a:off x="10515600" y="6729984"/>
            <a:ext cx="1554480" cy="109728"/>
          </a:xfrm>
          <a:prstGeom prst="rect">
            <a:avLst/>
          </a:prstGeom>
          <a:noFill/>
          <a:ln/>
        </p:spPr>
        <p:txBody>
          <a:bodyPr wrap="square" rtlCol="0" anchor="ctr"/>
          <a:lstStyle/>
          <a:p>
            <a:pPr marL="0" indent="0" algn="r">
              <a:buNone/>
            </a:pPr>
            <a:r>
              <a:rPr lang="en-US" sz="800" b="1" dirty="0">
                <a:solidFill>
                  <a:srgbClr val="1F3864"/>
                </a:solidFill>
              </a:rPr>
              <a:t>CO1 AT3 | 04</a:t>
            </a:r>
            <a:endParaRPr lang="en-US" sz="800" dirty="0"/>
          </a:p>
        </p:txBody>
      </p:sp>
      <p:sp>
        <p:nvSpPr>
          <p:cNvPr id="7" name="Text 5"/>
          <p:cNvSpPr/>
          <p:nvPr/>
        </p:nvSpPr>
        <p:spPr>
          <a:xfrm>
            <a:off x="365760" y="201168"/>
            <a:ext cx="11430000" cy="502920"/>
          </a:xfrm>
          <a:prstGeom prst="rect">
            <a:avLst/>
          </a:prstGeom>
          <a:noFill/>
          <a:ln/>
        </p:spPr>
        <p:txBody>
          <a:bodyPr wrap="square" rtlCol="0" anchor="ctr"/>
          <a:lstStyle/>
          <a:p>
            <a:pPr marL="0" indent="0">
              <a:buNone/>
            </a:pPr>
            <a:r>
              <a:rPr lang="en-US" sz="2800" b="1" dirty="0">
                <a:solidFill>
                  <a:srgbClr val="1F3864"/>
                </a:solidFill>
              </a:rPr>
              <a:t>Capstone Cloud Architecture</a:t>
            </a:r>
            <a:endParaRPr lang="en-US" sz="2800" dirty="0"/>
          </a:p>
        </p:txBody>
      </p:sp>
      <p:sp>
        <p:nvSpPr>
          <p:cNvPr id="8" name="Text 6"/>
          <p:cNvSpPr/>
          <p:nvPr/>
        </p:nvSpPr>
        <p:spPr>
          <a:xfrm>
            <a:off x="365760" y="713232"/>
            <a:ext cx="9144000" cy="201168"/>
          </a:xfrm>
          <a:prstGeom prst="rect">
            <a:avLst/>
          </a:prstGeom>
          <a:noFill/>
          <a:ln/>
        </p:spPr>
        <p:txBody>
          <a:bodyPr wrap="square" rtlCol="0" anchor="ctr"/>
          <a:lstStyle/>
          <a:p>
            <a:pPr marL="0" indent="0">
              <a:buNone/>
            </a:pPr>
            <a:r>
              <a:rPr lang="en-US" sz="1400" dirty="0">
                <a:solidFill>
                  <a:srgbClr val="595959"/>
                </a:solidFill>
              </a:rPr>
              <a:t>Our cloud architecture connects the user action to services</a:t>
            </a:r>
            <a:endParaRPr lang="en-US" sz="1400" dirty="0"/>
          </a:p>
        </p:txBody>
      </p:sp>
      <p:sp>
        <p:nvSpPr>
          <p:cNvPr id="9" name="Shape 7"/>
          <p:cNvSpPr/>
          <p:nvPr/>
        </p:nvSpPr>
        <p:spPr>
          <a:xfrm>
            <a:off x="320040" y="1101852"/>
            <a:ext cx="2103120" cy="1463040"/>
          </a:xfrm>
          <a:prstGeom prst="rect">
            <a:avLst/>
          </a:prstGeom>
          <a:solidFill>
            <a:srgbClr val="2E75B6"/>
          </a:solidFill>
          <a:ln w="25400">
            <a:solidFill>
              <a:srgbClr val="FFFFFF"/>
            </a:solidFill>
            <a:prstDash val="solid"/>
          </a:ln>
        </p:spPr>
      </p:sp>
      <p:sp>
        <p:nvSpPr>
          <p:cNvPr id="10" name="Text 8"/>
          <p:cNvSpPr/>
          <p:nvPr/>
        </p:nvSpPr>
        <p:spPr>
          <a:xfrm>
            <a:off x="320040" y="960120"/>
            <a:ext cx="2103120" cy="201168"/>
          </a:xfrm>
          <a:prstGeom prst="rect">
            <a:avLst/>
          </a:prstGeom>
          <a:noFill/>
          <a:ln/>
        </p:spPr>
        <p:txBody>
          <a:bodyPr wrap="square" rtlCol="0" anchor="ctr"/>
          <a:lstStyle/>
          <a:p>
            <a:pPr marL="0" indent="0" algn="ctr">
              <a:buNone/>
            </a:pPr>
            <a:r>
              <a:rPr lang="en-US" sz="900" b="1" dirty="0">
                <a:solidFill>
                  <a:srgbClr val="595959"/>
                </a:solidFill>
              </a:rPr>
              <a:t>User App / Web</a:t>
            </a:r>
            <a:endParaRPr lang="en-US" sz="900" dirty="0"/>
          </a:p>
        </p:txBody>
      </p:sp>
      <p:sp>
        <p:nvSpPr>
          <p:cNvPr id="11" name="Text 9"/>
          <p:cNvSpPr/>
          <p:nvPr/>
        </p:nvSpPr>
        <p:spPr>
          <a:xfrm>
            <a:off x="320040" y="1051560"/>
            <a:ext cx="2103120" cy="1463040"/>
          </a:xfrm>
          <a:prstGeom prst="rect">
            <a:avLst/>
          </a:prstGeom>
          <a:noFill/>
          <a:ln/>
        </p:spPr>
        <p:txBody>
          <a:bodyPr wrap="square" rtlCol="0" anchor="ctr"/>
          <a:lstStyle/>
          <a:p>
            <a:pPr marL="0" indent="0" algn="ctr">
              <a:buNone/>
            </a:pPr>
            <a:r>
              <a:rPr lang="en-US" sz="1100" b="1" dirty="0">
                <a:solidFill>
                  <a:srgbClr val="FFFFFF"/>
                </a:solidFill>
              </a:rPr>
              <a:t>React SPA</a:t>
            </a:r>
            <a:endParaRPr lang="en-US" sz="1100" dirty="0"/>
          </a:p>
          <a:p>
            <a:pPr marL="0" indent="0" algn="ctr">
              <a:buNone/>
            </a:pPr>
            <a:r>
              <a:rPr lang="en-US" sz="1100" b="1" dirty="0">
                <a:solidFill>
                  <a:srgbClr val="FFFFFF"/>
                </a:solidFill>
              </a:rPr>
              <a:t>(Amplify +</a:t>
            </a:r>
            <a:endParaRPr lang="en-US" sz="1100" dirty="0"/>
          </a:p>
          <a:p>
            <a:pPr marL="0" indent="0" algn="ctr">
              <a:buNone/>
            </a:pPr>
            <a:r>
              <a:rPr lang="en-US" sz="1100" b="1" dirty="0">
                <a:solidFill>
                  <a:srgbClr val="FFFFFF"/>
                </a:solidFill>
              </a:rPr>
              <a:t>CloudFront)</a:t>
            </a:r>
            <a:endParaRPr lang="en-US" sz="1100" dirty="0"/>
          </a:p>
        </p:txBody>
      </p:sp>
      <p:sp>
        <p:nvSpPr>
          <p:cNvPr id="12" name="Shape 10"/>
          <p:cNvSpPr/>
          <p:nvPr/>
        </p:nvSpPr>
        <p:spPr>
          <a:xfrm>
            <a:off x="2423160" y="1709928"/>
            <a:ext cx="329184" cy="237744"/>
          </a:xfrm>
          <a:prstGeom prst="rightArrow">
            <a:avLst/>
          </a:prstGeom>
          <a:solidFill>
            <a:srgbClr val="1F3864"/>
          </a:solidFill>
          <a:ln/>
        </p:spPr>
      </p:sp>
      <p:sp>
        <p:nvSpPr>
          <p:cNvPr id="13" name="Shape 11"/>
          <p:cNvSpPr/>
          <p:nvPr/>
        </p:nvSpPr>
        <p:spPr>
          <a:xfrm>
            <a:off x="2595371" y="1109357"/>
            <a:ext cx="2103120" cy="1463040"/>
          </a:xfrm>
          <a:prstGeom prst="rect">
            <a:avLst/>
          </a:prstGeom>
          <a:solidFill>
            <a:srgbClr val="1F3864"/>
          </a:solidFill>
          <a:ln w="25400">
            <a:solidFill>
              <a:srgbClr val="FFFFFF"/>
            </a:solidFill>
            <a:prstDash val="solid"/>
          </a:ln>
        </p:spPr>
      </p:sp>
      <p:sp>
        <p:nvSpPr>
          <p:cNvPr id="14" name="Text 12"/>
          <p:cNvSpPr/>
          <p:nvPr/>
        </p:nvSpPr>
        <p:spPr>
          <a:xfrm>
            <a:off x="2606040" y="960120"/>
            <a:ext cx="2103120" cy="201168"/>
          </a:xfrm>
          <a:prstGeom prst="rect">
            <a:avLst/>
          </a:prstGeom>
          <a:noFill/>
          <a:ln/>
        </p:spPr>
        <p:txBody>
          <a:bodyPr wrap="square" rtlCol="0" anchor="ctr"/>
          <a:lstStyle/>
          <a:p>
            <a:pPr marL="0" indent="0" algn="ctr">
              <a:buNone/>
            </a:pPr>
            <a:r>
              <a:rPr lang="en-US" sz="900" b="1" dirty="0">
                <a:solidFill>
                  <a:srgbClr val="595959"/>
                </a:solidFill>
              </a:rPr>
              <a:t>Auth + API GW</a:t>
            </a:r>
            <a:endParaRPr lang="en-US" sz="900" dirty="0"/>
          </a:p>
        </p:txBody>
      </p:sp>
      <p:sp>
        <p:nvSpPr>
          <p:cNvPr id="15" name="Text 13"/>
          <p:cNvSpPr/>
          <p:nvPr/>
        </p:nvSpPr>
        <p:spPr>
          <a:xfrm>
            <a:off x="2606040" y="1051560"/>
            <a:ext cx="2103120" cy="1463040"/>
          </a:xfrm>
          <a:prstGeom prst="rect">
            <a:avLst/>
          </a:prstGeom>
          <a:noFill/>
          <a:ln/>
        </p:spPr>
        <p:txBody>
          <a:bodyPr wrap="square" rtlCol="0" anchor="ctr"/>
          <a:lstStyle/>
          <a:p>
            <a:pPr marL="0" indent="0" algn="ctr">
              <a:buNone/>
            </a:pPr>
            <a:r>
              <a:rPr lang="en-US" sz="1100" b="1" dirty="0">
                <a:solidFill>
                  <a:srgbClr val="FFFFFF"/>
                </a:solidFill>
              </a:rPr>
              <a:t>Cognito JWT</a:t>
            </a:r>
            <a:endParaRPr lang="en-US" sz="1100" dirty="0"/>
          </a:p>
          <a:p>
            <a:pPr marL="0" indent="0" algn="ctr">
              <a:buNone/>
            </a:pPr>
            <a:r>
              <a:rPr lang="en-US" sz="1100" b="1" dirty="0">
                <a:solidFill>
                  <a:srgbClr val="FFFFFF"/>
                </a:solidFill>
              </a:rPr>
              <a:t>+ API Gateway</a:t>
            </a:r>
            <a:endParaRPr lang="en-US" sz="1100" dirty="0"/>
          </a:p>
          <a:p>
            <a:pPr marL="0" indent="0" algn="ctr">
              <a:buNone/>
            </a:pPr>
            <a:r>
              <a:rPr lang="en-US" sz="1100" b="1" dirty="0">
                <a:solidFill>
                  <a:srgbClr val="FFFFFF"/>
                </a:solidFill>
              </a:rPr>
              <a:t>(/upload /match)</a:t>
            </a:r>
            <a:endParaRPr lang="en-US" sz="1100" dirty="0"/>
          </a:p>
        </p:txBody>
      </p:sp>
      <p:sp>
        <p:nvSpPr>
          <p:cNvPr id="16" name="Shape 14"/>
          <p:cNvSpPr/>
          <p:nvPr/>
        </p:nvSpPr>
        <p:spPr>
          <a:xfrm>
            <a:off x="4709160" y="1709928"/>
            <a:ext cx="329184" cy="237744"/>
          </a:xfrm>
          <a:prstGeom prst="rightArrow">
            <a:avLst/>
          </a:prstGeom>
          <a:solidFill>
            <a:srgbClr val="1F3864"/>
          </a:solidFill>
          <a:ln/>
        </p:spPr>
      </p:sp>
      <p:sp>
        <p:nvSpPr>
          <p:cNvPr id="17" name="Shape 15"/>
          <p:cNvSpPr/>
          <p:nvPr/>
        </p:nvSpPr>
        <p:spPr>
          <a:xfrm>
            <a:off x="4881371" y="1120140"/>
            <a:ext cx="2103120" cy="1463040"/>
          </a:xfrm>
          <a:prstGeom prst="rect">
            <a:avLst/>
          </a:prstGeom>
          <a:solidFill>
            <a:srgbClr val="C65911"/>
          </a:solidFill>
          <a:ln w="25400">
            <a:solidFill>
              <a:srgbClr val="FFFFFF"/>
            </a:solidFill>
            <a:prstDash val="solid"/>
          </a:ln>
        </p:spPr>
      </p:sp>
      <p:sp>
        <p:nvSpPr>
          <p:cNvPr id="18" name="Text 16"/>
          <p:cNvSpPr/>
          <p:nvPr/>
        </p:nvSpPr>
        <p:spPr>
          <a:xfrm>
            <a:off x="4892040" y="960120"/>
            <a:ext cx="2103120" cy="201168"/>
          </a:xfrm>
          <a:prstGeom prst="rect">
            <a:avLst/>
          </a:prstGeom>
          <a:noFill/>
          <a:ln/>
        </p:spPr>
        <p:txBody>
          <a:bodyPr wrap="square" rtlCol="0" anchor="ctr"/>
          <a:lstStyle/>
          <a:p>
            <a:pPr marL="0" indent="0" algn="ctr">
              <a:buNone/>
            </a:pPr>
            <a:r>
              <a:rPr lang="en-US" sz="900" b="1" dirty="0">
                <a:solidFill>
                  <a:srgbClr val="595959"/>
                </a:solidFill>
              </a:rPr>
              <a:t>Backend Services</a:t>
            </a:r>
            <a:endParaRPr lang="en-US" sz="900" dirty="0"/>
          </a:p>
        </p:txBody>
      </p:sp>
      <p:sp>
        <p:nvSpPr>
          <p:cNvPr id="19" name="Text 17"/>
          <p:cNvSpPr/>
          <p:nvPr/>
        </p:nvSpPr>
        <p:spPr>
          <a:xfrm>
            <a:off x="4892040" y="1051560"/>
            <a:ext cx="2103120" cy="1463040"/>
          </a:xfrm>
          <a:prstGeom prst="rect">
            <a:avLst/>
          </a:prstGeom>
          <a:noFill/>
          <a:ln/>
        </p:spPr>
        <p:txBody>
          <a:bodyPr wrap="square" rtlCol="0" anchor="ctr"/>
          <a:lstStyle/>
          <a:p>
            <a:pPr marL="0" indent="0" algn="ctr">
              <a:buNone/>
            </a:pPr>
            <a:r>
              <a:rPr lang="en-US" sz="1100" b="1" dirty="0">
                <a:solidFill>
                  <a:srgbClr val="FFFFFF"/>
                </a:solidFill>
              </a:rPr>
              <a:t>Lambda NLP</a:t>
            </a:r>
            <a:endParaRPr lang="en-US" sz="1100" dirty="0"/>
          </a:p>
          <a:p>
            <a:pPr marL="0" indent="0" algn="ctr">
              <a:buNone/>
            </a:pPr>
            <a:r>
              <a:rPr lang="en-US" sz="1100" b="1" dirty="0">
                <a:solidFill>
                  <a:srgbClr val="FFFFFF"/>
                </a:solidFill>
              </a:rPr>
              <a:t>(spaCy NER)</a:t>
            </a:r>
            <a:endParaRPr lang="en-US" sz="1100" dirty="0"/>
          </a:p>
          <a:p>
            <a:pPr marL="0" indent="0" algn="ctr">
              <a:buNone/>
            </a:pPr>
            <a:r>
              <a:rPr lang="en-US" sz="1100" b="1" dirty="0">
                <a:solidFill>
                  <a:srgbClr val="FFFFFF"/>
                </a:solidFill>
              </a:rPr>
              <a:t>+ PDF Parser</a:t>
            </a:r>
            <a:endParaRPr lang="en-US" sz="1100" dirty="0"/>
          </a:p>
        </p:txBody>
      </p:sp>
      <p:sp>
        <p:nvSpPr>
          <p:cNvPr id="20" name="Shape 18"/>
          <p:cNvSpPr/>
          <p:nvPr/>
        </p:nvSpPr>
        <p:spPr>
          <a:xfrm>
            <a:off x="6995160" y="1709928"/>
            <a:ext cx="329184" cy="237744"/>
          </a:xfrm>
          <a:prstGeom prst="rightArrow">
            <a:avLst/>
          </a:prstGeom>
          <a:solidFill>
            <a:srgbClr val="1F3864"/>
          </a:solidFill>
          <a:ln/>
        </p:spPr>
      </p:sp>
      <p:sp>
        <p:nvSpPr>
          <p:cNvPr id="21" name="Shape 19"/>
          <p:cNvSpPr/>
          <p:nvPr/>
        </p:nvSpPr>
        <p:spPr>
          <a:xfrm>
            <a:off x="7167371" y="1136789"/>
            <a:ext cx="2103120" cy="1463040"/>
          </a:xfrm>
          <a:prstGeom prst="rect">
            <a:avLst/>
          </a:prstGeom>
          <a:solidFill>
            <a:srgbClr val="217346"/>
          </a:solidFill>
          <a:ln w="25400">
            <a:solidFill>
              <a:srgbClr val="FFFFFF"/>
            </a:solidFill>
            <a:prstDash val="solid"/>
          </a:ln>
        </p:spPr>
      </p:sp>
      <p:sp>
        <p:nvSpPr>
          <p:cNvPr id="22" name="Text 20"/>
          <p:cNvSpPr/>
          <p:nvPr/>
        </p:nvSpPr>
        <p:spPr>
          <a:xfrm>
            <a:off x="7178040" y="960120"/>
            <a:ext cx="2103120" cy="201168"/>
          </a:xfrm>
          <a:prstGeom prst="rect">
            <a:avLst/>
          </a:prstGeom>
          <a:noFill/>
          <a:ln/>
        </p:spPr>
        <p:txBody>
          <a:bodyPr wrap="square" rtlCol="0" anchor="ctr"/>
          <a:lstStyle/>
          <a:p>
            <a:pPr marL="0" indent="0" algn="ctr">
              <a:buNone/>
            </a:pPr>
            <a:r>
              <a:rPr lang="en-US" sz="900" b="1" dirty="0">
                <a:solidFill>
                  <a:srgbClr val="595959"/>
                </a:solidFill>
              </a:rPr>
              <a:t>Database / Storage</a:t>
            </a:r>
            <a:endParaRPr lang="en-US" sz="900" dirty="0"/>
          </a:p>
        </p:txBody>
      </p:sp>
      <p:sp>
        <p:nvSpPr>
          <p:cNvPr id="23" name="Text 21"/>
          <p:cNvSpPr/>
          <p:nvPr/>
        </p:nvSpPr>
        <p:spPr>
          <a:xfrm>
            <a:off x="7178040" y="1051560"/>
            <a:ext cx="2103120" cy="1463040"/>
          </a:xfrm>
          <a:prstGeom prst="rect">
            <a:avLst/>
          </a:prstGeom>
          <a:noFill/>
          <a:ln/>
        </p:spPr>
        <p:txBody>
          <a:bodyPr wrap="square" rtlCol="0" anchor="ctr"/>
          <a:lstStyle/>
          <a:p>
            <a:pPr marL="0" indent="0" algn="ctr">
              <a:buNone/>
            </a:pPr>
            <a:r>
              <a:rPr lang="en-US" sz="1100" b="1" dirty="0">
                <a:solidFill>
                  <a:srgbClr val="FFFFFF"/>
                </a:solidFill>
              </a:rPr>
              <a:t>DynamoDB</a:t>
            </a:r>
            <a:endParaRPr lang="en-US" sz="1100" dirty="0"/>
          </a:p>
          <a:p>
            <a:pPr marL="0" indent="0" algn="ctr">
              <a:buNone/>
            </a:pPr>
            <a:r>
              <a:rPr lang="en-US" sz="1100" b="1" dirty="0">
                <a:solidFill>
                  <a:srgbClr val="FFFFFF"/>
                </a:solidFill>
              </a:rPr>
              <a:t>Results +</a:t>
            </a:r>
            <a:endParaRPr lang="en-US" sz="1100" dirty="0"/>
          </a:p>
          <a:p>
            <a:pPr marL="0" indent="0" algn="ctr">
              <a:buNone/>
            </a:pPr>
            <a:r>
              <a:rPr lang="en-US" sz="1100" b="1" dirty="0">
                <a:solidFill>
                  <a:srgbClr val="FFFFFF"/>
                </a:solidFill>
              </a:rPr>
              <a:t>S3 Resumes</a:t>
            </a:r>
            <a:endParaRPr lang="en-US" sz="1100" dirty="0"/>
          </a:p>
        </p:txBody>
      </p:sp>
      <p:sp>
        <p:nvSpPr>
          <p:cNvPr id="24" name="Shape 22"/>
          <p:cNvSpPr/>
          <p:nvPr/>
        </p:nvSpPr>
        <p:spPr>
          <a:xfrm>
            <a:off x="9281160" y="1709928"/>
            <a:ext cx="329184" cy="237744"/>
          </a:xfrm>
          <a:prstGeom prst="rightArrow">
            <a:avLst/>
          </a:prstGeom>
          <a:solidFill>
            <a:srgbClr val="1F3864"/>
          </a:solidFill>
          <a:ln/>
        </p:spPr>
      </p:sp>
      <p:sp>
        <p:nvSpPr>
          <p:cNvPr id="25" name="Shape 23"/>
          <p:cNvSpPr/>
          <p:nvPr/>
        </p:nvSpPr>
        <p:spPr>
          <a:xfrm>
            <a:off x="9464040" y="1113929"/>
            <a:ext cx="2103120" cy="1463040"/>
          </a:xfrm>
          <a:prstGeom prst="rect">
            <a:avLst/>
          </a:prstGeom>
          <a:solidFill>
            <a:srgbClr val="6B2C91"/>
          </a:solidFill>
          <a:ln w="25400">
            <a:solidFill>
              <a:srgbClr val="FFFFFF"/>
            </a:solidFill>
            <a:prstDash val="solid"/>
          </a:ln>
        </p:spPr>
      </p:sp>
      <p:sp>
        <p:nvSpPr>
          <p:cNvPr id="26" name="Text 24"/>
          <p:cNvSpPr/>
          <p:nvPr/>
        </p:nvSpPr>
        <p:spPr>
          <a:xfrm>
            <a:off x="9464040" y="960120"/>
            <a:ext cx="2103120" cy="201168"/>
          </a:xfrm>
          <a:prstGeom prst="rect">
            <a:avLst/>
          </a:prstGeom>
          <a:noFill/>
          <a:ln/>
        </p:spPr>
        <p:txBody>
          <a:bodyPr wrap="square" rtlCol="0" anchor="ctr"/>
          <a:lstStyle/>
          <a:p>
            <a:pPr marL="0" indent="0" algn="ctr">
              <a:buNone/>
            </a:pPr>
            <a:r>
              <a:rPr lang="en-US" sz="900" b="1" dirty="0">
                <a:solidFill>
                  <a:srgbClr val="595959"/>
                </a:solidFill>
              </a:rPr>
              <a:t>Analytics / Monitoring</a:t>
            </a:r>
            <a:endParaRPr lang="en-US" sz="900" dirty="0"/>
          </a:p>
        </p:txBody>
      </p:sp>
      <p:sp>
        <p:nvSpPr>
          <p:cNvPr id="27" name="Text 25"/>
          <p:cNvSpPr/>
          <p:nvPr/>
        </p:nvSpPr>
        <p:spPr>
          <a:xfrm>
            <a:off x="9464040" y="1051560"/>
            <a:ext cx="2103120" cy="1463040"/>
          </a:xfrm>
          <a:prstGeom prst="rect">
            <a:avLst/>
          </a:prstGeom>
          <a:noFill/>
          <a:ln/>
        </p:spPr>
        <p:txBody>
          <a:bodyPr wrap="square" rtlCol="0" anchor="ctr"/>
          <a:lstStyle/>
          <a:p>
            <a:pPr marL="0" indent="0" algn="ctr">
              <a:buNone/>
            </a:pPr>
            <a:r>
              <a:rPr lang="en-US" sz="1100" b="1" dirty="0">
                <a:solidFill>
                  <a:srgbClr val="FFFFFF"/>
                </a:solidFill>
              </a:rPr>
              <a:t>CloudWatch</a:t>
            </a:r>
            <a:endParaRPr lang="en-US" sz="1100" dirty="0"/>
          </a:p>
          <a:p>
            <a:pPr marL="0" indent="0" algn="ctr">
              <a:buNone/>
            </a:pPr>
            <a:r>
              <a:rPr lang="en-US" sz="1100" b="1" dirty="0">
                <a:solidFill>
                  <a:srgbClr val="FFFFFF"/>
                </a:solidFill>
              </a:rPr>
              <a:t>Alarms +</a:t>
            </a:r>
            <a:endParaRPr lang="en-US" sz="1100" dirty="0"/>
          </a:p>
          <a:p>
            <a:pPr marL="0" indent="0" algn="ctr">
              <a:buNone/>
            </a:pPr>
            <a:r>
              <a:rPr lang="en-US" sz="1100" b="1" dirty="0">
                <a:solidFill>
                  <a:srgbClr val="FFFFFF"/>
                </a:solidFill>
              </a:rPr>
              <a:t>QuickSight</a:t>
            </a:r>
            <a:endParaRPr lang="en-US" sz="1100" dirty="0"/>
          </a:p>
        </p:txBody>
      </p:sp>
      <p:sp>
        <p:nvSpPr>
          <p:cNvPr id="28" name="Text 26"/>
          <p:cNvSpPr/>
          <p:nvPr/>
        </p:nvSpPr>
        <p:spPr>
          <a:xfrm>
            <a:off x="4663440" y="498090"/>
            <a:ext cx="2103120" cy="201168"/>
          </a:xfrm>
          <a:prstGeom prst="rect">
            <a:avLst/>
          </a:prstGeom>
          <a:noFill/>
          <a:ln/>
        </p:spPr>
        <p:txBody>
          <a:bodyPr wrap="square" rtlCol="0" anchor="ctr"/>
          <a:lstStyle/>
          <a:p>
            <a:pPr marL="0" indent="0" algn="ctr">
              <a:buNone/>
            </a:pPr>
            <a:r>
              <a:rPr lang="en-US" sz="900" b="1" dirty="0">
                <a:solidFill>
                  <a:srgbClr val="C65911"/>
                </a:solidFill>
              </a:rPr>
              <a:t>⚡ Scaling point</a:t>
            </a:r>
            <a:endParaRPr lang="en-US" sz="900" dirty="0"/>
          </a:p>
        </p:txBody>
      </p:sp>
      <p:sp>
        <p:nvSpPr>
          <p:cNvPr id="29" name="Shape 27"/>
          <p:cNvSpPr/>
          <p:nvPr/>
        </p:nvSpPr>
        <p:spPr>
          <a:xfrm>
            <a:off x="5711722" y="681228"/>
            <a:ext cx="36576" cy="301752"/>
          </a:xfrm>
          <a:prstGeom prst="rect">
            <a:avLst/>
          </a:prstGeom>
          <a:solidFill>
            <a:srgbClr val="C65911"/>
          </a:solidFill>
          <a:ln/>
        </p:spPr>
      </p:sp>
      <p:sp>
        <p:nvSpPr>
          <p:cNvPr id="30" name="Shape 28"/>
          <p:cNvSpPr/>
          <p:nvPr/>
        </p:nvSpPr>
        <p:spPr>
          <a:xfrm>
            <a:off x="274320" y="2778137"/>
            <a:ext cx="11567160" cy="27432"/>
          </a:xfrm>
          <a:prstGeom prst="rect">
            <a:avLst/>
          </a:prstGeom>
          <a:solidFill>
            <a:srgbClr val="C0392B"/>
          </a:solidFill>
          <a:ln/>
        </p:spPr>
      </p:sp>
      <p:sp>
        <p:nvSpPr>
          <p:cNvPr id="31" name="Text 29"/>
          <p:cNvSpPr/>
          <p:nvPr/>
        </p:nvSpPr>
        <p:spPr>
          <a:xfrm>
            <a:off x="3130298" y="2590685"/>
            <a:ext cx="6400800" cy="201168"/>
          </a:xfrm>
          <a:prstGeom prst="rect">
            <a:avLst/>
          </a:prstGeom>
          <a:noFill/>
          <a:ln/>
        </p:spPr>
        <p:txBody>
          <a:bodyPr wrap="square" rtlCol="0" anchor="ctr"/>
          <a:lstStyle/>
          <a:p>
            <a:pPr marL="0" indent="0" algn="ctr">
              <a:buNone/>
            </a:pPr>
            <a:r>
              <a:rPr lang="en-US" sz="900" dirty="0">
                <a:solidFill>
                  <a:srgbClr val="C0392B"/>
                </a:solidFill>
              </a:rPr>
              <a:t>🔒 Security boundary (Cognito JWT + VPC + KMS)</a:t>
            </a:r>
            <a:endParaRPr lang="en-US" sz="900" dirty="0"/>
          </a:p>
        </p:txBody>
      </p:sp>
      <p:sp>
        <p:nvSpPr>
          <p:cNvPr id="32" name="Shape 30"/>
          <p:cNvSpPr/>
          <p:nvPr/>
        </p:nvSpPr>
        <p:spPr>
          <a:xfrm>
            <a:off x="4130040" y="3136392"/>
            <a:ext cx="3931920" cy="731520"/>
          </a:xfrm>
          <a:prstGeom prst="rect">
            <a:avLst/>
          </a:prstGeom>
          <a:solidFill>
            <a:srgbClr val="6B2C91"/>
          </a:solidFill>
          <a:ln/>
        </p:spPr>
      </p:sp>
      <p:sp>
        <p:nvSpPr>
          <p:cNvPr id="33" name="Text 31"/>
          <p:cNvSpPr/>
          <p:nvPr/>
        </p:nvSpPr>
        <p:spPr>
          <a:xfrm>
            <a:off x="4130040" y="3168137"/>
            <a:ext cx="3931920" cy="731520"/>
          </a:xfrm>
          <a:prstGeom prst="rect">
            <a:avLst/>
          </a:prstGeom>
          <a:noFill/>
          <a:ln/>
        </p:spPr>
        <p:txBody>
          <a:bodyPr wrap="square" rtlCol="0" anchor="ctr"/>
          <a:lstStyle/>
          <a:p>
            <a:pPr marL="0" indent="0" algn="ctr">
              <a:buNone/>
            </a:pPr>
            <a:r>
              <a:rPr lang="en-US" sz="1050" dirty="0">
                <a:solidFill>
                  <a:srgbClr val="FFFFFF"/>
                </a:solidFill>
              </a:rPr>
              <a:t>Analytics + Monitoring: CloudWatch Logs → SNS Alert if error &gt;1% | QuickSight skill-gap trends</a:t>
            </a:r>
            <a:endParaRPr lang="en-US" sz="1050" dirty="0"/>
          </a:p>
        </p:txBody>
      </p:sp>
      <p:sp>
        <p:nvSpPr>
          <p:cNvPr id="34" name="Shape 32"/>
          <p:cNvSpPr/>
          <p:nvPr/>
        </p:nvSpPr>
        <p:spPr>
          <a:xfrm>
            <a:off x="5824727" y="2791852"/>
            <a:ext cx="45719" cy="344539"/>
          </a:xfrm>
          <a:prstGeom prst="rect">
            <a:avLst/>
          </a:prstGeom>
          <a:solidFill>
            <a:srgbClr val="6B2C91"/>
          </a:solidFill>
          <a:ln/>
        </p:spPr>
      </p:sp>
      <p:sp>
        <p:nvSpPr>
          <p:cNvPr id="35" name="Shape 33"/>
          <p:cNvSpPr/>
          <p:nvPr/>
        </p:nvSpPr>
        <p:spPr>
          <a:xfrm>
            <a:off x="8595360" y="2926080"/>
            <a:ext cx="3246120" cy="2743200"/>
          </a:xfrm>
          <a:prstGeom prst="rect">
            <a:avLst/>
          </a:prstGeom>
          <a:solidFill>
            <a:srgbClr val="EFF3F8"/>
          </a:solidFill>
          <a:ln w="12700">
            <a:solidFill>
              <a:srgbClr val="C8D4E8"/>
            </a:solidFill>
            <a:prstDash val="solid"/>
          </a:ln>
        </p:spPr>
      </p:sp>
      <p:sp>
        <p:nvSpPr>
          <p:cNvPr id="36" name="Shape 34"/>
          <p:cNvSpPr/>
          <p:nvPr/>
        </p:nvSpPr>
        <p:spPr>
          <a:xfrm>
            <a:off x="8595360" y="2926080"/>
            <a:ext cx="3246120" cy="36576"/>
          </a:xfrm>
          <a:prstGeom prst="rect">
            <a:avLst/>
          </a:prstGeom>
          <a:solidFill>
            <a:srgbClr val="1F3864"/>
          </a:solidFill>
          <a:ln/>
        </p:spPr>
      </p:sp>
      <p:sp>
        <p:nvSpPr>
          <p:cNvPr id="37" name="Text 35"/>
          <p:cNvSpPr/>
          <p:nvPr/>
        </p:nvSpPr>
        <p:spPr>
          <a:xfrm>
            <a:off x="8732520" y="3017520"/>
            <a:ext cx="2926080" cy="274320"/>
          </a:xfrm>
          <a:prstGeom prst="rect">
            <a:avLst/>
          </a:prstGeom>
          <a:noFill/>
          <a:ln/>
        </p:spPr>
        <p:txBody>
          <a:bodyPr wrap="square" rtlCol="0" anchor="ctr"/>
          <a:lstStyle/>
          <a:p>
            <a:pPr marL="0" indent="0">
              <a:buNone/>
            </a:pPr>
            <a:r>
              <a:rPr lang="en-US" sz="1300" b="1" dirty="0">
                <a:solidFill>
                  <a:srgbClr val="2E75B6"/>
                </a:solidFill>
              </a:rPr>
              <a:t>Presentation Points</a:t>
            </a:r>
            <a:endParaRPr lang="en-US" sz="1300" dirty="0"/>
          </a:p>
        </p:txBody>
      </p:sp>
      <p:sp>
        <p:nvSpPr>
          <p:cNvPr id="38" name="Text 36"/>
          <p:cNvSpPr/>
          <p:nvPr/>
        </p:nvSpPr>
        <p:spPr>
          <a:xfrm>
            <a:off x="8732520" y="3364992"/>
            <a:ext cx="2971800" cy="292608"/>
          </a:xfrm>
          <a:prstGeom prst="rect">
            <a:avLst/>
          </a:prstGeom>
          <a:noFill/>
          <a:ln/>
        </p:spPr>
        <p:txBody>
          <a:bodyPr wrap="square" rtlCol="0" anchor="ctr"/>
          <a:lstStyle/>
          <a:p>
            <a:pPr marL="0" indent="0">
              <a:buNone/>
            </a:pPr>
            <a:r>
              <a:rPr lang="en-US" sz="1000" dirty="0">
                <a:solidFill>
                  <a:srgbClr val="595959"/>
                </a:solidFill>
              </a:rPr>
              <a:t>• Request path: User → API GW → Lambda → DB</a:t>
            </a:r>
            <a:endParaRPr lang="en-US" sz="1000" dirty="0"/>
          </a:p>
        </p:txBody>
      </p:sp>
      <p:sp>
        <p:nvSpPr>
          <p:cNvPr id="39" name="Text 37"/>
          <p:cNvSpPr/>
          <p:nvPr/>
        </p:nvSpPr>
        <p:spPr>
          <a:xfrm>
            <a:off x="8732520" y="3694176"/>
            <a:ext cx="2971800" cy="292608"/>
          </a:xfrm>
          <a:prstGeom prst="rect">
            <a:avLst/>
          </a:prstGeom>
          <a:noFill/>
          <a:ln/>
        </p:spPr>
        <p:txBody>
          <a:bodyPr wrap="square" rtlCol="0" anchor="ctr"/>
          <a:lstStyle/>
          <a:p>
            <a:pPr marL="0" indent="0">
              <a:buNone/>
            </a:pPr>
            <a:r>
              <a:rPr lang="en-US" sz="1000" dirty="0">
                <a:solidFill>
                  <a:srgbClr val="595959"/>
                </a:solidFill>
              </a:rPr>
              <a:t>• API role: Cognito authorizer + rate limiting</a:t>
            </a:r>
            <a:endParaRPr lang="en-US" sz="1000" dirty="0"/>
          </a:p>
        </p:txBody>
      </p:sp>
      <p:sp>
        <p:nvSpPr>
          <p:cNvPr id="40" name="Text 38"/>
          <p:cNvSpPr/>
          <p:nvPr/>
        </p:nvSpPr>
        <p:spPr>
          <a:xfrm>
            <a:off x="8732520" y="4023360"/>
            <a:ext cx="2971800" cy="292608"/>
          </a:xfrm>
          <a:prstGeom prst="rect">
            <a:avLst/>
          </a:prstGeom>
          <a:noFill/>
          <a:ln/>
        </p:spPr>
        <p:txBody>
          <a:bodyPr wrap="square" rtlCol="0" anchor="ctr"/>
          <a:lstStyle/>
          <a:p>
            <a:pPr marL="0" indent="0">
              <a:buNone/>
            </a:pPr>
            <a:r>
              <a:rPr lang="en-US" sz="1000" dirty="0">
                <a:solidFill>
                  <a:srgbClr val="595959"/>
                </a:solidFill>
              </a:rPr>
              <a:t>• Compute choice: Serverless Lambda (0 idle cost)</a:t>
            </a:r>
            <a:endParaRPr lang="en-US" sz="1000" dirty="0"/>
          </a:p>
        </p:txBody>
      </p:sp>
      <p:sp>
        <p:nvSpPr>
          <p:cNvPr id="41" name="Text 39"/>
          <p:cNvSpPr/>
          <p:nvPr/>
        </p:nvSpPr>
        <p:spPr>
          <a:xfrm>
            <a:off x="8732520" y="4352544"/>
            <a:ext cx="2971800" cy="292608"/>
          </a:xfrm>
          <a:prstGeom prst="rect">
            <a:avLst/>
          </a:prstGeom>
          <a:noFill/>
          <a:ln/>
        </p:spPr>
        <p:txBody>
          <a:bodyPr wrap="square" rtlCol="0" anchor="ctr"/>
          <a:lstStyle/>
          <a:p>
            <a:pPr marL="0" indent="0">
              <a:buNone/>
            </a:pPr>
            <a:r>
              <a:rPr lang="en-US" sz="1000" dirty="0">
                <a:solidFill>
                  <a:srgbClr val="595959"/>
                </a:solidFill>
              </a:rPr>
              <a:t>• Database: DynamoDB on-demand (auto-scales)</a:t>
            </a:r>
            <a:endParaRPr lang="en-US" sz="1000" dirty="0"/>
          </a:p>
        </p:txBody>
      </p:sp>
      <p:sp>
        <p:nvSpPr>
          <p:cNvPr id="42" name="Text 40"/>
          <p:cNvSpPr/>
          <p:nvPr/>
        </p:nvSpPr>
        <p:spPr>
          <a:xfrm>
            <a:off x="8732520" y="4681728"/>
            <a:ext cx="2971800" cy="292608"/>
          </a:xfrm>
          <a:prstGeom prst="rect">
            <a:avLst/>
          </a:prstGeom>
          <a:noFill/>
          <a:ln/>
        </p:spPr>
        <p:txBody>
          <a:bodyPr wrap="square" rtlCol="0" anchor="ctr"/>
          <a:lstStyle/>
          <a:p>
            <a:pPr marL="0" indent="0">
              <a:buNone/>
            </a:pPr>
            <a:r>
              <a:rPr lang="en-US" sz="1000" dirty="0">
                <a:solidFill>
                  <a:srgbClr val="595959"/>
                </a:solidFill>
              </a:rPr>
              <a:t>• Monitoring: CloudWatch → SNS on error</a:t>
            </a:r>
            <a:endParaRPr lang="en-US" sz="1000" dirty="0"/>
          </a:p>
        </p:txBody>
      </p:sp>
      <p:sp>
        <p:nvSpPr>
          <p:cNvPr id="43" name="Text 41"/>
          <p:cNvSpPr/>
          <p:nvPr/>
        </p:nvSpPr>
        <p:spPr>
          <a:xfrm>
            <a:off x="8732520" y="5010912"/>
            <a:ext cx="2971800" cy="292608"/>
          </a:xfrm>
          <a:prstGeom prst="rect">
            <a:avLst/>
          </a:prstGeom>
          <a:noFill/>
          <a:ln/>
        </p:spPr>
        <p:txBody>
          <a:bodyPr wrap="square" rtlCol="0" anchor="ctr"/>
          <a:lstStyle/>
          <a:p>
            <a:pPr marL="0" indent="0">
              <a:buNone/>
            </a:pPr>
            <a:r>
              <a:rPr lang="en-US" sz="1000" dirty="0">
                <a:solidFill>
                  <a:srgbClr val="595959"/>
                </a:solidFill>
              </a:rPr>
              <a:t>• Scaling: Lambda 0→500 concurrent bursts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9728"/>
          </a:xfrm>
          <a:prstGeom prst="rect">
            <a:avLst/>
          </a:prstGeom>
          <a:solidFill>
            <a:srgbClr val="1F3864"/>
          </a:solidFill>
          <a:ln/>
        </p:spPr>
      </p:sp>
      <p:sp>
        <p:nvSpPr>
          <p:cNvPr id="3" name="Text 1"/>
          <p:cNvSpPr/>
          <p:nvPr/>
        </p:nvSpPr>
        <p:spPr>
          <a:xfrm>
            <a:off x="4572000" y="9144"/>
            <a:ext cx="7159752" cy="128016"/>
          </a:xfrm>
          <a:prstGeom prst="rect">
            <a:avLst/>
          </a:prstGeom>
          <a:noFill/>
          <a:ln/>
        </p:spPr>
        <p:txBody>
          <a:bodyPr wrap="square" rtlCol="0" anchor="ctr"/>
          <a:lstStyle/>
          <a:p>
            <a:pPr marL="0" indent="0" algn="r">
              <a:buNone/>
            </a:pPr>
            <a:r>
              <a:rPr lang="en-US" sz="900" b="1" dirty="0">
                <a:solidFill>
                  <a:srgbClr val="1F3864"/>
                </a:solidFill>
              </a:rPr>
              <a:t>CSA15 | Cloud Computing and Big Data Analytics</a:t>
            </a:r>
            <a:endParaRPr lang="en-US" sz="900" dirty="0"/>
          </a:p>
        </p:txBody>
      </p:sp>
      <p:sp>
        <p:nvSpPr>
          <p:cNvPr id="4" name="Shape 2"/>
          <p:cNvSpPr/>
          <p:nvPr/>
        </p:nvSpPr>
        <p:spPr>
          <a:xfrm>
            <a:off x="0" y="6720840"/>
            <a:ext cx="12192000" cy="137160"/>
          </a:xfrm>
          <a:prstGeom prst="rect">
            <a:avLst/>
          </a:prstGeom>
          <a:solidFill>
            <a:srgbClr val="FFFFFF"/>
          </a:solidFill>
          <a:ln/>
        </p:spPr>
      </p:sp>
      <p:sp>
        <p:nvSpPr>
          <p:cNvPr id="5" name="Text 3"/>
          <p:cNvSpPr/>
          <p:nvPr/>
        </p:nvSpPr>
        <p:spPr>
          <a:xfrm>
            <a:off x="274320" y="6729984"/>
            <a:ext cx="8229600" cy="109728"/>
          </a:xfrm>
          <a:prstGeom prst="rect">
            <a:avLst/>
          </a:prstGeom>
          <a:noFill/>
          <a:ln/>
        </p:spPr>
        <p:txBody>
          <a:bodyPr wrap="square" rtlCol="0" anchor="ctr"/>
          <a:lstStyle/>
          <a:p>
            <a:pPr marL="0" indent="0">
              <a:buNone/>
            </a:pPr>
            <a:r>
              <a:rPr lang="en-US" sz="800" dirty="0">
                <a:solidFill>
                  <a:srgbClr val="595959"/>
                </a:solidFill>
              </a:rPr>
              <a:t>Individual student submission template | Department of Computer Science and Engineering</a:t>
            </a:r>
            <a:endParaRPr lang="en-US" sz="800" dirty="0"/>
          </a:p>
        </p:txBody>
      </p:sp>
      <p:sp>
        <p:nvSpPr>
          <p:cNvPr id="6" name="Text 4"/>
          <p:cNvSpPr/>
          <p:nvPr/>
        </p:nvSpPr>
        <p:spPr>
          <a:xfrm>
            <a:off x="10515600" y="6729984"/>
            <a:ext cx="1554480" cy="109728"/>
          </a:xfrm>
          <a:prstGeom prst="rect">
            <a:avLst/>
          </a:prstGeom>
          <a:noFill/>
          <a:ln/>
        </p:spPr>
        <p:txBody>
          <a:bodyPr wrap="square" rtlCol="0" anchor="ctr"/>
          <a:lstStyle/>
          <a:p>
            <a:pPr marL="0" indent="0" algn="r">
              <a:buNone/>
            </a:pPr>
            <a:r>
              <a:rPr lang="en-US" sz="800" b="1" dirty="0">
                <a:solidFill>
                  <a:srgbClr val="1F3864"/>
                </a:solidFill>
              </a:rPr>
              <a:t>CO1 AT3 | 05</a:t>
            </a:r>
            <a:endParaRPr lang="en-US" sz="800" dirty="0"/>
          </a:p>
        </p:txBody>
      </p:sp>
      <p:sp>
        <p:nvSpPr>
          <p:cNvPr id="7" name="Text 5"/>
          <p:cNvSpPr/>
          <p:nvPr/>
        </p:nvSpPr>
        <p:spPr>
          <a:xfrm>
            <a:off x="365760" y="201168"/>
            <a:ext cx="11430000" cy="502920"/>
          </a:xfrm>
          <a:prstGeom prst="rect">
            <a:avLst/>
          </a:prstGeom>
          <a:noFill/>
          <a:ln/>
        </p:spPr>
        <p:txBody>
          <a:bodyPr wrap="square" rtlCol="0" anchor="ctr"/>
          <a:lstStyle/>
          <a:p>
            <a:pPr marL="0" indent="0">
              <a:buNone/>
            </a:pPr>
            <a:r>
              <a:rPr lang="en-US" sz="2800" b="1" dirty="0">
                <a:solidFill>
                  <a:srgbClr val="1F3864"/>
                </a:solidFill>
              </a:rPr>
              <a:t>Cloud Service Model Responsibility Matrix</a:t>
            </a:r>
            <a:endParaRPr lang="en-US" sz="2800" dirty="0"/>
          </a:p>
        </p:txBody>
      </p:sp>
      <p:sp>
        <p:nvSpPr>
          <p:cNvPr id="8" name="Text 6"/>
          <p:cNvSpPr/>
          <p:nvPr/>
        </p:nvSpPr>
        <p:spPr>
          <a:xfrm>
            <a:off x="365760" y="713232"/>
            <a:ext cx="9144000" cy="201168"/>
          </a:xfrm>
          <a:prstGeom prst="rect">
            <a:avLst/>
          </a:prstGeom>
          <a:noFill/>
          <a:ln/>
        </p:spPr>
        <p:txBody>
          <a:bodyPr wrap="square" rtlCol="0" anchor="ctr"/>
          <a:lstStyle/>
          <a:p>
            <a:pPr marL="0" indent="0">
              <a:buNone/>
            </a:pPr>
            <a:r>
              <a:rPr lang="en-US" sz="1400" dirty="0">
                <a:solidFill>
                  <a:srgbClr val="595959"/>
                </a:solidFill>
              </a:rPr>
              <a:t>Each service model defines what we control and what cloud manages</a:t>
            </a:r>
            <a:endParaRPr lang="en-US" sz="1400" dirty="0"/>
          </a:p>
        </p:txBody>
      </p:sp>
      <p:sp>
        <p:nvSpPr>
          <p:cNvPr id="9" name="Shape 7"/>
          <p:cNvSpPr/>
          <p:nvPr/>
        </p:nvSpPr>
        <p:spPr>
          <a:xfrm>
            <a:off x="274320" y="1005840"/>
            <a:ext cx="1645920" cy="384048"/>
          </a:xfrm>
          <a:prstGeom prst="rect">
            <a:avLst/>
          </a:prstGeom>
          <a:solidFill>
            <a:srgbClr val="1F3864"/>
          </a:solidFill>
          <a:ln/>
        </p:spPr>
      </p:sp>
      <p:sp>
        <p:nvSpPr>
          <p:cNvPr id="10" name="Text 8"/>
          <p:cNvSpPr/>
          <p:nvPr/>
        </p:nvSpPr>
        <p:spPr>
          <a:xfrm>
            <a:off x="274320" y="1005840"/>
            <a:ext cx="1645920" cy="384048"/>
          </a:xfrm>
          <a:prstGeom prst="rect">
            <a:avLst/>
          </a:prstGeom>
          <a:noFill/>
          <a:ln/>
        </p:spPr>
        <p:txBody>
          <a:bodyPr wrap="square" rtlCol="0" anchor="ctr"/>
          <a:lstStyle/>
          <a:p>
            <a:pPr marL="0" indent="0" algn="ctr">
              <a:buNone/>
            </a:pPr>
            <a:r>
              <a:rPr lang="en-US" sz="1100" b="1" dirty="0">
                <a:solidFill>
                  <a:srgbClr val="FFFFFF"/>
                </a:solidFill>
              </a:rPr>
              <a:t>Service area</a:t>
            </a:r>
            <a:endParaRPr lang="en-US" sz="1100" dirty="0"/>
          </a:p>
        </p:txBody>
      </p:sp>
      <p:sp>
        <p:nvSpPr>
          <p:cNvPr id="11" name="Shape 9"/>
          <p:cNvSpPr/>
          <p:nvPr/>
        </p:nvSpPr>
        <p:spPr>
          <a:xfrm>
            <a:off x="1920240" y="1005840"/>
            <a:ext cx="1097280" cy="384048"/>
          </a:xfrm>
          <a:prstGeom prst="rect">
            <a:avLst/>
          </a:prstGeom>
          <a:solidFill>
            <a:srgbClr val="1F3864"/>
          </a:solidFill>
          <a:ln/>
        </p:spPr>
      </p:sp>
      <p:sp>
        <p:nvSpPr>
          <p:cNvPr id="12" name="Text 10"/>
          <p:cNvSpPr/>
          <p:nvPr/>
        </p:nvSpPr>
        <p:spPr>
          <a:xfrm>
            <a:off x="1920240" y="1005840"/>
            <a:ext cx="1097280" cy="384048"/>
          </a:xfrm>
          <a:prstGeom prst="rect">
            <a:avLst/>
          </a:prstGeom>
          <a:noFill/>
          <a:ln/>
        </p:spPr>
        <p:txBody>
          <a:bodyPr wrap="square" rtlCol="0" anchor="ctr"/>
          <a:lstStyle/>
          <a:p>
            <a:pPr marL="0" indent="0" algn="ctr">
              <a:buNone/>
            </a:pPr>
            <a:r>
              <a:rPr lang="en-US" sz="1100" b="1" dirty="0">
                <a:solidFill>
                  <a:srgbClr val="FFFFFF"/>
                </a:solidFill>
              </a:rPr>
              <a:t>Model</a:t>
            </a:r>
            <a:endParaRPr lang="en-US" sz="1100" dirty="0"/>
          </a:p>
        </p:txBody>
      </p:sp>
      <p:sp>
        <p:nvSpPr>
          <p:cNvPr id="13" name="Shape 11"/>
          <p:cNvSpPr/>
          <p:nvPr/>
        </p:nvSpPr>
        <p:spPr>
          <a:xfrm>
            <a:off x="3017520" y="1005840"/>
            <a:ext cx="2651760" cy="384048"/>
          </a:xfrm>
          <a:prstGeom prst="rect">
            <a:avLst/>
          </a:prstGeom>
          <a:solidFill>
            <a:srgbClr val="1F3864"/>
          </a:solidFill>
          <a:ln/>
        </p:spPr>
      </p:sp>
      <p:sp>
        <p:nvSpPr>
          <p:cNvPr id="14" name="Text 12"/>
          <p:cNvSpPr/>
          <p:nvPr/>
        </p:nvSpPr>
        <p:spPr>
          <a:xfrm>
            <a:off x="3017520" y="1005840"/>
            <a:ext cx="2651760" cy="384048"/>
          </a:xfrm>
          <a:prstGeom prst="rect">
            <a:avLst/>
          </a:prstGeom>
          <a:noFill/>
          <a:ln/>
        </p:spPr>
        <p:txBody>
          <a:bodyPr wrap="square" rtlCol="0" anchor="ctr"/>
          <a:lstStyle/>
          <a:p>
            <a:pPr marL="0" indent="0" algn="ctr">
              <a:buNone/>
            </a:pPr>
            <a:r>
              <a:rPr lang="en-US" sz="1100" b="1" dirty="0">
                <a:solidFill>
                  <a:srgbClr val="FFFFFF"/>
                </a:solidFill>
              </a:rPr>
              <a:t>Provider manages</a:t>
            </a:r>
            <a:endParaRPr lang="en-US" sz="1100" dirty="0"/>
          </a:p>
        </p:txBody>
      </p:sp>
      <p:sp>
        <p:nvSpPr>
          <p:cNvPr id="15" name="Shape 13"/>
          <p:cNvSpPr/>
          <p:nvPr/>
        </p:nvSpPr>
        <p:spPr>
          <a:xfrm>
            <a:off x="5669280" y="1005840"/>
            <a:ext cx="2651760" cy="384048"/>
          </a:xfrm>
          <a:prstGeom prst="rect">
            <a:avLst/>
          </a:prstGeom>
          <a:solidFill>
            <a:srgbClr val="1F3864"/>
          </a:solidFill>
          <a:ln/>
        </p:spPr>
      </p:sp>
      <p:sp>
        <p:nvSpPr>
          <p:cNvPr id="16" name="Text 14"/>
          <p:cNvSpPr/>
          <p:nvPr/>
        </p:nvSpPr>
        <p:spPr>
          <a:xfrm>
            <a:off x="5669280" y="1005840"/>
            <a:ext cx="2651760" cy="384048"/>
          </a:xfrm>
          <a:prstGeom prst="rect">
            <a:avLst/>
          </a:prstGeom>
          <a:noFill/>
          <a:ln/>
        </p:spPr>
        <p:txBody>
          <a:bodyPr wrap="square" rtlCol="0" anchor="ctr"/>
          <a:lstStyle/>
          <a:p>
            <a:pPr marL="0" indent="0" algn="ctr">
              <a:buNone/>
            </a:pPr>
            <a:r>
              <a:rPr lang="en-US" sz="1100" b="1" dirty="0">
                <a:solidFill>
                  <a:srgbClr val="FFFFFF"/>
                </a:solidFill>
              </a:rPr>
              <a:t>Student team manages</a:t>
            </a:r>
            <a:endParaRPr lang="en-US" sz="1100" dirty="0"/>
          </a:p>
        </p:txBody>
      </p:sp>
      <p:sp>
        <p:nvSpPr>
          <p:cNvPr id="17" name="Shape 15"/>
          <p:cNvSpPr/>
          <p:nvPr/>
        </p:nvSpPr>
        <p:spPr>
          <a:xfrm>
            <a:off x="8321040" y="1005840"/>
            <a:ext cx="2743200" cy="384048"/>
          </a:xfrm>
          <a:prstGeom prst="rect">
            <a:avLst/>
          </a:prstGeom>
          <a:solidFill>
            <a:srgbClr val="1F3864"/>
          </a:solidFill>
          <a:ln/>
        </p:spPr>
      </p:sp>
      <p:sp>
        <p:nvSpPr>
          <p:cNvPr id="18" name="Text 16"/>
          <p:cNvSpPr/>
          <p:nvPr/>
        </p:nvSpPr>
        <p:spPr>
          <a:xfrm>
            <a:off x="8321040" y="1005840"/>
            <a:ext cx="2743200" cy="384048"/>
          </a:xfrm>
          <a:prstGeom prst="rect">
            <a:avLst/>
          </a:prstGeom>
          <a:noFill/>
          <a:ln/>
        </p:spPr>
        <p:txBody>
          <a:bodyPr wrap="square" rtlCol="0" anchor="ctr"/>
          <a:lstStyle/>
          <a:p>
            <a:pPr marL="0" indent="0" algn="ctr">
              <a:buNone/>
            </a:pPr>
            <a:r>
              <a:rPr lang="en-US" sz="1100" b="1" dirty="0">
                <a:solidFill>
                  <a:srgbClr val="FFFFFF"/>
                </a:solidFill>
              </a:rPr>
              <a:t>Why this fits</a:t>
            </a:r>
            <a:endParaRPr lang="en-US" sz="1100" dirty="0"/>
          </a:p>
        </p:txBody>
      </p:sp>
      <p:sp>
        <p:nvSpPr>
          <p:cNvPr id="19" name="Shape 17"/>
          <p:cNvSpPr/>
          <p:nvPr/>
        </p:nvSpPr>
        <p:spPr>
          <a:xfrm>
            <a:off x="274320" y="1389888"/>
            <a:ext cx="11722608" cy="676656"/>
          </a:xfrm>
          <a:prstGeom prst="rect">
            <a:avLst/>
          </a:prstGeom>
          <a:solidFill>
            <a:srgbClr val="FFFFFF"/>
          </a:solidFill>
          <a:ln w="6350">
            <a:solidFill>
              <a:srgbClr val="D0D8E4"/>
            </a:solidFill>
            <a:prstDash val="solid"/>
          </a:ln>
        </p:spPr>
      </p:sp>
      <p:sp>
        <p:nvSpPr>
          <p:cNvPr id="20" name="Shape 18"/>
          <p:cNvSpPr/>
          <p:nvPr/>
        </p:nvSpPr>
        <p:spPr>
          <a:xfrm>
            <a:off x="274320" y="1389888"/>
            <a:ext cx="11722608" cy="676656"/>
          </a:xfrm>
          <a:prstGeom prst="rect">
            <a:avLst/>
          </a:prstGeom>
          <a:solidFill>
            <a:srgbClr val="FFFFFF"/>
          </a:solidFill>
          <a:ln w="6350">
            <a:solidFill>
              <a:srgbClr val="D0D8E4"/>
            </a:solidFill>
            <a:prstDash val="solid"/>
          </a:ln>
        </p:spPr>
      </p:sp>
      <p:sp>
        <p:nvSpPr>
          <p:cNvPr id="21" name="Shape 19"/>
          <p:cNvSpPr/>
          <p:nvPr/>
        </p:nvSpPr>
        <p:spPr>
          <a:xfrm>
            <a:off x="274320" y="1389888"/>
            <a:ext cx="11722608" cy="676656"/>
          </a:xfrm>
          <a:prstGeom prst="rect">
            <a:avLst/>
          </a:prstGeom>
          <a:solidFill>
            <a:srgbClr val="FFFFFF"/>
          </a:solidFill>
          <a:ln w="6350">
            <a:solidFill>
              <a:srgbClr val="D0D8E4"/>
            </a:solidFill>
            <a:prstDash val="solid"/>
          </a:ln>
        </p:spPr>
      </p:sp>
      <p:sp>
        <p:nvSpPr>
          <p:cNvPr id="22" name="Shape 20"/>
          <p:cNvSpPr/>
          <p:nvPr/>
        </p:nvSpPr>
        <p:spPr>
          <a:xfrm>
            <a:off x="274320" y="1389888"/>
            <a:ext cx="11722608" cy="676656"/>
          </a:xfrm>
          <a:prstGeom prst="rect">
            <a:avLst/>
          </a:prstGeom>
          <a:solidFill>
            <a:srgbClr val="FFFFFF"/>
          </a:solidFill>
          <a:ln w="6350">
            <a:solidFill>
              <a:srgbClr val="D0D8E4"/>
            </a:solidFill>
            <a:prstDash val="solid"/>
          </a:ln>
        </p:spPr>
      </p:sp>
      <p:sp>
        <p:nvSpPr>
          <p:cNvPr id="23" name="Shape 21"/>
          <p:cNvSpPr/>
          <p:nvPr/>
        </p:nvSpPr>
        <p:spPr>
          <a:xfrm>
            <a:off x="274320" y="1389888"/>
            <a:ext cx="11722608" cy="676656"/>
          </a:xfrm>
          <a:prstGeom prst="rect">
            <a:avLst/>
          </a:prstGeom>
          <a:solidFill>
            <a:srgbClr val="FFFFFF"/>
          </a:solidFill>
          <a:ln w="6350">
            <a:solidFill>
              <a:srgbClr val="D0D8E4"/>
            </a:solidFill>
            <a:prstDash val="solid"/>
          </a:ln>
        </p:spPr>
      </p:sp>
      <p:sp>
        <p:nvSpPr>
          <p:cNvPr id="24" name="Shape 22"/>
          <p:cNvSpPr/>
          <p:nvPr/>
        </p:nvSpPr>
        <p:spPr>
          <a:xfrm>
            <a:off x="274320" y="1389888"/>
            <a:ext cx="11722608" cy="676656"/>
          </a:xfrm>
          <a:prstGeom prst="rect">
            <a:avLst/>
          </a:prstGeom>
          <a:solidFill>
            <a:srgbClr val="FFFFFF"/>
          </a:solidFill>
          <a:ln w="6350">
            <a:solidFill>
              <a:srgbClr val="D0D8E4"/>
            </a:solidFill>
            <a:prstDash val="solid"/>
          </a:ln>
        </p:spPr>
      </p:sp>
      <p:sp>
        <p:nvSpPr>
          <p:cNvPr id="25" name="Text 23"/>
          <p:cNvSpPr/>
          <p:nvPr/>
        </p:nvSpPr>
        <p:spPr>
          <a:xfrm>
            <a:off x="347472" y="1444752"/>
            <a:ext cx="1517904" cy="566928"/>
          </a:xfrm>
          <a:prstGeom prst="rect">
            <a:avLst/>
          </a:prstGeom>
          <a:noFill/>
          <a:ln/>
        </p:spPr>
        <p:txBody>
          <a:bodyPr wrap="square" rtlCol="0" anchor="ctr"/>
          <a:lstStyle/>
          <a:p>
            <a:pPr marL="0" indent="0">
              <a:buNone/>
            </a:pPr>
            <a:r>
              <a:rPr lang="en-US" sz="1100" b="1" dirty="0">
                <a:solidFill>
                  <a:srgbClr val="2E75B6"/>
                </a:solidFill>
              </a:rPr>
              <a:t>Frontend hosting</a:t>
            </a:r>
            <a:endParaRPr lang="en-US" sz="1100" dirty="0"/>
          </a:p>
        </p:txBody>
      </p:sp>
      <p:sp>
        <p:nvSpPr>
          <p:cNvPr id="26" name="Text 24"/>
          <p:cNvSpPr/>
          <p:nvPr/>
        </p:nvSpPr>
        <p:spPr>
          <a:xfrm>
            <a:off x="1993392" y="1444752"/>
            <a:ext cx="969264" cy="566928"/>
          </a:xfrm>
          <a:prstGeom prst="rect">
            <a:avLst/>
          </a:prstGeom>
          <a:noFill/>
          <a:ln/>
        </p:spPr>
        <p:txBody>
          <a:bodyPr wrap="square" rtlCol="0" anchor="ctr"/>
          <a:lstStyle/>
          <a:p>
            <a:pPr marL="0" indent="0">
              <a:buNone/>
            </a:pPr>
            <a:r>
              <a:rPr lang="en-US" sz="1000" dirty="0">
                <a:solidFill>
                  <a:srgbClr val="595959"/>
                </a:solidFill>
              </a:rPr>
              <a:t>SaaS / PaaS</a:t>
            </a:r>
            <a:endParaRPr lang="en-US" sz="1000" dirty="0"/>
          </a:p>
        </p:txBody>
      </p:sp>
      <p:sp>
        <p:nvSpPr>
          <p:cNvPr id="27" name="Text 25"/>
          <p:cNvSpPr/>
          <p:nvPr/>
        </p:nvSpPr>
        <p:spPr>
          <a:xfrm>
            <a:off x="3090672" y="1444752"/>
            <a:ext cx="2523744" cy="566928"/>
          </a:xfrm>
          <a:prstGeom prst="rect">
            <a:avLst/>
          </a:prstGeom>
          <a:noFill/>
          <a:ln/>
        </p:spPr>
        <p:txBody>
          <a:bodyPr wrap="square" rtlCol="0" anchor="ctr"/>
          <a:lstStyle/>
          <a:p>
            <a:pPr marL="0" indent="0">
              <a:buNone/>
            </a:pPr>
            <a:r>
              <a:rPr lang="en-US" sz="1000" dirty="0">
                <a:solidFill>
                  <a:srgbClr val="595959"/>
                </a:solidFill>
              </a:rPr>
              <a:t>CDN delivery, HTTPS, Amplify runtime</a:t>
            </a:r>
            <a:endParaRPr lang="en-US" sz="1000" dirty="0"/>
          </a:p>
        </p:txBody>
      </p:sp>
      <p:sp>
        <p:nvSpPr>
          <p:cNvPr id="28" name="Text 26"/>
          <p:cNvSpPr/>
          <p:nvPr/>
        </p:nvSpPr>
        <p:spPr>
          <a:xfrm>
            <a:off x="5742432" y="1444752"/>
            <a:ext cx="2523744" cy="566928"/>
          </a:xfrm>
          <a:prstGeom prst="rect">
            <a:avLst/>
          </a:prstGeom>
          <a:noFill/>
          <a:ln/>
        </p:spPr>
        <p:txBody>
          <a:bodyPr wrap="square" rtlCol="0" anchor="ctr"/>
          <a:lstStyle/>
          <a:p>
            <a:pPr marL="0" indent="0">
              <a:buNone/>
            </a:pPr>
            <a:r>
              <a:rPr lang="en-US" sz="1000" dirty="0">
                <a:solidFill>
                  <a:srgbClr val="595959"/>
                </a:solidFill>
              </a:rPr>
              <a:t>React app code, routes, Cognito SDK calls</a:t>
            </a:r>
            <a:endParaRPr lang="en-US" sz="1000" dirty="0"/>
          </a:p>
        </p:txBody>
      </p:sp>
      <p:sp>
        <p:nvSpPr>
          <p:cNvPr id="29" name="Text 27"/>
          <p:cNvSpPr/>
          <p:nvPr/>
        </p:nvSpPr>
        <p:spPr>
          <a:xfrm>
            <a:off x="8394192" y="1444752"/>
            <a:ext cx="2615184" cy="566928"/>
          </a:xfrm>
          <a:prstGeom prst="rect">
            <a:avLst/>
          </a:prstGeom>
          <a:noFill/>
          <a:ln/>
        </p:spPr>
        <p:txBody>
          <a:bodyPr wrap="square" rtlCol="0" anchor="ctr"/>
          <a:lstStyle/>
          <a:p>
            <a:pPr marL="0" indent="0">
              <a:buNone/>
            </a:pPr>
            <a:r>
              <a:rPr lang="en-US" sz="1000" dirty="0">
                <a:solidFill>
                  <a:srgbClr val="595959"/>
                </a:solidFill>
              </a:rPr>
              <a:t>No server mgmt; CDN auto-scales globally</a:t>
            </a:r>
            <a:endParaRPr lang="en-US" sz="1000" dirty="0"/>
          </a:p>
        </p:txBody>
      </p:sp>
      <p:sp>
        <p:nvSpPr>
          <p:cNvPr id="30" name="Shape 28"/>
          <p:cNvSpPr/>
          <p:nvPr/>
        </p:nvSpPr>
        <p:spPr>
          <a:xfrm>
            <a:off x="274320" y="2066544"/>
            <a:ext cx="11722608" cy="676656"/>
          </a:xfrm>
          <a:prstGeom prst="rect">
            <a:avLst/>
          </a:prstGeom>
          <a:solidFill>
            <a:srgbClr val="EFF3F8"/>
          </a:solidFill>
          <a:ln w="6350">
            <a:solidFill>
              <a:srgbClr val="D0D8E4"/>
            </a:solidFill>
            <a:prstDash val="solid"/>
          </a:ln>
        </p:spPr>
      </p:sp>
      <p:sp>
        <p:nvSpPr>
          <p:cNvPr id="31" name="Shape 29"/>
          <p:cNvSpPr/>
          <p:nvPr/>
        </p:nvSpPr>
        <p:spPr>
          <a:xfrm>
            <a:off x="274320" y="2066544"/>
            <a:ext cx="11722608" cy="676656"/>
          </a:xfrm>
          <a:prstGeom prst="rect">
            <a:avLst/>
          </a:prstGeom>
          <a:solidFill>
            <a:srgbClr val="EFF3F8"/>
          </a:solidFill>
          <a:ln w="6350">
            <a:solidFill>
              <a:srgbClr val="D0D8E4"/>
            </a:solidFill>
            <a:prstDash val="solid"/>
          </a:ln>
        </p:spPr>
      </p:sp>
      <p:sp>
        <p:nvSpPr>
          <p:cNvPr id="32" name="Shape 30"/>
          <p:cNvSpPr/>
          <p:nvPr/>
        </p:nvSpPr>
        <p:spPr>
          <a:xfrm>
            <a:off x="274320" y="2066544"/>
            <a:ext cx="11722608" cy="676656"/>
          </a:xfrm>
          <a:prstGeom prst="rect">
            <a:avLst/>
          </a:prstGeom>
          <a:solidFill>
            <a:srgbClr val="EFF3F8"/>
          </a:solidFill>
          <a:ln w="6350">
            <a:solidFill>
              <a:srgbClr val="D0D8E4"/>
            </a:solidFill>
            <a:prstDash val="solid"/>
          </a:ln>
        </p:spPr>
      </p:sp>
      <p:sp>
        <p:nvSpPr>
          <p:cNvPr id="33" name="Shape 31"/>
          <p:cNvSpPr/>
          <p:nvPr/>
        </p:nvSpPr>
        <p:spPr>
          <a:xfrm>
            <a:off x="274320" y="2066544"/>
            <a:ext cx="11722608" cy="676656"/>
          </a:xfrm>
          <a:prstGeom prst="rect">
            <a:avLst/>
          </a:prstGeom>
          <a:solidFill>
            <a:srgbClr val="EFF3F8"/>
          </a:solidFill>
          <a:ln w="6350">
            <a:solidFill>
              <a:srgbClr val="D0D8E4"/>
            </a:solidFill>
            <a:prstDash val="solid"/>
          </a:ln>
        </p:spPr>
      </p:sp>
      <p:sp>
        <p:nvSpPr>
          <p:cNvPr id="34" name="Shape 32"/>
          <p:cNvSpPr/>
          <p:nvPr/>
        </p:nvSpPr>
        <p:spPr>
          <a:xfrm>
            <a:off x="274320" y="2066544"/>
            <a:ext cx="11722608" cy="676656"/>
          </a:xfrm>
          <a:prstGeom prst="rect">
            <a:avLst/>
          </a:prstGeom>
          <a:solidFill>
            <a:srgbClr val="EFF3F8"/>
          </a:solidFill>
          <a:ln w="6350">
            <a:solidFill>
              <a:srgbClr val="D0D8E4"/>
            </a:solidFill>
            <a:prstDash val="solid"/>
          </a:ln>
        </p:spPr>
      </p:sp>
      <p:sp>
        <p:nvSpPr>
          <p:cNvPr id="35" name="Shape 33"/>
          <p:cNvSpPr/>
          <p:nvPr/>
        </p:nvSpPr>
        <p:spPr>
          <a:xfrm>
            <a:off x="274320" y="2066544"/>
            <a:ext cx="11722608" cy="676656"/>
          </a:xfrm>
          <a:prstGeom prst="rect">
            <a:avLst/>
          </a:prstGeom>
          <a:solidFill>
            <a:srgbClr val="EFF3F8"/>
          </a:solidFill>
          <a:ln w="6350">
            <a:solidFill>
              <a:srgbClr val="D0D8E4"/>
            </a:solidFill>
            <a:prstDash val="solid"/>
          </a:ln>
        </p:spPr>
      </p:sp>
      <p:sp>
        <p:nvSpPr>
          <p:cNvPr id="36" name="Text 34"/>
          <p:cNvSpPr/>
          <p:nvPr/>
        </p:nvSpPr>
        <p:spPr>
          <a:xfrm>
            <a:off x="347472" y="2121408"/>
            <a:ext cx="1517904" cy="566928"/>
          </a:xfrm>
          <a:prstGeom prst="rect">
            <a:avLst/>
          </a:prstGeom>
          <a:noFill/>
          <a:ln/>
        </p:spPr>
        <p:txBody>
          <a:bodyPr wrap="square" rtlCol="0" anchor="ctr"/>
          <a:lstStyle/>
          <a:p>
            <a:pPr marL="0" indent="0">
              <a:buNone/>
            </a:pPr>
            <a:r>
              <a:rPr lang="en-US" sz="1100" b="1" dirty="0">
                <a:solidFill>
                  <a:srgbClr val="2E75B6"/>
                </a:solidFill>
              </a:rPr>
              <a:t>Backend / API</a:t>
            </a:r>
            <a:endParaRPr lang="en-US" sz="1100" dirty="0"/>
          </a:p>
        </p:txBody>
      </p:sp>
      <p:sp>
        <p:nvSpPr>
          <p:cNvPr id="37" name="Text 35"/>
          <p:cNvSpPr/>
          <p:nvPr/>
        </p:nvSpPr>
        <p:spPr>
          <a:xfrm>
            <a:off x="1993392" y="2121408"/>
            <a:ext cx="969264" cy="566928"/>
          </a:xfrm>
          <a:prstGeom prst="rect">
            <a:avLst/>
          </a:prstGeom>
          <a:noFill/>
          <a:ln/>
        </p:spPr>
        <p:txBody>
          <a:bodyPr wrap="square" rtlCol="0" anchor="ctr"/>
          <a:lstStyle/>
          <a:p>
            <a:pPr marL="0" indent="0">
              <a:buNone/>
            </a:pPr>
            <a:r>
              <a:rPr lang="en-US" sz="1000" dirty="0">
                <a:solidFill>
                  <a:srgbClr val="595959"/>
                </a:solidFill>
              </a:rPr>
              <a:t>PaaS</a:t>
            </a:r>
            <a:endParaRPr lang="en-US" sz="1000" dirty="0"/>
          </a:p>
        </p:txBody>
      </p:sp>
      <p:sp>
        <p:nvSpPr>
          <p:cNvPr id="38" name="Text 36"/>
          <p:cNvSpPr/>
          <p:nvPr/>
        </p:nvSpPr>
        <p:spPr>
          <a:xfrm>
            <a:off x="3090672" y="2121408"/>
            <a:ext cx="2523744" cy="566928"/>
          </a:xfrm>
          <a:prstGeom prst="rect">
            <a:avLst/>
          </a:prstGeom>
          <a:noFill/>
          <a:ln/>
        </p:spPr>
        <p:txBody>
          <a:bodyPr wrap="square" rtlCol="0" anchor="ctr"/>
          <a:lstStyle/>
          <a:p>
            <a:pPr marL="0" indent="0">
              <a:buNone/>
            </a:pPr>
            <a:r>
              <a:rPr lang="en-US" sz="1000" dirty="0">
                <a:solidFill>
                  <a:srgbClr val="595959"/>
                </a:solidFill>
              </a:rPr>
              <a:t>Lambda runtime, auto-scaling, TLS</a:t>
            </a:r>
            <a:endParaRPr lang="en-US" sz="1000" dirty="0"/>
          </a:p>
        </p:txBody>
      </p:sp>
      <p:sp>
        <p:nvSpPr>
          <p:cNvPr id="39" name="Text 37"/>
          <p:cNvSpPr/>
          <p:nvPr/>
        </p:nvSpPr>
        <p:spPr>
          <a:xfrm>
            <a:off x="5742432" y="2121408"/>
            <a:ext cx="2523744" cy="566928"/>
          </a:xfrm>
          <a:prstGeom prst="rect">
            <a:avLst/>
          </a:prstGeom>
          <a:noFill/>
          <a:ln/>
        </p:spPr>
        <p:txBody>
          <a:bodyPr wrap="square" rtlCol="0" anchor="ctr"/>
          <a:lstStyle/>
          <a:p>
            <a:pPr marL="0" indent="0">
              <a:buNone/>
            </a:pPr>
            <a:r>
              <a:rPr lang="en-US" sz="1000" dirty="0">
                <a:solidFill>
                  <a:srgbClr val="595959"/>
                </a:solidFill>
              </a:rPr>
              <a:t>Function code (spaCy), IAM role, API routes</a:t>
            </a:r>
            <a:endParaRPr lang="en-US" sz="1000" dirty="0"/>
          </a:p>
        </p:txBody>
      </p:sp>
      <p:sp>
        <p:nvSpPr>
          <p:cNvPr id="40" name="Text 38"/>
          <p:cNvSpPr/>
          <p:nvPr/>
        </p:nvSpPr>
        <p:spPr>
          <a:xfrm>
            <a:off x="8394192" y="2121408"/>
            <a:ext cx="2615184" cy="566928"/>
          </a:xfrm>
          <a:prstGeom prst="rect">
            <a:avLst/>
          </a:prstGeom>
          <a:noFill/>
          <a:ln/>
        </p:spPr>
        <p:txBody>
          <a:bodyPr wrap="square" rtlCol="0" anchor="ctr"/>
          <a:lstStyle/>
          <a:p>
            <a:pPr marL="0" indent="0">
              <a:buNone/>
            </a:pPr>
            <a:r>
              <a:rPr lang="en-US" sz="1000" dirty="0">
                <a:solidFill>
                  <a:srgbClr val="595959"/>
                </a:solidFill>
              </a:rPr>
              <a:t>Serverless — zero idle cost, scales on burst</a:t>
            </a:r>
            <a:endParaRPr lang="en-US" sz="1000" dirty="0"/>
          </a:p>
        </p:txBody>
      </p:sp>
      <p:sp>
        <p:nvSpPr>
          <p:cNvPr id="41" name="Shape 39"/>
          <p:cNvSpPr/>
          <p:nvPr/>
        </p:nvSpPr>
        <p:spPr>
          <a:xfrm>
            <a:off x="274320" y="2743200"/>
            <a:ext cx="11722608" cy="676656"/>
          </a:xfrm>
          <a:prstGeom prst="rect">
            <a:avLst/>
          </a:prstGeom>
          <a:solidFill>
            <a:srgbClr val="FFFFFF"/>
          </a:solidFill>
          <a:ln w="6350">
            <a:solidFill>
              <a:srgbClr val="D0D8E4"/>
            </a:solidFill>
            <a:prstDash val="solid"/>
          </a:ln>
        </p:spPr>
      </p:sp>
      <p:sp>
        <p:nvSpPr>
          <p:cNvPr id="42" name="Shape 40"/>
          <p:cNvSpPr/>
          <p:nvPr/>
        </p:nvSpPr>
        <p:spPr>
          <a:xfrm>
            <a:off x="274320" y="2743200"/>
            <a:ext cx="11722608" cy="676656"/>
          </a:xfrm>
          <a:prstGeom prst="rect">
            <a:avLst/>
          </a:prstGeom>
          <a:solidFill>
            <a:srgbClr val="FFFFFF"/>
          </a:solidFill>
          <a:ln w="6350">
            <a:solidFill>
              <a:srgbClr val="D0D8E4"/>
            </a:solidFill>
            <a:prstDash val="solid"/>
          </a:ln>
        </p:spPr>
      </p:sp>
      <p:sp>
        <p:nvSpPr>
          <p:cNvPr id="43" name="Shape 41"/>
          <p:cNvSpPr/>
          <p:nvPr/>
        </p:nvSpPr>
        <p:spPr>
          <a:xfrm>
            <a:off x="274320" y="2743200"/>
            <a:ext cx="11722608" cy="676656"/>
          </a:xfrm>
          <a:prstGeom prst="rect">
            <a:avLst/>
          </a:prstGeom>
          <a:solidFill>
            <a:srgbClr val="FFFFFF"/>
          </a:solidFill>
          <a:ln w="6350">
            <a:solidFill>
              <a:srgbClr val="D0D8E4"/>
            </a:solidFill>
            <a:prstDash val="solid"/>
          </a:ln>
        </p:spPr>
      </p:sp>
      <p:sp>
        <p:nvSpPr>
          <p:cNvPr id="44" name="Shape 42"/>
          <p:cNvSpPr/>
          <p:nvPr/>
        </p:nvSpPr>
        <p:spPr>
          <a:xfrm>
            <a:off x="274320" y="2743200"/>
            <a:ext cx="11722608" cy="676656"/>
          </a:xfrm>
          <a:prstGeom prst="rect">
            <a:avLst/>
          </a:prstGeom>
          <a:solidFill>
            <a:srgbClr val="FFFFFF"/>
          </a:solidFill>
          <a:ln w="6350">
            <a:solidFill>
              <a:srgbClr val="D0D8E4"/>
            </a:solidFill>
            <a:prstDash val="solid"/>
          </a:ln>
        </p:spPr>
      </p:sp>
      <p:sp>
        <p:nvSpPr>
          <p:cNvPr id="45" name="Shape 43"/>
          <p:cNvSpPr/>
          <p:nvPr/>
        </p:nvSpPr>
        <p:spPr>
          <a:xfrm>
            <a:off x="274320" y="2743200"/>
            <a:ext cx="11722608" cy="676656"/>
          </a:xfrm>
          <a:prstGeom prst="rect">
            <a:avLst/>
          </a:prstGeom>
          <a:solidFill>
            <a:srgbClr val="FFFFFF"/>
          </a:solidFill>
          <a:ln w="6350">
            <a:solidFill>
              <a:srgbClr val="D0D8E4"/>
            </a:solidFill>
            <a:prstDash val="solid"/>
          </a:ln>
        </p:spPr>
      </p:sp>
      <p:sp>
        <p:nvSpPr>
          <p:cNvPr id="46" name="Shape 44"/>
          <p:cNvSpPr/>
          <p:nvPr/>
        </p:nvSpPr>
        <p:spPr>
          <a:xfrm>
            <a:off x="274320" y="2743200"/>
            <a:ext cx="11722608" cy="676656"/>
          </a:xfrm>
          <a:prstGeom prst="rect">
            <a:avLst/>
          </a:prstGeom>
          <a:solidFill>
            <a:srgbClr val="FFFFFF"/>
          </a:solidFill>
          <a:ln w="6350">
            <a:solidFill>
              <a:srgbClr val="D0D8E4"/>
            </a:solidFill>
            <a:prstDash val="solid"/>
          </a:ln>
        </p:spPr>
      </p:sp>
      <p:sp>
        <p:nvSpPr>
          <p:cNvPr id="47" name="Text 45"/>
          <p:cNvSpPr/>
          <p:nvPr/>
        </p:nvSpPr>
        <p:spPr>
          <a:xfrm>
            <a:off x="347472" y="2798064"/>
            <a:ext cx="1517904" cy="566928"/>
          </a:xfrm>
          <a:prstGeom prst="rect">
            <a:avLst/>
          </a:prstGeom>
          <a:noFill/>
          <a:ln/>
        </p:spPr>
        <p:txBody>
          <a:bodyPr wrap="square" rtlCol="0" anchor="ctr"/>
          <a:lstStyle/>
          <a:p>
            <a:pPr marL="0" indent="0">
              <a:buNone/>
            </a:pPr>
            <a:r>
              <a:rPr lang="en-US" sz="1100" b="1" dirty="0">
                <a:solidFill>
                  <a:srgbClr val="2E75B6"/>
                </a:solidFill>
              </a:rPr>
              <a:t>Database</a:t>
            </a:r>
            <a:endParaRPr lang="en-US" sz="1100" dirty="0"/>
          </a:p>
        </p:txBody>
      </p:sp>
      <p:sp>
        <p:nvSpPr>
          <p:cNvPr id="48" name="Text 46"/>
          <p:cNvSpPr/>
          <p:nvPr/>
        </p:nvSpPr>
        <p:spPr>
          <a:xfrm>
            <a:off x="1993392" y="2798064"/>
            <a:ext cx="969264" cy="566928"/>
          </a:xfrm>
          <a:prstGeom prst="rect">
            <a:avLst/>
          </a:prstGeom>
          <a:noFill/>
          <a:ln/>
        </p:spPr>
        <p:txBody>
          <a:bodyPr wrap="square" rtlCol="0" anchor="ctr"/>
          <a:lstStyle/>
          <a:p>
            <a:pPr marL="0" indent="0">
              <a:buNone/>
            </a:pPr>
            <a:r>
              <a:rPr lang="en-US" sz="1000" dirty="0">
                <a:solidFill>
                  <a:srgbClr val="595959"/>
                </a:solidFill>
              </a:rPr>
              <a:t>PaaS</a:t>
            </a:r>
            <a:endParaRPr lang="en-US" sz="1000" dirty="0"/>
          </a:p>
        </p:txBody>
      </p:sp>
      <p:sp>
        <p:nvSpPr>
          <p:cNvPr id="49" name="Text 47"/>
          <p:cNvSpPr/>
          <p:nvPr/>
        </p:nvSpPr>
        <p:spPr>
          <a:xfrm>
            <a:off x="3090672" y="2798064"/>
            <a:ext cx="2523744" cy="566928"/>
          </a:xfrm>
          <a:prstGeom prst="rect">
            <a:avLst/>
          </a:prstGeom>
          <a:noFill/>
          <a:ln/>
        </p:spPr>
        <p:txBody>
          <a:bodyPr wrap="square" rtlCol="0" anchor="ctr"/>
          <a:lstStyle/>
          <a:p>
            <a:pPr marL="0" indent="0">
              <a:buNone/>
            </a:pPr>
            <a:r>
              <a:rPr lang="en-US" sz="1000" dirty="0">
                <a:solidFill>
                  <a:srgbClr val="595959"/>
                </a:solidFill>
              </a:rPr>
              <a:t>On-demand capacity, replication, KMS</a:t>
            </a:r>
            <a:endParaRPr lang="en-US" sz="1000" dirty="0"/>
          </a:p>
        </p:txBody>
      </p:sp>
      <p:sp>
        <p:nvSpPr>
          <p:cNvPr id="50" name="Text 48"/>
          <p:cNvSpPr/>
          <p:nvPr/>
        </p:nvSpPr>
        <p:spPr>
          <a:xfrm>
            <a:off x="5742432" y="2798064"/>
            <a:ext cx="2523744" cy="566928"/>
          </a:xfrm>
          <a:prstGeom prst="rect">
            <a:avLst/>
          </a:prstGeom>
          <a:noFill/>
          <a:ln/>
        </p:spPr>
        <p:txBody>
          <a:bodyPr wrap="square" rtlCol="0" anchor="ctr"/>
          <a:lstStyle/>
          <a:p>
            <a:pPr marL="0" indent="0">
              <a:buNone/>
            </a:pPr>
            <a:r>
              <a:rPr lang="en-US" sz="1000" dirty="0">
                <a:solidFill>
                  <a:srgbClr val="595959"/>
                </a:solidFill>
              </a:rPr>
              <a:t>Table schema, access patterns, TTL config</a:t>
            </a:r>
            <a:endParaRPr lang="en-US" sz="1000" dirty="0"/>
          </a:p>
        </p:txBody>
      </p:sp>
      <p:sp>
        <p:nvSpPr>
          <p:cNvPr id="51" name="Text 49"/>
          <p:cNvSpPr/>
          <p:nvPr/>
        </p:nvSpPr>
        <p:spPr>
          <a:xfrm>
            <a:off x="8394192" y="2798064"/>
            <a:ext cx="2615184" cy="566928"/>
          </a:xfrm>
          <a:prstGeom prst="rect">
            <a:avLst/>
          </a:prstGeom>
          <a:noFill/>
          <a:ln/>
        </p:spPr>
        <p:txBody>
          <a:bodyPr wrap="square" rtlCol="0" anchor="ctr"/>
          <a:lstStyle/>
          <a:p>
            <a:pPr marL="0" indent="0">
              <a:buNone/>
            </a:pPr>
            <a:r>
              <a:rPr lang="en-US" sz="1000" dirty="0">
                <a:solidFill>
                  <a:srgbClr val="595959"/>
                </a:solidFill>
              </a:rPr>
              <a:t>Auto-scales; no cluster to size or patch</a:t>
            </a:r>
            <a:endParaRPr lang="en-US" sz="1000" dirty="0"/>
          </a:p>
        </p:txBody>
      </p:sp>
      <p:sp>
        <p:nvSpPr>
          <p:cNvPr id="52" name="Shape 50"/>
          <p:cNvSpPr/>
          <p:nvPr/>
        </p:nvSpPr>
        <p:spPr>
          <a:xfrm>
            <a:off x="274320" y="3419856"/>
            <a:ext cx="11722608" cy="676656"/>
          </a:xfrm>
          <a:prstGeom prst="rect">
            <a:avLst/>
          </a:prstGeom>
          <a:solidFill>
            <a:srgbClr val="EFF3F8"/>
          </a:solidFill>
          <a:ln w="6350">
            <a:solidFill>
              <a:srgbClr val="D0D8E4"/>
            </a:solidFill>
            <a:prstDash val="solid"/>
          </a:ln>
        </p:spPr>
      </p:sp>
      <p:sp>
        <p:nvSpPr>
          <p:cNvPr id="53" name="Shape 51"/>
          <p:cNvSpPr/>
          <p:nvPr/>
        </p:nvSpPr>
        <p:spPr>
          <a:xfrm>
            <a:off x="274320" y="3419856"/>
            <a:ext cx="11722608" cy="676656"/>
          </a:xfrm>
          <a:prstGeom prst="rect">
            <a:avLst/>
          </a:prstGeom>
          <a:solidFill>
            <a:srgbClr val="EFF3F8"/>
          </a:solidFill>
          <a:ln w="6350">
            <a:solidFill>
              <a:srgbClr val="D0D8E4"/>
            </a:solidFill>
            <a:prstDash val="solid"/>
          </a:ln>
        </p:spPr>
      </p:sp>
      <p:sp>
        <p:nvSpPr>
          <p:cNvPr id="54" name="Shape 52"/>
          <p:cNvSpPr/>
          <p:nvPr/>
        </p:nvSpPr>
        <p:spPr>
          <a:xfrm>
            <a:off x="274320" y="3419856"/>
            <a:ext cx="11722608" cy="676656"/>
          </a:xfrm>
          <a:prstGeom prst="rect">
            <a:avLst/>
          </a:prstGeom>
          <a:solidFill>
            <a:srgbClr val="EFF3F8"/>
          </a:solidFill>
          <a:ln w="6350">
            <a:solidFill>
              <a:srgbClr val="D0D8E4"/>
            </a:solidFill>
            <a:prstDash val="solid"/>
          </a:ln>
        </p:spPr>
      </p:sp>
      <p:sp>
        <p:nvSpPr>
          <p:cNvPr id="55" name="Shape 53"/>
          <p:cNvSpPr/>
          <p:nvPr/>
        </p:nvSpPr>
        <p:spPr>
          <a:xfrm>
            <a:off x="274320" y="3419856"/>
            <a:ext cx="11722608" cy="676656"/>
          </a:xfrm>
          <a:prstGeom prst="rect">
            <a:avLst/>
          </a:prstGeom>
          <a:solidFill>
            <a:srgbClr val="EFF3F8"/>
          </a:solidFill>
          <a:ln w="6350">
            <a:solidFill>
              <a:srgbClr val="D0D8E4"/>
            </a:solidFill>
            <a:prstDash val="solid"/>
          </a:ln>
        </p:spPr>
      </p:sp>
      <p:sp>
        <p:nvSpPr>
          <p:cNvPr id="56" name="Shape 54"/>
          <p:cNvSpPr/>
          <p:nvPr/>
        </p:nvSpPr>
        <p:spPr>
          <a:xfrm>
            <a:off x="274320" y="3419856"/>
            <a:ext cx="11722608" cy="676656"/>
          </a:xfrm>
          <a:prstGeom prst="rect">
            <a:avLst/>
          </a:prstGeom>
          <a:solidFill>
            <a:srgbClr val="EFF3F8"/>
          </a:solidFill>
          <a:ln w="6350">
            <a:solidFill>
              <a:srgbClr val="D0D8E4"/>
            </a:solidFill>
            <a:prstDash val="solid"/>
          </a:ln>
        </p:spPr>
      </p:sp>
      <p:sp>
        <p:nvSpPr>
          <p:cNvPr id="57" name="Shape 55"/>
          <p:cNvSpPr/>
          <p:nvPr/>
        </p:nvSpPr>
        <p:spPr>
          <a:xfrm>
            <a:off x="274320" y="3419856"/>
            <a:ext cx="11722608" cy="676656"/>
          </a:xfrm>
          <a:prstGeom prst="rect">
            <a:avLst/>
          </a:prstGeom>
          <a:solidFill>
            <a:srgbClr val="EFF3F8"/>
          </a:solidFill>
          <a:ln w="6350">
            <a:solidFill>
              <a:srgbClr val="D0D8E4"/>
            </a:solidFill>
            <a:prstDash val="solid"/>
          </a:ln>
        </p:spPr>
      </p:sp>
      <p:sp>
        <p:nvSpPr>
          <p:cNvPr id="58" name="Text 56"/>
          <p:cNvSpPr/>
          <p:nvPr/>
        </p:nvSpPr>
        <p:spPr>
          <a:xfrm>
            <a:off x="347472" y="3474720"/>
            <a:ext cx="1517904" cy="566928"/>
          </a:xfrm>
          <a:prstGeom prst="rect">
            <a:avLst/>
          </a:prstGeom>
          <a:noFill/>
          <a:ln/>
        </p:spPr>
        <p:txBody>
          <a:bodyPr wrap="square" rtlCol="0" anchor="ctr"/>
          <a:lstStyle/>
          <a:p>
            <a:pPr marL="0" indent="0">
              <a:buNone/>
            </a:pPr>
            <a:r>
              <a:rPr lang="en-US" sz="1100" b="1" dirty="0">
                <a:solidFill>
                  <a:srgbClr val="2E75B6"/>
                </a:solidFill>
              </a:rPr>
              <a:t>Storage</a:t>
            </a:r>
            <a:endParaRPr lang="en-US" sz="1100" dirty="0"/>
          </a:p>
        </p:txBody>
      </p:sp>
      <p:sp>
        <p:nvSpPr>
          <p:cNvPr id="59" name="Text 57"/>
          <p:cNvSpPr/>
          <p:nvPr/>
        </p:nvSpPr>
        <p:spPr>
          <a:xfrm>
            <a:off x="1993392" y="3474720"/>
            <a:ext cx="969264" cy="566928"/>
          </a:xfrm>
          <a:prstGeom prst="rect">
            <a:avLst/>
          </a:prstGeom>
          <a:noFill/>
          <a:ln/>
        </p:spPr>
        <p:txBody>
          <a:bodyPr wrap="square" rtlCol="0" anchor="ctr"/>
          <a:lstStyle/>
          <a:p>
            <a:pPr marL="0" indent="0">
              <a:buNone/>
            </a:pPr>
            <a:r>
              <a:rPr lang="en-US" sz="1000" dirty="0">
                <a:solidFill>
                  <a:srgbClr val="595959"/>
                </a:solidFill>
              </a:rPr>
              <a:t>IaaS + PaaS</a:t>
            </a:r>
            <a:endParaRPr lang="en-US" sz="1000" dirty="0"/>
          </a:p>
        </p:txBody>
      </p:sp>
      <p:sp>
        <p:nvSpPr>
          <p:cNvPr id="60" name="Text 58"/>
          <p:cNvSpPr/>
          <p:nvPr/>
        </p:nvSpPr>
        <p:spPr>
          <a:xfrm>
            <a:off x="3090672" y="3474720"/>
            <a:ext cx="2523744" cy="566928"/>
          </a:xfrm>
          <a:prstGeom prst="rect">
            <a:avLst/>
          </a:prstGeom>
          <a:noFill/>
          <a:ln/>
        </p:spPr>
        <p:txBody>
          <a:bodyPr wrap="square" rtlCol="0" anchor="ctr"/>
          <a:lstStyle/>
          <a:p>
            <a:pPr marL="0" indent="0">
              <a:buNone/>
            </a:pPr>
            <a:r>
              <a:rPr lang="en-US" sz="1000" dirty="0">
                <a:solidFill>
                  <a:srgbClr val="595959"/>
                </a:solidFill>
              </a:rPr>
              <a:t>S3 durability, encryption, ACLs</a:t>
            </a:r>
            <a:endParaRPr lang="en-US" sz="1000" dirty="0"/>
          </a:p>
        </p:txBody>
      </p:sp>
      <p:sp>
        <p:nvSpPr>
          <p:cNvPr id="61" name="Text 59"/>
          <p:cNvSpPr/>
          <p:nvPr/>
        </p:nvSpPr>
        <p:spPr>
          <a:xfrm>
            <a:off x="5742432" y="3474720"/>
            <a:ext cx="2523744" cy="566928"/>
          </a:xfrm>
          <a:prstGeom prst="rect">
            <a:avLst/>
          </a:prstGeom>
          <a:noFill/>
          <a:ln/>
        </p:spPr>
        <p:txBody>
          <a:bodyPr wrap="square" rtlCol="0" anchor="ctr"/>
          <a:lstStyle/>
          <a:p>
            <a:pPr marL="0" indent="0">
              <a:buNone/>
            </a:pPr>
            <a:r>
              <a:rPr lang="en-US" sz="1000" dirty="0">
                <a:solidFill>
                  <a:srgbClr val="595959"/>
                </a:solidFill>
              </a:rPr>
              <a:t>Bucket policy, lifecycle rules, pre-signed URLs</a:t>
            </a:r>
            <a:endParaRPr lang="en-US" sz="1000" dirty="0"/>
          </a:p>
        </p:txBody>
      </p:sp>
      <p:sp>
        <p:nvSpPr>
          <p:cNvPr id="62" name="Text 60"/>
          <p:cNvSpPr/>
          <p:nvPr/>
        </p:nvSpPr>
        <p:spPr>
          <a:xfrm>
            <a:off x="8394192" y="3474720"/>
            <a:ext cx="2615184" cy="566928"/>
          </a:xfrm>
          <a:prstGeom prst="rect">
            <a:avLst/>
          </a:prstGeom>
          <a:noFill/>
          <a:ln/>
        </p:spPr>
        <p:txBody>
          <a:bodyPr wrap="square" rtlCol="0" anchor="ctr"/>
          <a:lstStyle/>
          <a:p>
            <a:pPr marL="0" indent="0">
              <a:buNone/>
            </a:pPr>
            <a:r>
              <a:rPr lang="en-US" sz="1000" dirty="0">
                <a:solidFill>
                  <a:srgbClr val="595959"/>
                </a:solidFill>
              </a:rPr>
              <a:t>GDPR: 90-day delete lifecycle; SSE-S3</a:t>
            </a:r>
            <a:endParaRPr lang="en-US" sz="1000" dirty="0"/>
          </a:p>
        </p:txBody>
      </p:sp>
      <p:sp>
        <p:nvSpPr>
          <p:cNvPr id="63" name="Shape 61"/>
          <p:cNvSpPr/>
          <p:nvPr/>
        </p:nvSpPr>
        <p:spPr>
          <a:xfrm>
            <a:off x="274320" y="4096512"/>
            <a:ext cx="11722608" cy="676656"/>
          </a:xfrm>
          <a:prstGeom prst="rect">
            <a:avLst/>
          </a:prstGeom>
          <a:solidFill>
            <a:srgbClr val="FFFFFF"/>
          </a:solidFill>
          <a:ln w="6350">
            <a:solidFill>
              <a:srgbClr val="D0D8E4"/>
            </a:solidFill>
            <a:prstDash val="solid"/>
          </a:ln>
        </p:spPr>
      </p:sp>
      <p:sp>
        <p:nvSpPr>
          <p:cNvPr id="64" name="Shape 62"/>
          <p:cNvSpPr/>
          <p:nvPr/>
        </p:nvSpPr>
        <p:spPr>
          <a:xfrm>
            <a:off x="274320" y="4096512"/>
            <a:ext cx="11722608" cy="676656"/>
          </a:xfrm>
          <a:prstGeom prst="rect">
            <a:avLst/>
          </a:prstGeom>
          <a:solidFill>
            <a:srgbClr val="FFFFFF"/>
          </a:solidFill>
          <a:ln w="6350">
            <a:solidFill>
              <a:srgbClr val="D0D8E4"/>
            </a:solidFill>
            <a:prstDash val="solid"/>
          </a:ln>
        </p:spPr>
      </p:sp>
      <p:sp>
        <p:nvSpPr>
          <p:cNvPr id="65" name="Shape 63"/>
          <p:cNvSpPr/>
          <p:nvPr/>
        </p:nvSpPr>
        <p:spPr>
          <a:xfrm>
            <a:off x="274320" y="4096512"/>
            <a:ext cx="11722608" cy="676656"/>
          </a:xfrm>
          <a:prstGeom prst="rect">
            <a:avLst/>
          </a:prstGeom>
          <a:solidFill>
            <a:srgbClr val="FFFFFF"/>
          </a:solidFill>
          <a:ln w="6350">
            <a:solidFill>
              <a:srgbClr val="D0D8E4"/>
            </a:solidFill>
            <a:prstDash val="solid"/>
          </a:ln>
        </p:spPr>
      </p:sp>
      <p:sp>
        <p:nvSpPr>
          <p:cNvPr id="66" name="Shape 64"/>
          <p:cNvSpPr/>
          <p:nvPr/>
        </p:nvSpPr>
        <p:spPr>
          <a:xfrm>
            <a:off x="274320" y="4096512"/>
            <a:ext cx="11722608" cy="676656"/>
          </a:xfrm>
          <a:prstGeom prst="rect">
            <a:avLst/>
          </a:prstGeom>
          <a:solidFill>
            <a:srgbClr val="FFFFFF"/>
          </a:solidFill>
          <a:ln w="6350">
            <a:solidFill>
              <a:srgbClr val="D0D8E4"/>
            </a:solidFill>
            <a:prstDash val="solid"/>
          </a:ln>
        </p:spPr>
      </p:sp>
      <p:sp>
        <p:nvSpPr>
          <p:cNvPr id="67" name="Shape 65"/>
          <p:cNvSpPr/>
          <p:nvPr/>
        </p:nvSpPr>
        <p:spPr>
          <a:xfrm>
            <a:off x="274320" y="4096512"/>
            <a:ext cx="11722608" cy="676656"/>
          </a:xfrm>
          <a:prstGeom prst="rect">
            <a:avLst/>
          </a:prstGeom>
          <a:solidFill>
            <a:srgbClr val="FFFFFF"/>
          </a:solidFill>
          <a:ln w="6350">
            <a:solidFill>
              <a:srgbClr val="D0D8E4"/>
            </a:solidFill>
            <a:prstDash val="solid"/>
          </a:ln>
        </p:spPr>
      </p:sp>
      <p:sp>
        <p:nvSpPr>
          <p:cNvPr id="68" name="Shape 66"/>
          <p:cNvSpPr/>
          <p:nvPr/>
        </p:nvSpPr>
        <p:spPr>
          <a:xfrm>
            <a:off x="274320" y="4096512"/>
            <a:ext cx="11722608" cy="676656"/>
          </a:xfrm>
          <a:prstGeom prst="rect">
            <a:avLst/>
          </a:prstGeom>
          <a:solidFill>
            <a:srgbClr val="FFFFFF"/>
          </a:solidFill>
          <a:ln w="6350">
            <a:solidFill>
              <a:srgbClr val="D0D8E4"/>
            </a:solidFill>
            <a:prstDash val="solid"/>
          </a:ln>
        </p:spPr>
      </p:sp>
      <p:sp>
        <p:nvSpPr>
          <p:cNvPr id="69" name="Text 67"/>
          <p:cNvSpPr/>
          <p:nvPr/>
        </p:nvSpPr>
        <p:spPr>
          <a:xfrm>
            <a:off x="347472" y="4151376"/>
            <a:ext cx="1517904" cy="566928"/>
          </a:xfrm>
          <a:prstGeom prst="rect">
            <a:avLst/>
          </a:prstGeom>
          <a:noFill/>
          <a:ln/>
        </p:spPr>
        <p:txBody>
          <a:bodyPr wrap="square" rtlCol="0" anchor="ctr"/>
          <a:lstStyle/>
          <a:p>
            <a:pPr marL="0" indent="0">
              <a:buNone/>
            </a:pPr>
            <a:r>
              <a:rPr lang="en-US" sz="1100" b="1" dirty="0">
                <a:solidFill>
                  <a:srgbClr val="2E75B6"/>
                </a:solidFill>
              </a:rPr>
              <a:t>Monitoring / logs</a:t>
            </a:r>
            <a:endParaRPr lang="en-US" sz="1100" dirty="0"/>
          </a:p>
        </p:txBody>
      </p:sp>
      <p:sp>
        <p:nvSpPr>
          <p:cNvPr id="70" name="Text 68"/>
          <p:cNvSpPr/>
          <p:nvPr/>
        </p:nvSpPr>
        <p:spPr>
          <a:xfrm>
            <a:off x="1993392" y="4151376"/>
            <a:ext cx="969264" cy="566928"/>
          </a:xfrm>
          <a:prstGeom prst="rect">
            <a:avLst/>
          </a:prstGeom>
          <a:noFill/>
          <a:ln/>
        </p:spPr>
        <p:txBody>
          <a:bodyPr wrap="square" rtlCol="0" anchor="ctr"/>
          <a:lstStyle/>
          <a:p>
            <a:pPr marL="0" indent="0">
              <a:buNone/>
            </a:pPr>
            <a:r>
              <a:rPr lang="en-US" sz="1000" dirty="0">
                <a:solidFill>
                  <a:srgbClr val="595959"/>
                </a:solidFill>
              </a:rPr>
              <a:t>SaaS</a:t>
            </a:r>
            <a:endParaRPr lang="en-US" sz="1000" dirty="0"/>
          </a:p>
        </p:txBody>
      </p:sp>
      <p:sp>
        <p:nvSpPr>
          <p:cNvPr id="71" name="Text 69"/>
          <p:cNvSpPr/>
          <p:nvPr/>
        </p:nvSpPr>
        <p:spPr>
          <a:xfrm>
            <a:off x="3090672" y="4151376"/>
            <a:ext cx="2523744" cy="566928"/>
          </a:xfrm>
          <a:prstGeom prst="rect">
            <a:avLst/>
          </a:prstGeom>
          <a:noFill/>
          <a:ln/>
        </p:spPr>
        <p:txBody>
          <a:bodyPr wrap="square" rtlCol="0" anchor="ctr"/>
          <a:lstStyle/>
          <a:p>
            <a:pPr marL="0" indent="0">
              <a:buNone/>
            </a:pPr>
            <a:r>
              <a:rPr lang="en-US" sz="1000" dirty="0">
                <a:solidFill>
                  <a:srgbClr val="595959"/>
                </a:solidFill>
              </a:rPr>
              <a:t>CloudWatch infra, log ingestion, retention</a:t>
            </a:r>
            <a:endParaRPr lang="en-US" sz="1000" dirty="0"/>
          </a:p>
        </p:txBody>
      </p:sp>
      <p:sp>
        <p:nvSpPr>
          <p:cNvPr id="72" name="Text 70"/>
          <p:cNvSpPr/>
          <p:nvPr/>
        </p:nvSpPr>
        <p:spPr>
          <a:xfrm>
            <a:off x="5742432" y="4151376"/>
            <a:ext cx="2523744" cy="566928"/>
          </a:xfrm>
          <a:prstGeom prst="rect">
            <a:avLst/>
          </a:prstGeom>
          <a:noFill/>
          <a:ln/>
        </p:spPr>
        <p:txBody>
          <a:bodyPr wrap="square" rtlCol="0" anchor="ctr"/>
          <a:lstStyle/>
          <a:p>
            <a:pPr marL="0" indent="0">
              <a:buNone/>
            </a:pPr>
            <a:r>
              <a:rPr lang="en-US" sz="1000" dirty="0">
                <a:solidFill>
                  <a:srgbClr val="595959"/>
                </a:solidFill>
              </a:rPr>
              <a:t>Alarm thresholds, SNS topics, custom metrics</a:t>
            </a:r>
            <a:endParaRPr lang="en-US" sz="1000" dirty="0"/>
          </a:p>
        </p:txBody>
      </p:sp>
      <p:sp>
        <p:nvSpPr>
          <p:cNvPr id="73" name="Text 71"/>
          <p:cNvSpPr/>
          <p:nvPr/>
        </p:nvSpPr>
        <p:spPr>
          <a:xfrm>
            <a:off x="8394192" y="4151376"/>
            <a:ext cx="2615184" cy="566928"/>
          </a:xfrm>
          <a:prstGeom prst="rect">
            <a:avLst/>
          </a:prstGeom>
          <a:noFill/>
          <a:ln/>
        </p:spPr>
        <p:txBody>
          <a:bodyPr wrap="square" rtlCol="0" anchor="ctr"/>
          <a:lstStyle/>
          <a:p>
            <a:pPr marL="0" indent="0">
              <a:buNone/>
            </a:pPr>
            <a:r>
              <a:rPr lang="en-US" sz="1000" dirty="0">
                <a:solidFill>
                  <a:srgbClr val="595959"/>
                </a:solidFill>
              </a:rPr>
              <a:t>Real-time alerting on NLP error spikes</a:t>
            </a:r>
            <a:endParaRPr lang="en-US" sz="1000" dirty="0"/>
          </a:p>
        </p:txBody>
      </p:sp>
      <p:sp>
        <p:nvSpPr>
          <p:cNvPr id="74" name="Shape 72"/>
          <p:cNvSpPr/>
          <p:nvPr/>
        </p:nvSpPr>
        <p:spPr>
          <a:xfrm>
            <a:off x="274320" y="4773168"/>
            <a:ext cx="11722608" cy="676656"/>
          </a:xfrm>
          <a:prstGeom prst="rect">
            <a:avLst/>
          </a:prstGeom>
          <a:solidFill>
            <a:srgbClr val="EFF3F8"/>
          </a:solidFill>
          <a:ln w="6350">
            <a:solidFill>
              <a:srgbClr val="D0D8E4"/>
            </a:solidFill>
            <a:prstDash val="solid"/>
          </a:ln>
        </p:spPr>
      </p:sp>
      <p:sp>
        <p:nvSpPr>
          <p:cNvPr id="75" name="Shape 73"/>
          <p:cNvSpPr/>
          <p:nvPr/>
        </p:nvSpPr>
        <p:spPr>
          <a:xfrm>
            <a:off x="274320" y="4773168"/>
            <a:ext cx="11722608" cy="676656"/>
          </a:xfrm>
          <a:prstGeom prst="rect">
            <a:avLst/>
          </a:prstGeom>
          <a:solidFill>
            <a:srgbClr val="EFF3F8"/>
          </a:solidFill>
          <a:ln w="6350">
            <a:solidFill>
              <a:srgbClr val="D0D8E4"/>
            </a:solidFill>
            <a:prstDash val="solid"/>
          </a:ln>
        </p:spPr>
      </p:sp>
      <p:sp>
        <p:nvSpPr>
          <p:cNvPr id="76" name="Shape 74"/>
          <p:cNvSpPr/>
          <p:nvPr/>
        </p:nvSpPr>
        <p:spPr>
          <a:xfrm>
            <a:off x="274320" y="4773168"/>
            <a:ext cx="11722608" cy="676656"/>
          </a:xfrm>
          <a:prstGeom prst="rect">
            <a:avLst/>
          </a:prstGeom>
          <a:solidFill>
            <a:srgbClr val="EFF3F8"/>
          </a:solidFill>
          <a:ln w="6350">
            <a:solidFill>
              <a:srgbClr val="D0D8E4"/>
            </a:solidFill>
            <a:prstDash val="solid"/>
          </a:ln>
        </p:spPr>
      </p:sp>
      <p:sp>
        <p:nvSpPr>
          <p:cNvPr id="77" name="Shape 75"/>
          <p:cNvSpPr/>
          <p:nvPr/>
        </p:nvSpPr>
        <p:spPr>
          <a:xfrm>
            <a:off x="274320" y="4773168"/>
            <a:ext cx="11722608" cy="676656"/>
          </a:xfrm>
          <a:prstGeom prst="rect">
            <a:avLst/>
          </a:prstGeom>
          <a:solidFill>
            <a:srgbClr val="EFF3F8"/>
          </a:solidFill>
          <a:ln w="6350">
            <a:solidFill>
              <a:srgbClr val="D0D8E4"/>
            </a:solidFill>
            <a:prstDash val="solid"/>
          </a:ln>
        </p:spPr>
      </p:sp>
      <p:sp>
        <p:nvSpPr>
          <p:cNvPr id="78" name="Shape 76"/>
          <p:cNvSpPr/>
          <p:nvPr/>
        </p:nvSpPr>
        <p:spPr>
          <a:xfrm>
            <a:off x="274320" y="4773168"/>
            <a:ext cx="11722608" cy="676656"/>
          </a:xfrm>
          <a:prstGeom prst="rect">
            <a:avLst/>
          </a:prstGeom>
          <a:solidFill>
            <a:srgbClr val="EFF3F8"/>
          </a:solidFill>
          <a:ln w="6350">
            <a:solidFill>
              <a:srgbClr val="D0D8E4"/>
            </a:solidFill>
            <a:prstDash val="solid"/>
          </a:ln>
        </p:spPr>
      </p:sp>
      <p:sp>
        <p:nvSpPr>
          <p:cNvPr id="79" name="Shape 77"/>
          <p:cNvSpPr/>
          <p:nvPr/>
        </p:nvSpPr>
        <p:spPr>
          <a:xfrm>
            <a:off x="274320" y="4773168"/>
            <a:ext cx="11722608" cy="676656"/>
          </a:xfrm>
          <a:prstGeom prst="rect">
            <a:avLst/>
          </a:prstGeom>
          <a:solidFill>
            <a:srgbClr val="EFF3F8"/>
          </a:solidFill>
          <a:ln w="6350">
            <a:solidFill>
              <a:srgbClr val="D0D8E4"/>
            </a:solidFill>
            <a:prstDash val="solid"/>
          </a:ln>
        </p:spPr>
      </p:sp>
      <p:sp>
        <p:nvSpPr>
          <p:cNvPr id="80" name="Text 78"/>
          <p:cNvSpPr/>
          <p:nvPr/>
        </p:nvSpPr>
        <p:spPr>
          <a:xfrm>
            <a:off x="347472" y="4828032"/>
            <a:ext cx="1517904" cy="566928"/>
          </a:xfrm>
          <a:prstGeom prst="rect">
            <a:avLst/>
          </a:prstGeom>
          <a:noFill/>
          <a:ln/>
        </p:spPr>
        <p:txBody>
          <a:bodyPr wrap="square" rtlCol="0" anchor="ctr"/>
          <a:lstStyle/>
          <a:p>
            <a:pPr marL="0" indent="0">
              <a:buNone/>
            </a:pPr>
            <a:r>
              <a:rPr lang="en-US" sz="1100" b="1" dirty="0">
                <a:solidFill>
                  <a:srgbClr val="2E75B6"/>
                </a:solidFill>
              </a:rPr>
              <a:t>Security / IAM</a:t>
            </a:r>
            <a:endParaRPr lang="en-US" sz="1100" dirty="0"/>
          </a:p>
        </p:txBody>
      </p:sp>
      <p:sp>
        <p:nvSpPr>
          <p:cNvPr id="81" name="Text 79"/>
          <p:cNvSpPr/>
          <p:nvPr/>
        </p:nvSpPr>
        <p:spPr>
          <a:xfrm>
            <a:off x="1993392" y="4828032"/>
            <a:ext cx="969264" cy="566928"/>
          </a:xfrm>
          <a:prstGeom prst="rect">
            <a:avLst/>
          </a:prstGeom>
          <a:noFill/>
          <a:ln/>
        </p:spPr>
        <p:txBody>
          <a:bodyPr wrap="square" rtlCol="0" anchor="ctr"/>
          <a:lstStyle/>
          <a:p>
            <a:pPr marL="0" indent="0">
              <a:buNone/>
            </a:pPr>
            <a:r>
              <a:rPr lang="en-US" sz="1000" dirty="0">
                <a:solidFill>
                  <a:srgbClr val="595959"/>
                </a:solidFill>
              </a:rPr>
              <a:t>Shared</a:t>
            </a:r>
            <a:endParaRPr lang="en-US" sz="1000" dirty="0"/>
          </a:p>
        </p:txBody>
      </p:sp>
      <p:sp>
        <p:nvSpPr>
          <p:cNvPr id="82" name="Text 80"/>
          <p:cNvSpPr/>
          <p:nvPr/>
        </p:nvSpPr>
        <p:spPr>
          <a:xfrm>
            <a:off x="3090672" y="4828032"/>
            <a:ext cx="2523744" cy="566928"/>
          </a:xfrm>
          <a:prstGeom prst="rect">
            <a:avLst/>
          </a:prstGeom>
          <a:noFill/>
          <a:ln/>
        </p:spPr>
        <p:txBody>
          <a:bodyPr wrap="square" rtlCol="0" anchor="ctr"/>
          <a:lstStyle/>
          <a:p>
            <a:pPr marL="0" indent="0">
              <a:buNone/>
            </a:pPr>
            <a:r>
              <a:rPr lang="en-US" sz="1000" dirty="0">
                <a:solidFill>
                  <a:srgbClr val="595959"/>
                </a:solidFill>
              </a:rPr>
              <a:t>Physical security, Cognito, KMS, VPC</a:t>
            </a:r>
            <a:endParaRPr lang="en-US" sz="1000" dirty="0"/>
          </a:p>
        </p:txBody>
      </p:sp>
      <p:sp>
        <p:nvSpPr>
          <p:cNvPr id="83" name="Text 81"/>
          <p:cNvSpPr/>
          <p:nvPr/>
        </p:nvSpPr>
        <p:spPr>
          <a:xfrm>
            <a:off x="5742432" y="4828032"/>
            <a:ext cx="2523744" cy="566928"/>
          </a:xfrm>
          <a:prstGeom prst="rect">
            <a:avLst/>
          </a:prstGeom>
          <a:noFill/>
          <a:ln/>
        </p:spPr>
        <p:txBody>
          <a:bodyPr wrap="square" rtlCol="0" anchor="ctr"/>
          <a:lstStyle/>
          <a:p>
            <a:pPr marL="0" indent="0">
              <a:buNone/>
            </a:pPr>
            <a:r>
              <a:rPr lang="en-US" sz="1000" dirty="0">
                <a:solidFill>
                  <a:srgbClr val="595959"/>
                </a:solidFill>
              </a:rPr>
              <a:t>IAM roles, JWT policy, S3 bucket policy</a:t>
            </a:r>
            <a:endParaRPr lang="en-US" sz="1000" dirty="0"/>
          </a:p>
        </p:txBody>
      </p:sp>
      <p:sp>
        <p:nvSpPr>
          <p:cNvPr id="84" name="Text 82"/>
          <p:cNvSpPr/>
          <p:nvPr/>
        </p:nvSpPr>
        <p:spPr>
          <a:xfrm>
            <a:off x="8394192" y="4828032"/>
            <a:ext cx="2615184" cy="566928"/>
          </a:xfrm>
          <a:prstGeom prst="rect">
            <a:avLst/>
          </a:prstGeom>
          <a:noFill/>
          <a:ln/>
        </p:spPr>
        <p:txBody>
          <a:bodyPr wrap="square" rtlCol="0" anchor="ctr"/>
          <a:lstStyle/>
          <a:p>
            <a:pPr marL="0" indent="0">
              <a:buNone/>
            </a:pPr>
            <a:r>
              <a:rPr lang="en-US" sz="1000" dirty="0">
                <a:solidFill>
                  <a:srgbClr val="595959"/>
                </a:solidFill>
              </a:rPr>
              <a:t>Shared model: AWS owns hardware, team owns app</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9728"/>
          </a:xfrm>
          <a:prstGeom prst="rect">
            <a:avLst/>
          </a:prstGeom>
          <a:solidFill>
            <a:srgbClr val="1F3864"/>
          </a:solidFill>
          <a:ln/>
        </p:spPr>
      </p:sp>
      <p:sp>
        <p:nvSpPr>
          <p:cNvPr id="3" name="Text 1"/>
          <p:cNvSpPr/>
          <p:nvPr/>
        </p:nvSpPr>
        <p:spPr>
          <a:xfrm>
            <a:off x="4572000" y="9144"/>
            <a:ext cx="7159752" cy="128016"/>
          </a:xfrm>
          <a:prstGeom prst="rect">
            <a:avLst/>
          </a:prstGeom>
          <a:noFill/>
          <a:ln/>
        </p:spPr>
        <p:txBody>
          <a:bodyPr wrap="square" rtlCol="0" anchor="ctr"/>
          <a:lstStyle/>
          <a:p>
            <a:pPr marL="0" indent="0" algn="r">
              <a:buNone/>
            </a:pPr>
            <a:r>
              <a:rPr lang="en-US" sz="900" b="1" dirty="0">
                <a:solidFill>
                  <a:srgbClr val="1F3864"/>
                </a:solidFill>
              </a:rPr>
              <a:t>CSA15 | Cloud Computing and Big Data Analytics</a:t>
            </a:r>
            <a:endParaRPr lang="en-US" sz="900" dirty="0"/>
          </a:p>
        </p:txBody>
      </p:sp>
      <p:sp>
        <p:nvSpPr>
          <p:cNvPr id="4" name="Shape 2"/>
          <p:cNvSpPr/>
          <p:nvPr/>
        </p:nvSpPr>
        <p:spPr>
          <a:xfrm>
            <a:off x="0" y="6720840"/>
            <a:ext cx="12192000" cy="137160"/>
          </a:xfrm>
          <a:prstGeom prst="rect">
            <a:avLst/>
          </a:prstGeom>
          <a:solidFill>
            <a:srgbClr val="FFFFFF"/>
          </a:solidFill>
          <a:ln/>
        </p:spPr>
      </p:sp>
      <p:sp>
        <p:nvSpPr>
          <p:cNvPr id="5" name="Text 3"/>
          <p:cNvSpPr/>
          <p:nvPr/>
        </p:nvSpPr>
        <p:spPr>
          <a:xfrm>
            <a:off x="274320" y="6729984"/>
            <a:ext cx="8229600" cy="109728"/>
          </a:xfrm>
          <a:prstGeom prst="rect">
            <a:avLst/>
          </a:prstGeom>
          <a:noFill/>
          <a:ln/>
        </p:spPr>
        <p:txBody>
          <a:bodyPr wrap="square" rtlCol="0" anchor="ctr"/>
          <a:lstStyle/>
          <a:p>
            <a:pPr marL="0" indent="0">
              <a:buNone/>
            </a:pPr>
            <a:r>
              <a:rPr lang="en-US" sz="800" dirty="0">
                <a:solidFill>
                  <a:srgbClr val="595959"/>
                </a:solidFill>
              </a:rPr>
              <a:t>Individual student submission template | Department of Computer Science and Engineering</a:t>
            </a:r>
            <a:endParaRPr lang="en-US" sz="800" dirty="0"/>
          </a:p>
        </p:txBody>
      </p:sp>
      <p:sp>
        <p:nvSpPr>
          <p:cNvPr id="6" name="Text 4"/>
          <p:cNvSpPr/>
          <p:nvPr/>
        </p:nvSpPr>
        <p:spPr>
          <a:xfrm>
            <a:off x="10515600" y="6729984"/>
            <a:ext cx="1554480" cy="109728"/>
          </a:xfrm>
          <a:prstGeom prst="rect">
            <a:avLst/>
          </a:prstGeom>
          <a:noFill/>
          <a:ln/>
        </p:spPr>
        <p:txBody>
          <a:bodyPr wrap="square" rtlCol="0" anchor="ctr"/>
          <a:lstStyle/>
          <a:p>
            <a:pPr marL="0" indent="0" algn="r">
              <a:buNone/>
            </a:pPr>
            <a:r>
              <a:rPr lang="en-US" sz="800" b="1" dirty="0">
                <a:solidFill>
                  <a:srgbClr val="1F3864"/>
                </a:solidFill>
              </a:rPr>
              <a:t>CO1 AT3 | 06</a:t>
            </a:r>
            <a:endParaRPr lang="en-US" sz="800" dirty="0"/>
          </a:p>
        </p:txBody>
      </p:sp>
      <p:sp>
        <p:nvSpPr>
          <p:cNvPr id="7" name="Text 5"/>
          <p:cNvSpPr/>
          <p:nvPr/>
        </p:nvSpPr>
        <p:spPr>
          <a:xfrm>
            <a:off x="365760" y="201168"/>
            <a:ext cx="11430000" cy="502920"/>
          </a:xfrm>
          <a:prstGeom prst="rect">
            <a:avLst/>
          </a:prstGeom>
          <a:noFill/>
          <a:ln/>
        </p:spPr>
        <p:txBody>
          <a:bodyPr wrap="square" rtlCol="0" anchor="ctr"/>
          <a:lstStyle/>
          <a:p>
            <a:pPr marL="0" indent="0">
              <a:buNone/>
            </a:pPr>
            <a:r>
              <a:rPr lang="en-US" sz="2800" b="1" dirty="0">
                <a:solidFill>
                  <a:srgbClr val="1F3864"/>
                </a:solidFill>
              </a:rPr>
              <a:t>Data Flow and Analytics Pipeline</a:t>
            </a:r>
            <a:endParaRPr lang="en-US" sz="2800" dirty="0"/>
          </a:p>
        </p:txBody>
      </p:sp>
      <p:sp>
        <p:nvSpPr>
          <p:cNvPr id="8" name="Text 6"/>
          <p:cNvSpPr/>
          <p:nvPr/>
        </p:nvSpPr>
        <p:spPr>
          <a:xfrm>
            <a:off x="365760" y="713232"/>
            <a:ext cx="9144000" cy="201168"/>
          </a:xfrm>
          <a:prstGeom prst="rect">
            <a:avLst/>
          </a:prstGeom>
          <a:noFill/>
          <a:ln/>
        </p:spPr>
        <p:txBody>
          <a:bodyPr wrap="square" rtlCol="0" anchor="ctr"/>
          <a:lstStyle/>
          <a:p>
            <a:pPr marL="0" indent="0">
              <a:buNone/>
            </a:pPr>
            <a:r>
              <a:rPr lang="en-US" sz="1400" dirty="0">
                <a:solidFill>
                  <a:srgbClr val="595959"/>
                </a:solidFill>
              </a:rPr>
              <a:t>The product data moves from user activity to useful insight</a:t>
            </a:r>
            <a:endParaRPr lang="en-US" sz="1400" dirty="0"/>
          </a:p>
        </p:txBody>
      </p:sp>
      <p:sp>
        <p:nvSpPr>
          <p:cNvPr id="9" name="Shape 7"/>
          <p:cNvSpPr/>
          <p:nvPr/>
        </p:nvSpPr>
        <p:spPr>
          <a:xfrm>
            <a:off x="320040" y="1051560"/>
            <a:ext cx="1828800" cy="457200"/>
          </a:xfrm>
          <a:prstGeom prst="rect">
            <a:avLst/>
          </a:prstGeom>
          <a:solidFill>
            <a:srgbClr val="2E75B6"/>
          </a:solidFill>
          <a:ln/>
        </p:spPr>
      </p:sp>
      <p:sp>
        <p:nvSpPr>
          <p:cNvPr id="10" name="Text 8"/>
          <p:cNvSpPr/>
          <p:nvPr/>
        </p:nvSpPr>
        <p:spPr>
          <a:xfrm>
            <a:off x="320040" y="1051560"/>
            <a:ext cx="1828800" cy="457200"/>
          </a:xfrm>
          <a:prstGeom prst="rect">
            <a:avLst/>
          </a:prstGeom>
          <a:noFill/>
          <a:ln/>
        </p:spPr>
        <p:txBody>
          <a:bodyPr wrap="square" rtlCol="0" anchor="ctr"/>
          <a:lstStyle/>
          <a:p>
            <a:pPr marL="0" indent="0" algn="ctr">
              <a:buNone/>
            </a:pPr>
            <a:r>
              <a:rPr lang="en-US" sz="1300" b="1" dirty="0">
                <a:solidFill>
                  <a:srgbClr val="FFFFFF"/>
                </a:solidFill>
              </a:rPr>
              <a:t>Collect</a:t>
            </a:r>
            <a:endParaRPr lang="en-US" sz="1300" dirty="0"/>
          </a:p>
        </p:txBody>
      </p:sp>
      <p:sp>
        <p:nvSpPr>
          <p:cNvPr id="11" name="Shape 9"/>
          <p:cNvSpPr/>
          <p:nvPr/>
        </p:nvSpPr>
        <p:spPr>
          <a:xfrm>
            <a:off x="320040" y="1508760"/>
            <a:ext cx="1828800" cy="822960"/>
          </a:xfrm>
          <a:prstGeom prst="rect">
            <a:avLst/>
          </a:prstGeom>
          <a:solidFill>
            <a:srgbClr val="EFF3F8"/>
          </a:solidFill>
          <a:ln w="10160">
            <a:solidFill>
              <a:srgbClr val="C8D4E8"/>
            </a:solidFill>
            <a:prstDash val="solid"/>
          </a:ln>
        </p:spPr>
      </p:sp>
      <p:sp>
        <p:nvSpPr>
          <p:cNvPr id="12" name="Text 10"/>
          <p:cNvSpPr/>
          <p:nvPr/>
        </p:nvSpPr>
        <p:spPr>
          <a:xfrm>
            <a:off x="320040" y="1508760"/>
            <a:ext cx="1828800" cy="822960"/>
          </a:xfrm>
          <a:prstGeom prst="rect">
            <a:avLst/>
          </a:prstGeom>
          <a:noFill/>
          <a:ln/>
        </p:spPr>
        <p:txBody>
          <a:bodyPr wrap="square" rtlCol="0" anchor="ctr"/>
          <a:lstStyle/>
          <a:p>
            <a:pPr marL="0" indent="0" algn="ctr">
              <a:buNone/>
            </a:pPr>
            <a:r>
              <a:rPr lang="en-US" sz="1100" dirty="0">
                <a:solidFill>
                  <a:srgbClr val="595959"/>
                </a:solidFill>
              </a:rPr>
              <a:t>Resume PDF</a:t>
            </a:r>
            <a:endParaRPr lang="en-US" sz="1100" dirty="0"/>
          </a:p>
          <a:p>
            <a:pPr marL="0" indent="0" algn="ctr">
              <a:buNone/>
            </a:pPr>
            <a:r>
              <a:rPr lang="en-US" sz="1100" dirty="0">
                <a:solidFill>
                  <a:srgbClr val="595959"/>
                </a:solidFill>
              </a:rPr>
              <a:t>+ JD text</a:t>
            </a:r>
            <a:endParaRPr lang="en-US" sz="1100" dirty="0"/>
          </a:p>
        </p:txBody>
      </p:sp>
      <p:sp>
        <p:nvSpPr>
          <p:cNvPr id="13" name="Shape 11"/>
          <p:cNvSpPr/>
          <p:nvPr/>
        </p:nvSpPr>
        <p:spPr>
          <a:xfrm>
            <a:off x="2148840" y="1225296"/>
            <a:ext cx="329184" cy="237744"/>
          </a:xfrm>
          <a:prstGeom prst="rightArrow">
            <a:avLst/>
          </a:prstGeom>
          <a:solidFill>
            <a:srgbClr val="1F3864"/>
          </a:solidFill>
          <a:ln/>
        </p:spPr>
      </p:sp>
      <p:sp>
        <p:nvSpPr>
          <p:cNvPr id="14" name="Shape 12"/>
          <p:cNvSpPr/>
          <p:nvPr/>
        </p:nvSpPr>
        <p:spPr>
          <a:xfrm>
            <a:off x="2651760" y="1051560"/>
            <a:ext cx="1828800" cy="457200"/>
          </a:xfrm>
          <a:prstGeom prst="rect">
            <a:avLst/>
          </a:prstGeom>
          <a:solidFill>
            <a:srgbClr val="1F3864"/>
          </a:solidFill>
          <a:ln/>
        </p:spPr>
      </p:sp>
      <p:sp>
        <p:nvSpPr>
          <p:cNvPr id="15" name="Text 13"/>
          <p:cNvSpPr/>
          <p:nvPr/>
        </p:nvSpPr>
        <p:spPr>
          <a:xfrm>
            <a:off x="2651760" y="1051560"/>
            <a:ext cx="1828800" cy="457200"/>
          </a:xfrm>
          <a:prstGeom prst="rect">
            <a:avLst/>
          </a:prstGeom>
          <a:noFill/>
          <a:ln/>
        </p:spPr>
        <p:txBody>
          <a:bodyPr wrap="square" rtlCol="0" anchor="ctr"/>
          <a:lstStyle/>
          <a:p>
            <a:pPr marL="0" indent="0" algn="ctr">
              <a:buNone/>
            </a:pPr>
            <a:r>
              <a:rPr lang="en-US" sz="1300" b="1" dirty="0">
                <a:solidFill>
                  <a:srgbClr val="FFFFFF"/>
                </a:solidFill>
              </a:rPr>
              <a:t>Ingest</a:t>
            </a:r>
            <a:endParaRPr lang="en-US" sz="1300" dirty="0"/>
          </a:p>
        </p:txBody>
      </p:sp>
      <p:sp>
        <p:nvSpPr>
          <p:cNvPr id="16" name="Shape 14"/>
          <p:cNvSpPr/>
          <p:nvPr/>
        </p:nvSpPr>
        <p:spPr>
          <a:xfrm>
            <a:off x="2651760" y="1508760"/>
            <a:ext cx="1828800" cy="822960"/>
          </a:xfrm>
          <a:prstGeom prst="rect">
            <a:avLst/>
          </a:prstGeom>
          <a:solidFill>
            <a:srgbClr val="EFF3F8"/>
          </a:solidFill>
          <a:ln w="10160">
            <a:solidFill>
              <a:srgbClr val="C8D4E8"/>
            </a:solidFill>
            <a:prstDash val="solid"/>
          </a:ln>
        </p:spPr>
      </p:sp>
      <p:sp>
        <p:nvSpPr>
          <p:cNvPr id="17" name="Text 15"/>
          <p:cNvSpPr/>
          <p:nvPr/>
        </p:nvSpPr>
        <p:spPr>
          <a:xfrm>
            <a:off x="2651760" y="1508760"/>
            <a:ext cx="1828800" cy="822960"/>
          </a:xfrm>
          <a:prstGeom prst="rect">
            <a:avLst/>
          </a:prstGeom>
          <a:noFill/>
          <a:ln/>
        </p:spPr>
        <p:txBody>
          <a:bodyPr wrap="square" rtlCol="0" anchor="ctr"/>
          <a:lstStyle/>
          <a:p>
            <a:pPr marL="0" indent="0" algn="ctr">
              <a:buNone/>
            </a:pPr>
            <a:r>
              <a:rPr lang="en-US" sz="1100" dirty="0">
                <a:solidFill>
                  <a:srgbClr val="595959"/>
                </a:solidFill>
              </a:rPr>
              <a:t>POST /api/upload</a:t>
            </a:r>
            <a:endParaRPr lang="en-US" sz="1100" dirty="0"/>
          </a:p>
          <a:p>
            <a:pPr marL="0" indent="0" algn="ctr">
              <a:buNone/>
            </a:pPr>
            <a:r>
              <a:rPr lang="en-US" sz="1100" dirty="0">
                <a:solidFill>
                  <a:srgbClr val="595959"/>
                </a:solidFill>
              </a:rPr>
              <a:t>PDF→ text</a:t>
            </a:r>
            <a:endParaRPr lang="en-US" sz="1100" dirty="0"/>
          </a:p>
        </p:txBody>
      </p:sp>
      <p:sp>
        <p:nvSpPr>
          <p:cNvPr id="18" name="Shape 16"/>
          <p:cNvSpPr/>
          <p:nvPr/>
        </p:nvSpPr>
        <p:spPr>
          <a:xfrm>
            <a:off x="4480560" y="1225296"/>
            <a:ext cx="329184" cy="237744"/>
          </a:xfrm>
          <a:prstGeom prst="rightArrow">
            <a:avLst/>
          </a:prstGeom>
          <a:solidFill>
            <a:srgbClr val="1F3864"/>
          </a:solidFill>
          <a:ln/>
        </p:spPr>
      </p:sp>
      <p:sp>
        <p:nvSpPr>
          <p:cNvPr id="19" name="Shape 17"/>
          <p:cNvSpPr/>
          <p:nvPr/>
        </p:nvSpPr>
        <p:spPr>
          <a:xfrm>
            <a:off x="4983480" y="1051560"/>
            <a:ext cx="1828800" cy="457200"/>
          </a:xfrm>
          <a:prstGeom prst="rect">
            <a:avLst/>
          </a:prstGeom>
          <a:solidFill>
            <a:srgbClr val="217346"/>
          </a:solidFill>
          <a:ln/>
        </p:spPr>
      </p:sp>
      <p:sp>
        <p:nvSpPr>
          <p:cNvPr id="20" name="Text 18"/>
          <p:cNvSpPr/>
          <p:nvPr/>
        </p:nvSpPr>
        <p:spPr>
          <a:xfrm>
            <a:off x="4983480" y="1051560"/>
            <a:ext cx="1828800" cy="457200"/>
          </a:xfrm>
          <a:prstGeom prst="rect">
            <a:avLst/>
          </a:prstGeom>
          <a:noFill/>
          <a:ln/>
        </p:spPr>
        <p:txBody>
          <a:bodyPr wrap="square" rtlCol="0" anchor="ctr"/>
          <a:lstStyle/>
          <a:p>
            <a:pPr marL="0" indent="0" algn="ctr">
              <a:buNone/>
            </a:pPr>
            <a:r>
              <a:rPr lang="en-US" sz="1300" b="1" dirty="0">
                <a:solidFill>
                  <a:srgbClr val="FFFFFF"/>
                </a:solidFill>
              </a:rPr>
              <a:t>Store</a:t>
            </a:r>
            <a:endParaRPr lang="en-US" sz="1300" dirty="0"/>
          </a:p>
        </p:txBody>
      </p:sp>
      <p:sp>
        <p:nvSpPr>
          <p:cNvPr id="21" name="Shape 19"/>
          <p:cNvSpPr/>
          <p:nvPr/>
        </p:nvSpPr>
        <p:spPr>
          <a:xfrm>
            <a:off x="4983480" y="1508760"/>
            <a:ext cx="1828800" cy="822960"/>
          </a:xfrm>
          <a:prstGeom prst="rect">
            <a:avLst/>
          </a:prstGeom>
          <a:solidFill>
            <a:srgbClr val="EFF3F8"/>
          </a:solidFill>
          <a:ln w="10160">
            <a:solidFill>
              <a:srgbClr val="C8D4E8"/>
            </a:solidFill>
            <a:prstDash val="solid"/>
          </a:ln>
        </p:spPr>
      </p:sp>
      <p:sp>
        <p:nvSpPr>
          <p:cNvPr id="22" name="Text 20"/>
          <p:cNvSpPr/>
          <p:nvPr/>
        </p:nvSpPr>
        <p:spPr>
          <a:xfrm>
            <a:off x="4983480" y="1508760"/>
            <a:ext cx="1828800" cy="822960"/>
          </a:xfrm>
          <a:prstGeom prst="rect">
            <a:avLst/>
          </a:prstGeom>
          <a:noFill/>
          <a:ln/>
        </p:spPr>
        <p:txBody>
          <a:bodyPr wrap="square" rtlCol="0" anchor="ctr"/>
          <a:lstStyle/>
          <a:p>
            <a:pPr marL="0" indent="0" algn="ctr">
              <a:buNone/>
            </a:pPr>
            <a:r>
              <a:rPr lang="en-US" sz="1100" dirty="0">
                <a:solidFill>
                  <a:srgbClr val="595959"/>
                </a:solidFill>
              </a:rPr>
              <a:t>S3 (raw PDF)</a:t>
            </a:r>
            <a:endParaRPr lang="en-US" sz="1100" dirty="0"/>
          </a:p>
          <a:p>
            <a:pPr marL="0" indent="0" algn="ctr">
              <a:buNone/>
            </a:pPr>
            <a:r>
              <a:rPr lang="en-US" sz="1100" dirty="0">
                <a:solidFill>
                  <a:srgbClr val="595959"/>
                </a:solidFill>
              </a:rPr>
              <a:t>DynamoDB (JSON)</a:t>
            </a:r>
            <a:endParaRPr lang="en-US" sz="1100" dirty="0"/>
          </a:p>
        </p:txBody>
      </p:sp>
      <p:sp>
        <p:nvSpPr>
          <p:cNvPr id="23" name="Shape 21"/>
          <p:cNvSpPr/>
          <p:nvPr/>
        </p:nvSpPr>
        <p:spPr>
          <a:xfrm>
            <a:off x="6812280" y="1225296"/>
            <a:ext cx="329184" cy="237744"/>
          </a:xfrm>
          <a:prstGeom prst="rightArrow">
            <a:avLst/>
          </a:prstGeom>
          <a:solidFill>
            <a:srgbClr val="1F3864"/>
          </a:solidFill>
          <a:ln/>
        </p:spPr>
      </p:sp>
      <p:sp>
        <p:nvSpPr>
          <p:cNvPr id="24" name="Shape 22"/>
          <p:cNvSpPr/>
          <p:nvPr/>
        </p:nvSpPr>
        <p:spPr>
          <a:xfrm>
            <a:off x="7315200" y="1051560"/>
            <a:ext cx="1828800" cy="457200"/>
          </a:xfrm>
          <a:prstGeom prst="rect">
            <a:avLst/>
          </a:prstGeom>
          <a:solidFill>
            <a:srgbClr val="C65911"/>
          </a:solidFill>
          <a:ln/>
        </p:spPr>
      </p:sp>
      <p:sp>
        <p:nvSpPr>
          <p:cNvPr id="25" name="Text 23"/>
          <p:cNvSpPr/>
          <p:nvPr/>
        </p:nvSpPr>
        <p:spPr>
          <a:xfrm>
            <a:off x="7315200" y="1051560"/>
            <a:ext cx="1828800" cy="457200"/>
          </a:xfrm>
          <a:prstGeom prst="rect">
            <a:avLst/>
          </a:prstGeom>
          <a:noFill/>
          <a:ln/>
        </p:spPr>
        <p:txBody>
          <a:bodyPr wrap="square" rtlCol="0" anchor="ctr"/>
          <a:lstStyle/>
          <a:p>
            <a:pPr marL="0" indent="0" algn="ctr">
              <a:buNone/>
            </a:pPr>
            <a:r>
              <a:rPr lang="en-US" sz="1300" b="1" dirty="0">
                <a:solidFill>
                  <a:srgbClr val="FFFFFF"/>
                </a:solidFill>
              </a:rPr>
              <a:t>Process</a:t>
            </a:r>
            <a:endParaRPr lang="en-US" sz="1300" dirty="0"/>
          </a:p>
        </p:txBody>
      </p:sp>
      <p:sp>
        <p:nvSpPr>
          <p:cNvPr id="26" name="Shape 24"/>
          <p:cNvSpPr/>
          <p:nvPr/>
        </p:nvSpPr>
        <p:spPr>
          <a:xfrm>
            <a:off x="7315200" y="1508760"/>
            <a:ext cx="1828800" cy="822960"/>
          </a:xfrm>
          <a:prstGeom prst="rect">
            <a:avLst/>
          </a:prstGeom>
          <a:solidFill>
            <a:srgbClr val="EFF3F8"/>
          </a:solidFill>
          <a:ln w="10160">
            <a:solidFill>
              <a:srgbClr val="C8D4E8"/>
            </a:solidFill>
            <a:prstDash val="solid"/>
          </a:ln>
        </p:spPr>
      </p:sp>
      <p:sp>
        <p:nvSpPr>
          <p:cNvPr id="27" name="Text 25"/>
          <p:cNvSpPr/>
          <p:nvPr/>
        </p:nvSpPr>
        <p:spPr>
          <a:xfrm>
            <a:off x="7315200" y="1508760"/>
            <a:ext cx="1828800" cy="822960"/>
          </a:xfrm>
          <a:prstGeom prst="rect">
            <a:avLst/>
          </a:prstGeom>
          <a:noFill/>
          <a:ln/>
        </p:spPr>
        <p:txBody>
          <a:bodyPr wrap="square" rtlCol="0" anchor="ctr"/>
          <a:lstStyle/>
          <a:p>
            <a:pPr marL="0" indent="0" algn="ctr">
              <a:buNone/>
            </a:pPr>
            <a:r>
              <a:rPr lang="en-US" sz="1100" dirty="0">
                <a:solidFill>
                  <a:srgbClr val="595959"/>
                </a:solidFill>
              </a:rPr>
              <a:t>spaCy NER</a:t>
            </a:r>
            <a:endParaRPr lang="en-US" sz="1100" dirty="0"/>
          </a:p>
          <a:p>
            <a:pPr marL="0" indent="0" algn="ctr">
              <a:buNone/>
            </a:pPr>
            <a:r>
              <a:rPr lang="en-US" sz="1100" dirty="0">
                <a:solidFill>
                  <a:srgbClr val="595959"/>
                </a:solidFill>
              </a:rPr>
              <a:t>Skill gap calc</a:t>
            </a:r>
            <a:endParaRPr lang="en-US" sz="1100" dirty="0"/>
          </a:p>
        </p:txBody>
      </p:sp>
      <p:sp>
        <p:nvSpPr>
          <p:cNvPr id="28" name="Shape 26"/>
          <p:cNvSpPr/>
          <p:nvPr/>
        </p:nvSpPr>
        <p:spPr>
          <a:xfrm>
            <a:off x="9144000" y="1225296"/>
            <a:ext cx="329184" cy="237744"/>
          </a:xfrm>
          <a:prstGeom prst="rightArrow">
            <a:avLst/>
          </a:prstGeom>
          <a:solidFill>
            <a:srgbClr val="1F3864"/>
          </a:solidFill>
          <a:ln/>
        </p:spPr>
      </p:sp>
      <p:sp>
        <p:nvSpPr>
          <p:cNvPr id="29" name="Shape 27"/>
          <p:cNvSpPr/>
          <p:nvPr/>
        </p:nvSpPr>
        <p:spPr>
          <a:xfrm>
            <a:off x="9646920" y="1051560"/>
            <a:ext cx="1828800" cy="457200"/>
          </a:xfrm>
          <a:prstGeom prst="rect">
            <a:avLst/>
          </a:prstGeom>
          <a:solidFill>
            <a:srgbClr val="6B2C91"/>
          </a:solidFill>
          <a:ln/>
        </p:spPr>
      </p:sp>
      <p:sp>
        <p:nvSpPr>
          <p:cNvPr id="30" name="Text 28"/>
          <p:cNvSpPr/>
          <p:nvPr/>
        </p:nvSpPr>
        <p:spPr>
          <a:xfrm>
            <a:off x="9646920" y="1051560"/>
            <a:ext cx="1828800" cy="457200"/>
          </a:xfrm>
          <a:prstGeom prst="rect">
            <a:avLst/>
          </a:prstGeom>
          <a:noFill/>
          <a:ln/>
        </p:spPr>
        <p:txBody>
          <a:bodyPr wrap="square" rtlCol="0" anchor="ctr"/>
          <a:lstStyle/>
          <a:p>
            <a:pPr marL="0" indent="0" algn="ctr">
              <a:buNone/>
            </a:pPr>
            <a:r>
              <a:rPr lang="en-US" sz="1300" b="1" dirty="0">
                <a:solidFill>
                  <a:srgbClr val="FFFFFF"/>
                </a:solidFill>
              </a:rPr>
              <a:t>Visualize</a:t>
            </a:r>
            <a:endParaRPr lang="en-US" sz="1300" dirty="0"/>
          </a:p>
        </p:txBody>
      </p:sp>
      <p:sp>
        <p:nvSpPr>
          <p:cNvPr id="31" name="Shape 29"/>
          <p:cNvSpPr/>
          <p:nvPr/>
        </p:nvSpPr>
        <p:spPr>
          <a:xfrm>
            <a:off x="9646920" y="1508760"/>
            <a:ext cx="1828800" cy="822960"/>
          </a:xfrm>
          <a:prstGeom prst="rect">
            <a:avLst/>
          </a:prstGeom>
          <a:solidFill>
            <a:srgbClr val="EFF3F8"/>
          </a:solidFill>
          <a:ln w="10160">
            <a:solidFill>
              <a:srgbClr val="C8D4E8"/>
            </a:solidFill>
            <a:prstDash val="solid"/>
          </a:ln>
        </p:spPr>
      </p:sp>
      <p:sp>
        <p:nvSpPr>
          <p:cNvPr id="32" name="Text 30"/>
          <p:cNvSpPr/>
          <p:nvPr/>
        </p:nvSpPr>
        <p:spPr>
          <a:xfrm>
            <a:off x="9646920" y="1508760"/>
            <a:ext cx="1828800" cy="822960"/>
          </a:xfrm>
          <a:prstGeom prst="rect">
            <a:avLst/>
          </a:prstGeom>
          <a:noFill/>
          <a:ln/>
        </p:spPr>
        <p:txBody>
          <a:bodyPr wrap="square" rtlCol="0" anchor="ctr"/>
          <a:lstStyle/>
          <a:p>
            <a:pPr marL="0" indent="0" algn="ctr">
              <a:buNone/>
            </a:pPr>
            <a:r>
              <a:rPr lang="en-US" sz="1100" dirty="0">
                <a:solidFill>
                  <a:srgbClr val="595959"/>
                </a:solidFill>
              </a:rPr>
              <a:t>QuickSight</a:t>
            </a:r>
            <a:endParaRPr lang="en-US" sz="1100" dirty="0"/>
          </a:p>
          <a:p>
            <a:pPr marL="0" indent="0" algn="ctr">
              <a:buNone/>
            </a:pPr>
            <a:r>
              <a:rPr lang="en-US" sz="1100" dirty="0">
                <a:solidFill>
                  <a:srgbClr val="595959"/>
                </a:solidFill>
              </a:rPr>
              <a:t>Dashboard</a:t>
            </a:r>
            <a:endParaRPr lang="en-US" sz="1100" dirty="0"/>
          </a:p>
        </p:txBody>
      </p:sp>
      <p:sp>
        <p:nvSpPr>
          <p:cNvPr id="33" name="Shape 31"/>
          <p:cNvSpPr/>
          <p:nvPr/>
        </p:nvSpPr>
        <p:spPr>
          <a:xfrm>
            <a:off x="320040" y="2560320"/>
            <a:ext cx="3657600" cy="2468880"/>
          </a:xfrm>
          <a:prstGeom prst="rect">
            <a:avLst/>
          </a:prstGeom>
          <a:solidFill>
            <a:srgbClr val="EFF3F8"/>
          </a:solidFill>
          <a:ln w="12700">
            <a:solidFill>
              <a:srgbClr val="C8D4E8"/>
            </a:solidFill>
            <a:prstDash val="solid"/>
          </a:ln>
        </p:spPr>
      </p:sp>
      <p:sp>
        <p:nvSpPr>
          <p:cNvPr id="34" name="Shape 32"/>
          <p:cNvSpPr/>
          <p:nvPr/>
        </p:nvSpPr>
        <p:spPr>
          <a:xfrm>
            <a:off x="320040" y="2560320"/>
            <a:ext cx="3657600" cy="54864"/>
          </a:xfrm>
          <a:prstGeom prst="rect">
            <a:avLst/>
          </a:prstGeom>
          <a:solidFill>
            <a:srgbClr val="1F3864"/>
          </a:solidFill>
          <a:ln/>
        </p:spPr>
      </p:sp>
      <p:sp>
        <p:nvSpPr>
          <p:cNvPr id="35" name="Text 33"/>
          <p:cNvSpPr/>
          <p:nvPr/>
        </p:nvSpPr>
        <p:spPr>
          <a:xfrm>
            <a:off x="457200" y="2706624"/>
            <a:ext cx="3429000" cy="256032"/>
          </a:xfrm>
          <a:prstGeom prst="rect">
            <a:avLst/>
          </a:prstGeom>
          <a:noFill/>
          <a:ln/>
        </p:spPr>
        <p:txBody>
          <a:bodyPr wrap="square" rtlCol="0" anchor="ctr"/>
          <a:lstStyle/>
          <a:p>
            <a:pPr marL="0" indent="0">
              <a:buNone/>
            </a:pPr>
            <a:r>
              <a:rPr lang="en-US" sz="1400" b="1" dirty="0">
                <a:solidFill>
                  <a:srgbClr val="2E75B6"/>
                </a:solidFill>
              </a:rPr>
              <a:t>Data Requirements</a:t>
            </a:r>
            <a:endParaRPr lang="en-US" sz="1400" dirty="0"/>
          </a:p>
        </p:txBody>
      </p:sp>
      <p:sp>
        <p:nvSpPr>
          <p:cNvPr id="36" name="Text 34"/>
          <p:cNvSpPr/>
          <p:nvPr/>
        </p:nvSpPr>
        <p:spPr>
          <a:xfrm>
            <a:off x="457200" y="3017520"/>
            <a:ext cx="3429000" cy="1920240"/>
          </a:xfrm>
          <a:prstGeom prst="rect">
            <a:avLst/>
          </a:prstGeom>
          <a:noFill/>
          <a:ln/>
        </p:spPr>
        <p:txBody>
          <a:bodyPr wrap="square" rtlCol="0" anchor="ctr"/>
          <a:lstStyle/>
          <a:p>
            <a:pPr marL="0" indent="0">
              <a:buNone/>
            </a:pPr>
            <a:r>
              <a:rPr lang="en-US" sz="1150" dirty="0">
                <a:solidFill>
                  <a:srgbClr val="595959"/>
                </a:solidFill>
              </a:rPr>
              <a:t>• User: PDF resume (≤5 MB), job description text</a:t>
            </a:r>
            <a:endParaRPr lang="en-US" sz="1150" dirty="0"/>
          </a:p>
          <a:p>
            <a:pPr marL="0" indent="0">
              <a:buNone/>
            </a:pPr>
            <a:r>
              <a:rPr lang="en-US" sz="1150" dirty="0">
                <a:solidFill>
                  <a:srgbClr val="595959"/>
                </a:solidFill>
              </a:rPr>
              <a:t>• System: NLP entity JSON, skill gap score, match %</a:t>
            </a:r>
            <a:endParaRPr lang="en-US" sz="1150" dirty="0"/>
          </a:p>
          <a:p>
            <a:pPr marL="0" indent="0">
              <a:buNone/>
            </a:pPr>
            <a:r>
              <a:rPr lang="en-US" sz="1150" dirty="0">
                <a:solidFill>
                  <a:srgbClr val="595959"/>
                </a:solidFill>
              </a:rPr>
              <a:t>• Analytics: match history per user_id in DynamoDB</a:t>
            </a:r>
            <a:endParaRPr lang="en-US" sz="1150" dirty="0"/>
          </a:p>
          <a:p>
            <a:pPr marL="0" indent="0">
              <a:buNone/>
            </a:pPr>
            <a:r>
              <a:rPr lang="en-US" sz="1150" dirty="0">
                <a:solidFill>
                  <a:srgbClr val="595959"/>
                </a:solidFill>
              </a:rPr>
              <a:t>• Logs: Lambda execution time, error rate via CloudWatch</a:t>
            </a:r>
            <a:endParaRPr lang="en-US" sz="1150" dirty="0"/>
          </a:p>
        </p:txBody>
      </p:sp>
      <p:sp>
        <p:nvSpPr>
          <p:cNvPr id="37" name="Shape 35"/>
          <p:cNvSpPr/>
          <p:nvPr/>
        </p:nvSpPr>
        <p:spPr>
          <a:xfrm>
            <a:off x="4251960" y="2560320"/>
            <a:ext cx="3657600" cy="2468880"/>
          </a:xfrm>
          <a:prstGeom prst="rect">
            <a:avLst/>
          </a:prstGeom>
          <a:solidFill>
            <a:srgbClr val="EFF3F8"/>
          </a:solidFill>
          <a:ln w="12700">
            <a:solidFill>
              <a:srgbClr val="C8D4E8"/>
            </a:solidFill>
            <a:prstDash val="solid"/>
          </a:ln>
        </p:spPr>
      </p:sp>
      <p:sp>
        <p:nvSpPr>
          <p:cNvPr id="38" name="Shape 36"/>
          <p:cNvSpPr/>
          <p:nvPr/>
        </p:nvSpPr>
        <p:spPr>
          <a:xfrm>
            <a:off x="4251960" y="2560320"/>
            <a:ext cx="3657600" cy="54864"/>
          </a:xfrm>
          <a:prstGeom prst="rect">
            <a:avLst/>
          </a:prstGeom>
          <a:solidFill>
            <a:srgbClr val="1F3864"/>
          </a:solidFill>
          <a:ln/>
        </p:spPr>
      </p:sp>
      <p:sp>
        <p:nvSpPr>
          <p:cNvPr id="39" name="Text 37"/>
          <p:cNvSpPr/>
          <p:nvPr/>
        </p:nvSpPr>
        <p:spPr>
          <a:xfrm>
            <a:off x="4389120" y="2706624"/>
            <a:ext cx="3429000" cy="256032"/>
          </a:xfrm>
          <a:prstGeom prst="rect">
            <a:avLst/>
          </a:prstGeom>
          <a:noFill/>
          <a:ln/>
        </p:spPr>
        <p:txBody>
          <a:bodyPr wrap="square" rtlCol="0" anchor="ctr"/>
          <a:lstStyle/>
          <a:p>
            <a:pPr marL="0" indent="0">
              <a:buNone/>
            </a:pPr>
            <a:r>
              <a:rPr lang="en-US" sz="1400" b="1" dirty="0">
                <a:solidFill>
                  <a:srgbClr val="2E75B6"/>
                </a:solidFill>
              </a:rPr>
              <a:t>Analytics Requirement</a:t>
            </a:r>
            <a:endParaRPr lang="en-US" sz="1400" dirty="0"/>
          </a:p>
        </p:txBody>
      </p:sp>
      <p:sp>
        <p:nvSpPr>
          <p:cNvPr id="40" name="Text 38"/>
          <p:cNvSpPr/>
          <p:nvPr/>
        </p:nvSpPr>
        <p:spPr>
          <a:xfrm>
            <a:off x="4389120" y="3017520"/>
            <a:ext cx="3429000" cy="1920240"/>
          </a:xfrm>
          <a:prstGeom prst="rect">
            <a:avLst/>
          </a:prstGeom>
          <a:noFill/>
          <a:ln/>
        </p:spPr>
        <p:txBody>
          <a:bodyPr wrap="square" rtlCol="0" anchor="ctr"/>
          <a:lstStyle/>
          <a:p>
            <a:pPr marL="0" indent="0">
              <a:buNone/>
            </a:pPr>
            <a:r>
              <a:rPr lang="en-US" sz="1150" dirty="0">
                <a:solidFill>
                  <a:srgbClr val="595959"/>
                </a:solidFill>
              </a:rPr>
              <a:t>• Real-time dashboard: match_score %, missing skills list</a:t>
            </a:r>
            <a:endParaRPr lang="en-US" sz="1150" dirty="0"/>
          </a:p>
          <a:p>
            <a:pPr marL="0" indent="0">
              <a:buNone/>
            </a:pPr>
            <a:r>
              <a:rPr lang="en-US" sz="1150" dirty="0">
                <a:solidFill>
                  <a:srgbClr val="595959"/>
                </a:solidFill>
              </a:rPr>
              <a:t>• Trend report: top 5 missing skills across institution</a:t>
            </a:r>
            <a:endParaRPr lang="en-US" sz="1150" dirty="0"/>
          </a:p>
          <a:p>
            <a:pPr marL="0" indent="0">
              <a:buNone/>
            </a:pPr>
            <a:r>
              <a:rPr lang="en-US" sz="1150" dirty="0">
                <a:solidFill>
                  <a:srgbClr val="595959"/>
                </a:solidFill>
              </a:rPr>
              <a:t>• Alert: CloudWatch → SNS when NLP error rate &gt; 1%</a:t>
            </a:r>
            <a:endParaRPr lang="en-US" sz="1150" dirty="0"/>
          </a:p>
          <a:p>
            <a:pPr marL="0" indent="0">
              <a:buNone/>
            </a:pPr>
            <a:r>
              <a:rPr lang="en-US" sz="1150" dirty="0">
                <a:solidFill>
                  <a:srgbClr val="595959"/>
                </a:solidFill>
              </a:rPr>
              <a:t>• QuickSight: recruiter-facing hiring trend charts</a:t>
            </a:r>
            <a:endParaRPr lang="en-US" sz="1150" dirty="0"/>
          </a:p>
        </p:txBody>
      </p:sp>
      <p:sp>
        <p:nvSpPr>
          <p:cNvPr id="41" name="Shape 39"/>
          <p:cNvSpPr/>
          <p:nvPr/>
        </p:nvSpPr>
        <p:spPr>
          <a:xfrm>
            <a:off x="8229600" y="2560320"/>
            <a:ext cx="3657600" cy="2468880"/>
          </a:xfrm>
          <a:prstGeom prst="rect">
            <a:avLst/>
          </a:prstGeom>
          <a:solidFill>
            <a:srgbClr val="EFF3F8"/>
          </a:solidFill>
          <a:ln w="12700">
            <a:solidFill>
              <a:srgbClr val="C8D4E8"/>
            </a:solidFill>
            <a:prstDash val="solid"/>
          </a:ln>
        </p:spPr>
      </p:sp>
      <p:sp>
        <p:nvSpPr>
          <p:cNvPr id="42" name="Shape 40"/>
          <p:cNvSpPr/>
          <p:nvPr/>
        </p:nvSpPr>
        <p:spPr>
          <a:xfrm>
            <a:off x="8229600" y="2560320"/>
            <a:ext cx="3657600" cy="54864"/>
          </a:xfrm>
          <a:prstGeom prst="rect">
            <a:avLst/>
          </a:prstGeom>
          <a:solidFill>
            <a:srgbClr val="1F3864"/>
          </a:solidFill>
          <a:ln/>
        </p:spPr>
      </p:sp>
      <p:sp>
        <p:nvSpPr>
          <p:cNvPr id="43" name="Text 41"/>
          <p:cNvSpPr/>
          <p:nvPr/>
        </p:nvSpPr>
        <p:spPr>
          <a:xfrm>
            <a:off x="8366760" y="2706624"/>
            <a:ext cx="3429000" cy="256032"/>
          </a:xfrm>
          <a:prstGeom prst="rect">
            <a:avLst/>
          </a:prstGeom>
          <a:noFill/>
          <a:ln/>
        </p:spPr>
        <p:txBody>
          <a:bodyPr wrap="square" rtlCol="0" anchor="ctr"/>
          <a:lstStyle/>
          <a:p>
            <a:pPr marL="0" indent="0">
              <a:buNone/>
            </a:pPr>
            <a:r>
              <a:rPr lang="en-US" sz="1400" b="1" dirty="0">
                <a:solidFill>
                  <a:srgbClr val="2E75B6"/>
                </a:solidFill>
              </a:rPr>
              <a:t>Proof Required</a:t>
            </a:r>
            <a:endParaRPr lang="en-US" sz="1400" dirty="0"/>
          </a:p>
        </p:txBody>
      </p:sp>
      <p:sp>
        <p:nvSpPr>
          <p:cNvPr id="44" name="Text 42"/>
          <p:cNvSpPr/>
          <p:nvPr/>
        </p:nvSpPr>
        <p:spPr>
          <a:xfrm>
            <a:off x="8366760" y="3017520"/>
            <a:ext cx="3429000" cy="1920240"/>
          </a:xfrm>
          <a:prstGeom prst="rect">
            <a:avLst/>
          </a:prstGeom>
          <a:noFill/>
          <a:ln/>
        </p:spPr>
        <p:txBody>
          <a:bodyPr wrap="square" rtlCol="0" anchor="ctr"/>
          <a:lstStyle/>
          <a:p>
            <a:pPr marL="0" indent="0">
              <a:buNone/>
            </a:pPr>
            <a:r>
              <a:rPr lang="en-US" sz="1150" dirty="0">
                <a:solidFill>
                  <a:srgbClr val="595959"/>
                </a:solidFill>
              </a:rPr>
              <a:t>• Input: 'Software Engineer' resume PDF + JD text</a:t>
            </a:r>
            <a:endParaRPr lang="en-US" sz="1150" dirty="0"/>
          </a:p>
          <a:p>
            <a:pPr marL="0" indent="0">
              <a:buNone/>
            </a:pPr>
            <a:r>
              <a:rPr lang="en-US" sz="1150" dirty="0">
                <a:solidFill>
                  <a:srgbClr val="595959"/>
                </a:solidFill>
              </a:rPr>
              <a:t>• Output: {match_score:72, missing:["Docker","K8s","CI/CD"]}</a:t>
            </a:r>
            <a:endParaRPr lang="en-US" sz="1150" dirty="0"/>
          </a:p>
          <a:p>
            <a:pPr marL="0" indent="0">
              <a:buNone/>
            </a:pPr>
            <a:r>
              <a:rPr lang="en-US" sz="1150" dirty="0">
                <a:solidFill>
                  <a:srgbClr val="595959"/>
                </a:solidFill>
              </a:rPr>
              <a:t>• Insight: candidate is 72% matched; Docker is the highest-impact missing skill to close gap to 85%</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9728"/>
          </a:xfrm>
          <a:prstGeom prst="rect">
            <a:avLst/>
          </a:prstGeom>
          <a:solidFill>
            <a:srgbClr val="1F3864"/>
          </a:solidFill>
          <a:ln/>
        </p:spPr>
      </p:sp>
      <p:sp>
        <p:nvSpPr>
          <p:cNvPr id="3" name="Text 1"/>
          <p:cNvSpPr/>
          <p:nvPr/>
        </p:nvSpPr>
        <p:spPr>
          <a:xfrm>
            <a:off x="4572000" y="9144"/>
            <a:ext cx="7159752" cy="128016"/>
          </a:xfrm>
          <a:prstGeom prst="rect">
            <a:avLst/>
          </a:prstGeom>
          <a:noFill/>
          <a:ln/>
        </p:spPr>
        <p:txBody>
          <a:bodyPr wrap="square" rtlCol="0" anchor="ctr"/>
          <a:lstStyle/>
          <a:p>
            <a:pPr marL="0" indent="0" algn="r">
              <a:buNone/>
            </a:pPr>
            <a:r>
              <a:rPr lang="en-US" sz="900" b="1" dirty="0">
                <a:solidFill>
                  <a:srgbClr val="1F3864"/>
                </a:solidFill>
              </a:rPr>
              <a:t>CSA15 | Cloud Computing and Big Data Analytics</a:t>
            </a:r>
            <a:endParaRPr lang="en-US" sz="900" dirty="0"/>
          </a:p>
        </p:txBody>
      </p:sp>
      <p:sp>
        <p:nvSpPr>
          <p:cNvPr id="4" name="Shape 2"/>
          <p:cNvSpPr/>
          <p:nvPr/>
        </p:nvSpPr>
        <p:spPr>
          <a:xfrm>
            <a:off x="0" y="6720840"/>
            <a:ext cx="12192000" cy="137160"/>
          </a:xfrm>
          <a:prstGeom prst="rect">
            <a:avLst/>
          </a:prstGeom>
          <a:solidFill>
            <a:srgbClr val="FFFFFF"/>
          </a:solidFill>
          <a:ln/>
        </p:spPr>
      </p:sp>
      <p:sp>
        <p:nvSpPr>
          <p:cNvPr id="5" name="Text 3"/>
          <p:cNvSpPr/>
          <p:nvPr/>
        </p:nvSpPr>
        <p:spPr>
          <a:xfrm>
            <a:off x="274320" y="6729984"/>
            <a:ext cx="8229600" cy="109728"/>
          </a:xfrm>
          <a:prstGeom prst="rect">
            <a:avLst/>
          </a:prstGeom>
          <a:noFill/>
          <a:ln/>
        </p:spPr>
        <p:txBody>
          <a:bodyPr wrap="square" rtlCol="0" anchor="ctr"/>
          <a:lstStyle/>
          <a:p>
            <a:pPr marL="0" indent="0">
              <a:buNone/>
            </a:pPr>
            <a:r>
              <a:rPr lang="en-US" sz="800" dirty="0">
                <a:solidFill>
                  <a:srgbClr val="595959"/>
                </a:solidFill>
              </a:rPr>
              <a:t>Individual student submission template | Department of Computer Science and Engineering</a:t>
            </a:r>
            <a:endParaRPr lang="en-US" sz="800" dirty="0"/>
          </a:p>
        </p:txBody>
      </p:sp>
      <p:sp>
        <p:nvSpPr>
          <p:cNvPr id="6" name="Text 4"/>
          <p:cNvSpPr/>
          <p:nvPr/>
        </p:nvSpPr>
        <p:spPr>
          <a:xfrm>
            <a:off x="10515600" y="6729984"/>
            <a:ext cx="1554480" cy="109728"/>
          </a:xfrm>
          <a:prstGeom prst="rect">
            <a:avLst/>
          </a:prstGeom>
          <a:noFill/>
          <a:ln/>
        </p:spPr>
        <p:txBody>
          <a:bodyPr wrap="square" rtlCol="0" anchor="ctr"/>
          <a:lstStyle/>
          <a:p>
            <a:pPr marL="0" indent="0" algn="r">
              <a:buNone/>
            </a:pPr>
            <a:r>
              <a:rPr lang="en-US" sz="800" b="1" dirty="0">
                <a:solidFill>
                  <a:srgbClr val="1F3864"/>
                </a:solidFill>
              </a:rPr>
              <a:t>CO1 AT3 | 07</a:t>
            </a:r>
            <a:endParaRPr lang="en-US" sz="800" dirty="0"/>
          </a:p>
        </p:txBody>
      </p:sp>
      <p:sp>
        <p:nvSpPr>
          <p:cNvPr id="7" name="Text 5"/>
          <p:cNvSpPr/>
          <p:nvPr/>
        </p:nvSpPr>
        <p:spPr>
          <a:xfrm>
            <a:off x="365760" y="201168"/>
            <a:ext cx="11430000" cy="502920"/>
          </a:xfrm>
          <a:prstGeom prst="rect">
            <a:avLst/>
          </a:prstGeom>
          <a:noFill/>
          <a:ln/>
        </p:spPr>
        <p:txBody>
          <a:bodyPr wrap="square" rtlCol="0" anchor="ctr"/>
          <a:lstStyle/>
          <a:p>
            <a:pPr marL="0" indent="0">
              <a:buNone/>
            </a:pPr>
            <a:r>
              <a:rPr lang="en-US" sz="2800" b="1" dirty="0">
                <a:solidFill>
                  <a:srgbClr val="1F3864"/>
                </a:solidFill>
              </a:rPr>
              <a:t>Python / AI Module Integration</a:t>
            </a:r>
            <a:endParaRPr lang="en-US" sz="2800" dirty="0"/>
          </a:p>
        </p:txBody>
      </p:sp>
      <p:sp>
        <p:nvSpPr>
          <p:cNvPr id="8" name="Text 6"/>
          <p:cNvSpPr/>
          <p:nvPr/>
        </p:nvSpPr>
        <p:spPr>
          <a:xfrm>
            <a:off x="365760" y="713232"/>
            <a:ext cx="9144000" cy="201168"/>
          </a:xfrm>
          <a:prstGeom prst="rect">
            <a:avLst/>
          </a:prstGeom>
          <a:noFill/>
          <a:ln/>
        </p:spPr>
        <p:txBody>
          <a:bodyPr wrap="square" rtlCol="0" anchor="ctr"/>
          <a:lstStyle/>
          <a:p>
            <a:pPr marL="0" indent="0">
              <a:buNone/>
            </a:pPr>
            <a:r>
              <a:rPr lang="en-US" sz="1400" dirty="0">
                <a:solidFill>
                  <a:srgbClr val="595959"/>
                </a:solidFill>
              </a:rPr>
              <a:t>Python or AI adds intelligence where the product needs it</a:t>
            </a:r>
            <a:endParaRPr lang="en-US" sz="1400" dirty="0"/>
          </a:p>
        </p:txBody>
      </p:sp>
      <p:sp>
        <p:nvSpPr>
          <p:cNvPr id="9" name="Shape 7"/>
          <p:cNvSpPr/>
          <p:nvPr/>
        </p:nvSpPr>
        <p:spPr>
          <a:xfrm>
            <a:off x="365760" y="1005840"/>
            <a:ext cx="5394960" cy="2011680"/>
          </a:xfrm>
          <a:prstGeom prst="rect">
            <a:avLst/>
          </a:prstGeom>
          <a:solidFill>
            <a:srgbClr val="EFF3F8"/>
          </a:solidFill>
          <a:ln w="12700">
            <a:solidFill>
              <a:srgbClr val="D0D8E4"/>
            </a:solidFill>
            <a:prstDash val="solid"/>
          </a:ln>
        </p:spPr>
      </p:sp>
      <p:sp>
        <p:nvSpPr>
          <p:cNvPr id="10" name="Shape 8"/>
          <p:cNvSpPr/>
          <p:nvPr/>
        </p:nvSpPr>
        <p:spPr>
          <a:xfrm>
            <a:off x="365760" y="1005840"/>
            <a:ext cx="54864" cy="2011680"/>
          </a:xfrm>
          <a:prstGeom prst="rect">
            <a:avLst/>
          </a:prstGeom>
          <a:solidFill>
            <a:srgbClr val="2E75B6"/>
          </a:solidFill>
          <a:ln/>
        </p:spPr>
      </p:sp>
      <p:sp>
        <p:nvSpPr>
          <p:cNvPr id="11" name="Text 9"/>
          <p:cNvSpPr/>
          <p:nvPr/>
        </p:nvSpPr>
        <p:spPr>
          <a:xfrm>
            <a:off x="493776" y="1170432"/>
            <a:ext cx="5212080" cy="256032"/>
          </a:xfrm>
          <a:prstGeom prst="rect">
            <a:avLst/>
          </a:prstGeom>
          <a:noFill/>
          <a:ln/>
        </p:spPr>
        <p:txBody>
          <a:bodyPr wrap="square" rtlCol="0" anchor="ctr"/>
          <a:lstStyle/>
          <a:p>
            <a:pPr marL="0" indent="0">
              <a:buNone/>
            </a:pPr>
            <a:r>
              <a:rPr lang="en-US" sz="1400" b="1" dirty="0">
                <a:solidFill>
                  <a:srgbClr val="2E75B6"/>
                </a:solidFill>
              </a:rPr>
              <a:t>Python Role</a:t>
            </a:r>
            <a:endParaRPr lang="en-US" sz="1400" dirty="0"/>
          </a:p>
        </p:txBody>
      </p:sp>
      <p:sp>
        <p:nvSpPr>
          <p:cNvPr id="12" name="Text 10"/>
          <p:cNvSpPr/>
          <p:nvPr/>
        </p:nvSpPr>
        <p:spPr>
          <a:xfrm>
            <a:off x="493776" y="1463040"/>
            <a:ext cx="5212080" cy="1463040"/>
          </a:xfrm>
          <a:prstGeom prst="rect">
            <a:avLst/>
          </a:prstGeom>
          <a:noFill/>
          <a:ln/>
        </p:spPr>
        <p:txBody>
          <a:bodyPr wrap="square" rtlCol="0" anchor="ctr"/>
          <a:lstStyle/>
          <a:p>
            <a:pPr marL="0" indent="0">
              <a:buNone/>
            </a:pPr>
            <a:r>
              <a:rPr lang="en-US" sz="1200" dirty="0">
                <a:solidFill>
                  <a:srgbClr val="595959"/>
                </a:solidFill>
              </a:rPr>
              <a:t>NLP skill extraction using spaCy Named Entity Recognition (NER). The Python Lambda function parses the resume PDF (pdfplumber), runs spaCy to extract SKILL entities from both resume and JD, computes set operations, and returns a JSON gap report. No human tagging — fully automated.</a:t>
            </a:r>
            <a:endParaRPr lang="en-US" sz="1200" dirty="0"/>
          </a:p>
        </p:txBody>
      </p:sp>
      <p:sp>
        <p:nvSpPr>
          <p:cNvPr id="13" name="Shape 11"/>
          <p:cNvSpPr/>
          <p:nvPr/>
        </p:nvSpPr>
        <p:spPr>
          <a:xfrm>
            <a:off x="6217920" y="1005840"/>
            <a:ext cx="5394960" cy="2011680"/>
          </a:xfrm>
          <a:prstGeom prst="rect">
            <a:avLst/>
          </a:prstGeom>
          <a:solidFill>
            <a:srgbClr val="EFF3F8"/>
          </a:solidFill>
          <a:ln w="12700">
            <a:solidFill>
              <a:srgbClr val="D0D8E4"/>
            </a:solidFill>
            <a:prstDash val="solid"/>
          </a:ln>
        </p:spPr>
      </p:sp>
      <p:sp>
        <p:nvSpPr>
          <p:cNvPr id="14" name="Shape 12"/>
          <p:cNvSpPr/>
          <p:nvPr/>
        </p:nvSpPr>
        <p:spPr>
          <a:xfrm>
            <a:off x="6217920" y="1005840"/>
            <a:ext cx="54864" cy="2011680"/>
          </a:xfrm>
          <a:prstGeom prst="rect">
            <a:avLst/>
          </a:prstGeom>
          <a:solidFill>
            <a:srgbClr val="C65911"/>
          </a:solidFill>
          <a:ln/>
        </p:spPr>
      </p:sp>
      <p:sp>
        <p:nvSpPr>
          <p:cNvPr id="15" name="Text 13"/>
          <p:cNvSpPr/>
          <p:nvPr/>
        </p:nvSpPr>
        <p:spPr>
          <a:xfrm>
            <a:off x="6345936" y="1170432"/>
            <a:ext cx="5212080" cy="256032"/>
          </a:xfrm>
          <a:prstGeom prst="rect">
            <a:avLst/>
          </a:prstGeom>
          <a:noFill/>
          <a:ln/>
        </p:spPr>
        <p:txBody>
          <a:bodyPr wrap="square" rtlCol="0" anchor="ctr"/>
          <a:lstStyle/>
          <a:p>
            <a:pPr marL="0" indent="0">
              <a:buNone/>
            </a:pPr>
            <a:r>
              <a:rPr lang="en-US" sz="1400" b="1" dirty="0">
                <a:solidFill>
                  <a:srgbClr val="C65911"/>
                </a:solidFill>
              </a:rPr>
              <a:t>Input and Output</a:t>
            </a:r>
            <a:endParaRPr lang="en-US" sz="1400" dirty="0"/>
          </a:p>
        </p:txBody>
      </p:sp>
      <p:sp>
        <p:nvSpPr>
          <p:cNvPr id="16" name="Text 14"/>
          <p:cNvSpPr/>
          <p:nvPr/>
        </p:nvSpPr>
        <p:spPr>
          <a:xfrm>
            <a:off x="6345936" y="1463040"/>
            <a:ext cx="5212080" cy="1463040"/>
          </a:xfrm>
          <a:prstGeom prst="rect">
            <a:avLst/>
          </a:prstGeom>
          <a:noFill/>
          <a:ln/>
        </p:spPr>
        <p:txBody>
          <a:bodyPr wrap="square" rtlCol="0" anchor="ctr"/>
          <a:lstStyle/>
          <a:p>
            <a:pPr marL="0" indent="0">
              <a:buNone/>
            </a:pPr>
            <a:r>
              <a:rPr lang="en-US" sz="1200" dirty="0">
                <a:solidFill>
                  <a:srgbClr val="595959"/>
                </a:solidFill>
              </a:rPr>
              <a:t>Input: {resume_text: "...", job_description: "..."}</a:t>
            </a:r>
            <a:endParaRPr lang="en-US" sz="1200" dirty="0"/>
          </a:p>
          <a:p>
            <a:pPr marL="0" indent="0">
              <a:buNone/>
            </a:pPr>
            <a:r>
              <a:rPr lang="en-US" sz="1200" dirty="0">
                <a:solidFill>
                  <a:srgbClr val="595959"/>
                </a:solidFill>
              </a:rPr>
              <a:t>Output: {</a:t>
            </a:r>
            <a:endParaRPr lang="en-US" sz="1200" dirty="0"/>
          </a:p>
          <a:p>
            <a:pPr marL="0" indent="0">
              <a:buNone/>
            </a:pPr>
            <a:r>
              <a:rPr lang="en-US" sz="1200" dirty="0">
                <a:solidFill>
                  <a:srgbClr val="595959"/>
                </a:solidFill>
              </a:rPr>
              <a:t>  match_score: 72,</a:t>
            </a:r>
            <a:endParaRPr lang="en-US" sz="1200" dirty="0"/>
          </a:p>
          <a:p>
            <a:pPr marL="0" indent="0">
              <a:buNone/>
            </a:pPr>
            <a:r>
              <a:rPr lang="en-US" sz="1200" dirty="0">
                <a:solidFill>
                  <a:srgbClr val="595959"/>
                </a:solidFill>
              </a:rPr>
              <a:t>  matched_skills: ["Python", "REST API", "SQL"],</a:t>
            </a:r>
            <a:endParaRPr lang="en-US" sz="1200" dirty="0"/>
          </a:p>
          <a:p>
            <a:pPr marL="0" indent="0">
              <a:buNone/>
            </a:pPr>
            <a:r>
              <a:rPr lang="en-US" sz="1200" dirty="0">
                <a:solidFill>
                  <a:srgbClr val="595959"/>
                </a:solidFill>
              </a:rPr>
              <a:t>  missing_skills: ["Docker", "Kubernetes", "CI/CD"],</a:t>
            </a:r>
            <a:endParaRPr lang="en-US" sz="1200" dirty="0"/>
          </a:p>
          <a:p>
            <a:pPr marL="0" indent="0">
              <a:buNone/>
            </a:pPr>
            <a:r>
              <a:rPr lang="en-US" sz="1200" dirty="0">
                <a:solidFill>
                  <a:srgbClr val="595959"/>
                </a:solidFill>
              </a:rPr>
              <a:t>  recommendations: ["Complete Docker fundamentals course"]</a:t>
            </a:r>
            <a:endParaRPr lang="en-US" sz="1200" dirty="0"/>
          </a:p>
          <a:p>
            <a:pPr marL="0" indent="0">
              <a:buNone/>
            </a:pPr>
            <a:r>
              <a:rPr lang="en-US" sz="1200" dirty="0">
                <a:solidFill>
                  <a:srgbClr val="595959"/>
                </a:solidFill>
              </a:rPr>
              <a:t>}</a:t>
            </a:r>
            <a:endParaRPr lang="en-US" sz="1200" dirty="0"/>
          </a:p>
        </p:txBody>
      </p:sp>
      <p:sp>
        <p:nvSpPr>
          <p:cNvPr id="17" name="Shape 15"/>
          <p:cNvSpPr/>
          <p:nvPr/>
        </p:nvSpPr>
        <p:spPr>
          <a:xfrm>
            <a:off x="365760" y="3200400"/>
            <a:ext cx="5394960" cy="2011680"/>
          </a:xfrm>
          <a:prstGeom prst="rect">
            <a:avLst/>
          </a:prstGeom>
          <a:solidFill>
            <a:srgbClr val="EFF3F8"/>
          </a:solidFill>
          <a:ln w="12700">
            <a:solidFill>
              <a:srgbClr val="D0D8E4"/>
            </a:solidFill>
            <a:prstDash val="solid"/>
          </a:ln>
        </p:spPr>
      </p:sp>
      <p:sp>
        <p:nvSpPr>
          <p:cNvPr id="18" name="Shape 16"/>
          <p:cNvSpPr/>
          <p:nvPr/>
        </p:nvSpPr>
        <p:spPr>
          <a:xfrm>
            <a:off x="365760" y="3200400"/>
            <a:ext cx="54864" cy="2011680"/>
          </a:xfrm>
          <a:prstGeom prst="rect">
            <a:avLst/>
          </a:prstGeom>
          <a:solidFill>
            <a:srgbClr val="217346"/>
          </a:solidFill>
          <a:ln/>
        </p:spPr>
      </p:sp>
      <p:sp>
        <p:nvSpPr>
          <p:cNvPr id="19" name="Text 17"/>
          <p:cNvSpPr/>
          <p:nvPr/>
        </p:nvSpPr>
        <p:spPr>
          <a:xfrm>
            <a:off x="493776" y="3364992"/>
            <a:ext cx="5212080" cy="256032"/>
          </a:xfrm>
          <a:prstGeom prst="rect">
            <a:avLst/>
          </a:prstGeom>
          <a:noFill/>
          <a:ln/>
        </p:spPr>
        <p:txBody>
          <a:bodyPr wrap="square" rtlCol="0" anchor="ctr"/>
          <a:lstStyle/>
          <a:p>
            <a:pPr marL="0" indent="0">
              <a:buNone/>
            </a:pPr>
            <a:r>
              <a:rPr lang="en-US" sz="1400" b="1" dirty="0">
                <a:solidFill>
                  <a:srgbClr val="217346"/>
                </a:solidFill>
              </a:rPr>
              <a:t>Execution Point</a:t>
            </a:r>
            <a:endParaRPr lang="en-US" sz="1400" dirty="0"/>
          </a:p>
        </p:txBody>
      </p:sp>
      <p:sp>
        <p:nvSpPr>
          <p:cNvPr id="20" name="Text 18"/>
          <p:cNvSpPr/>
          <p:nvPr/>
        </p:nvSpPr>
        <p:spPr>
          <a:xfrm>
            <a:off x="493776" y="3657600"/>
            <a:ext cx="5212080" cy="1463040"/>
          </a:xfrm>
          <a:prstGeom prst="rect">
            <a:avLst/>
          </a:prstGeom>
          <a:noFill/>
          <a:ln/>
        </p:spPr>
        <p:txBody>
          <a:bodyPr wrap="square" rtlCol="0" anchor="ctr"/>
          <a:lstStyle/>
          <a:p>
            <a:pPr marL="0" indent="0">
              <a:buNone/>
            </a:pPr>
            <a:r>
              <a:rPr lang="en-US" sz="1200" dirty="0">
                <a:solidFill>
                  <a:srgbClr val="595959"/>
                </a:solidFill>
              </a:rPr>
              <a:t>AWS Lambda (Python 3.11 runtime) triggered by POST /api/match via API Gateway. The spaCy NER model and pdfplumber library are packaged in a Docker container image (ECR) to handle the model size. Each invocation is isolated — no state between calls.</a:t>
            </a:r>
            <a:endParaRPr lang="en-US" sz="1200" dirty="0"/>
          </a:p>
        </p:txBody>
      </p:sp>
      <p:sp>
        <p:nvSpPr>
          <p:cNvPr id="21" name="Shape 19"/>
          <p:cNvSpPr/>
          <p:nvPr/>
        </p:nvSpPr>
        <p:spPr>
          <a:xfrm>
            <a:off x="6217920" y="3200400"/>
            <a:ext cx="5394960" cy="2011680"/>
          </a:xfrm>
          <a:prstGeom prst="rect">
            <a:avLst/>
          </a:prstGeom>
          <a:solidFill>
            <a:srgbClr val="EFF3F8"/>
          </a:solidFill>
          <a:ln w="12700">
            <a:solidFill>
              <a:srgbClr val="D0D8E4"/>
            </a:solidFill>
            <a:prstDash val="solid"/>
          </a:ln>
        </p:spPr>
      </p:sp>
      <p:sp>
        <p:nvSpPr>
          <p:cNvPr id="22" name="Shape 20"/>
          <p:cNvSpPr/>
          <p:nvPr/>
        </p:nvSpPr>
        <p:spPr>
          <a:xfrm>
            <a:off x="6217920" y="3200400"/>
            <a:ext cx="54864" cy="2011680"/>
          </a:xfrm>
          <a:prstGeom prst="rect">
            <a:avLst/>
          </a:prstGeom>
          <a:solidFill>
            <a:srgbClr val="6B2C91"/>
          </a:solidFill>
          <a:ln/>
        </p:spPr>
      </p:sp>
      <p:sp>
        <p:nvSpPr>
          <p:cNvPr id="23" name="Text 21"/>
          <p:cNvSpPr/>
          <p:nvPr/>
        </p:nvSpPr>
        <p:spPr>
          <a:xfrm>
            <a:off x="6345936" y="3364992"/>
            <a:ext cx="5212080" cy="256032"/>
          </a:xfrm>
          <a:prstGeom prst="rect">
            <a:avLst/>
          </a:prstGeom>
          <a:noFill/>
          <a:ln/>
        </p:spPr>
        <p:txBody>
          <a:bodyPr wrap="square" rtlCol="0" anchor="ctr"/>
          <a:lstStyle/>
          <a:p>
            <a:pPr marL="0" indent="0">
              <a:buNone/>
            </a:pPr>
            <a:r>
              <a:rPr lang="en-US" sz="1400" b="1" dirty="0">
                <a:solidFill>
                  <a:srgbClr val="6B2C91"/>
                </a:solidFill>
              </a:rPr>
              <a:t>Product Value</a:t>
            </a:r>
            <a:endParaRPr lang="en-US" sz="1400" dirty="0"/>
          </a:p>
        </p:txBody>
      </p:sp>
      <p:sp>
        <p:nvSpPr>
          <p:cNvPr id="24" name="Text 22"/>
          <p:cNvSpPr/>
          <p:nvPr/>
        </p:nvSpPr>
        <p:spPr>
          <a:xfrm>
            <a:off x="6345936" y="3657600"/>
            <a:ext cx="5212080" cy="1463040"/>
          </a:xfrm>
          <a:prstGeom prst="rect">
            <a:avLst/>
          </a:prstGeom>
          <a:noFill/>
          <a:ln/>
        </p:spPr>
        <p:txBody>
          <a:bodyPr wrap="square" rtlCol="0" anchor="ctr"/>
          <a:lstStyle/>
          <a:p>
            <a:pPr marL="0" indent="0">
              <a:buNone/>
            </a:pPr>
            <a:r>
              <a:rPr lang="en-US" sz="1200" dirty="0">
                <a:solidFill>
                  <a:srgbClr val="595959"/>
                </a:solidFill>
              </a:rPr>
              <a:t>Eliminates manual skill screening. A recruiter gets a ranked shortlist in &lt;2 seconds per resume. A candidate gets an exact list of missing skills with learning resource links — turning a rejection into an actionable upskilling roadmap rather than a dead end.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9728"/>
          </a:xfrm>
          <a:prstGeom prst="rect">
            <a:avLst/>
          </a:prstGeom>
          <a:solidFill>
            <a:srgbClr val="1F3864"/>
          </a:solidFill>
          <a:ln/>
        </p:spPr>
      </p:sp>
      <p:sp>
        <p:nvSpPr>
          <p:cNvPr id="3" name="Text 1"/>
          <p:cNvSpPr/>
          <p:nvPr/>
        </p:nvSpPr>
        <p:spPr>
          <a:xfrm>
            <a:off x="4572000" y="9144"/>
            <a:ext cx="7159752" cy="128016"/>
          </a:xfrm>
          <a:prstGeom prst="rect">
            <a:avLst/>
          </a:prstGeom>
          <a:noFill/>
          <a:ln/>
        </p:spPr>
        <p:txBody>
          <a:bodyPr wrap="square" rtlCol="0" anchor="ctr"/>
          <a:lstStyle/>
          <a:p>
            <a:pPr marL="0" indent="0" algn="r">
              <a:buNone/>
            </a:pPr>
            <a:r>
              <a:rPr lang="en-US" sz="900" b="1" dirty="0">
                <a:solidFill>
                  <a:srgbClr val="1F3864"/>
                </a:solidFill>
              </a:rPr>
              <a:t>CSA15 | Cloud Computing and Big Data Analytics</a:t>
            </a:r>
            <a:endParaRPr lang="en-US" sz="900" dirty="0"/>
          </a:p>
        </p:txBody>
      </p:sp>
      <p:sp>
        <p:nvSpPr>
          <p:cNvPr id="4" name="Shape 2"/>
          <p:cNvSpPr/>
          <p:nvPr/>
        </p:nvSpPr>
        <p:spPr>
          <a:xfrm>
            <a:off x="0" y="6720840"/>
            <a:ext cx="12192000" cy="137160"/>
          </a:xfrm>
          <a:prstGeom prst="rect">
            <a:avLst/>
          </a:prstGeom>
          <a:solidFill>
            <a:srgbClr val="FFFFFF"/>
          </a:solidFill>
          <a:ln/>
        </p:spPr>
      </p:sp>
      <p:sp>
        <p:nvSpPr>
          <p:cNvPr id="5" name="Text 3"/>
          <p:cNvSpPr/>
          <p:nvPr/>
        </p:nvSpPr>
        <p:spPr>
          <a:xfrm>
            <a:off x="274320" y="6729984"/>
            <a:ext cx="8229600" cy="109728"/>
          </a:xfrm>
          <a:prstGeom prst="rect">
            <a:avLst/>
          </a:prstGeom>
          <a:noFill/>
          <a:ln/>
        </p:spPr>
        <p:txBody>
          <a:bodyPr wrap="square" rtlCol="0" anchor="ctr"/>
          <a:lstStyle/>
          <a:p>
            <a:pPr marL="0" indent="0">
              <a:buNone/>
            </a:pPr>
            <a:r>
              <a:rPr lang="en-US" sz="800" dirty="0">
                <a:solidFill>
                  <a:srgbClr val="595959"/>
                </a:solidFill>
              </a:rPr>
              <a:t>Individual student submission template | Department of Computer Science and Engineering</a:t>
            </a:r>
            <a:endParaRPr lang="en-US" sz="800" dirty="0"/>
          </a:p>
        </p:txBody>
      </p:sp>
      <p:sp>
        <p:nvSpPr>
          <p:cNvPr id="6" name="Text 4"/>
          <p:cNvSpPr/>
          <p:nvPr/>
        </p:nvSpPr>
        <p:spPr>
          <a:xfrm>
            <a:off x="10515600" y="6729984"/>
            <a:ext cx="1554480" cy="109728"/>
          </a:xfrm>
          <a:prstGeom prst="rect">
            <a:avLst/>
          </a:prstGeom>
          <a:noFill/>
          <a:ln/>
        </p:spPr>
        <p:txBody>
          <a:bodyPr wrap="square" rtlCol="0" anchor="ctr"/>
          <a:lstStyle/>
          <a:p>
            <a:pPr marL="0" indent="0" algn="r">
              <a:buNone/>
            </a:pPr>
            <a:r>
              <a:rPr lang="en-US" sz="800" b="1" dirty="0">
                <a:solidFill>
                  <a:srgbClr val="1F3864"/>
                </a:solidFill>
              </a:rPr>
              <a:t>CO1 AT3 | 08</a:t>
            </a:r>
            <a:endParaRPr lang="en-US" sz="800" dirty="0"/>
          </a:p>
        </p:txBody>
      </p:sp>
      <p:sp>
        <p:nvSpPr>
          <p:cNvPr id="7" name="Text 5"/>
          <p:cNvSpPr/>
          <p:nvPr/>
        </p:nvSpPr>
        <p:spPr>
          <a:xfrm>
            <a:off x="365760" y="201168"/>
            <a:ext cx="11430000" cy="502920"/>
          </a:xfrm>
          <a:prstGeom prst="rect">
            <a:avLst/>
          </a:prstGeom>
          <a:noFill/>
          <a:ln/>
        </p:spPr>
        <p:txBody>
          <a:bodyPr wrap="square" rtlCol="0" anchor="ctr"/>
          <a:lstStyle/>
          <a:p>
            <a:pPr marL="0" indent="0">
              <a:buNone/>
            </a:pPr>
            <a:r>
              <a:rPr lang="en-US" sz="2800" b="1" dirty="0">
                <a:solidFill>
                  <a:srgbClr val="1F3864"/>
                </a:solidFill>
              </a:rPr>
              <a:t>Security, Scalability, Privacy and Cost Design</a:t>
            </a:r>
            <a:endParaRPr lang="en-US" sz="2800" dirty="0"/>
          </a:p>
        </p:txBody>
      </p:sp>
      <p:sp>
        <p:nvSpPr>
          <p:cNvPr id="8" name="Text 6"/>
          <p:cNvSpPr/>
          <p:nvPr/>
        </p:nvSpPr>
        <p:spPr>
          <a:xfrm>
            <a:off x="365760" y="713232"/>
            <a:ext cx="9144000" cy="201168"/>
          </a:xfrm>
          <a:prstGeom prst="rect">
            <a:avLst/>
          </a:prstGeom>
          <a:noFill/>
          <a:ln/>
        </p:spPr>
        <p:txBody>
          <a:bodyPr wrap="square" rtlCol="0" anchor="ctr"/>
          <a:lstStyle/>
          <a:p>
            <a:pPr marL="0" indent="0">
              <a:buNone/>
            </a:pPr>
            <a:r>
              <a:rPr lang="en-US" sz="1400" dirty="0">
                <a:solidFill>
                  <a:srgbClr val="595959"/>
                </a:solidFill>
              </a:rPr>
              <a:t>Security, scale, privacy and cost shape the final design</a:t>
            </a:r>
            <a:endParaRPr lang="en-US" sz="1400" dirty="0"/>
          </a:p>
        </p:txBody>
      </p:sp>
      <p:sp>
        <p:nvSpPr>
          <p:cNvPr id="9" name="Shape 7"/>
          <p:cNvSpPr/>
          <p:nvPr/>
        </p:nvSpPr>
        <p:spPr>
          <a:xfrm>
            <a:off x="365760" y="1005840"/>
            <a:ext cx="5394960" cy="2194560"/>
          </a:xfrm>
          <a:prstGeom prst="rect">
            <a:avLst/>
          </a:prstGeom>
          <a:solidFill>
            <a:srgbClr val="EFF3F8"/>
          </a:solidFill>
          <a:ln w="12700">
            <a:solidFill>
              <a:srgbClr val="D0D8E4"/>
            </a:solidFill>
            <a:prstDash val="solid"/>
          </a:ln>
        </p:spPr>
      </p:sp>
      <p:sp>
        <p:nvSpPr>
          <p:cNvPr id="10" name="Shape 8"/>
          <p:cNvSpPr/>
          <p:nvPr/>
        </p:nvSpPr>
        <p:spPr>
          <a:xfrm>
            <a:off x="365760" y="1005840"/>
            <a:ext cx="54864" cy="2194560"/>
          </a:xfrm>
          <a:prstGeom prst="rect">
            <a:avLst/>
          </a:prstGeom>
          <a:solidFill>
            <a:srgbClr val="C0392B"/>
          </a:solidFill>
          <a:ln/>
        </p:spPr>
      </p:sp>
      <p:sp>
        <p:nvSpPr>
          <p:cNvPr id="11" name="Text 9"/>
          <p:cNvSpPr/>
          <p:nvPr/>
        </p:nvSpPr>
        <p:spPr>
          <a:xfrm>
            <a:off x="493776" y="1170432"/>
            <a:ext cx="5212080" cy="256032"/>
          </a:xfrm>
          <a:prstGeom prst="rect">
            <a:avLst/>
          </a:prstGeom>
          <a:noFill/>
          <a:ln/>
        </p:spPr>
        <p:txBody>
          <a:bodyPr wrap="square" rtlCol="0" anchor="ctr"/>
          <a:lstStyle/>
          <a:p>
            <a:pPr marL="0" indent="0">
              <a:buNone/>
            </a:pPr>
            <a:r>
              <a:rPr lang="en-US" sz="1400" b="1" dirty="0">
                <a:solidFill>
                  <a:srgbClr val="C0392B"/>
                </a:solidFill>
              </a:rPr>
              <a:t>Security</a:t>
            </a:r>
            <a:endParaRPr lang="en-US" sz="1400" dirty="0"/>
          </a:p>
        </p:txBody>
      </p:sp>
      <p:sp>
        <p:nvSpPr>
          <p:cNvPr id="12" name="Text 10"/>
          <p:cNvSpPr/>
          <p:nvPr/>
        </p:nvSpPr>
        <p:spPr>
          <a:xfrm>
            <a:off x="493776" y="1463040"/>
            <a:ext cx="5212080" cy="1645920"/>
          </a:xfrm>
          <a:prstGeom prst="rect">
            <a:avLst/>
          </a:prstGeom>
          <a:noFill/>
          <a:ln/>
        </p:spPr>
        <p:txBody>
          <a:bodyPr wrap="square" rtlCol="0" anchor="ctr"/>
          <a:lstStyle/>
          <a:p>
            <a:pPr marL="0" indent="0">
              <a:buNone/>
            </a:pPr>
            <a:r>
              <a:rPr lang="en-US" sz="1200" dirty="0">
                <a:solidFill>
                  <a:srgbClr val="595959"/>
                </a:solidFill>
              </a:rPr>
              <a:t>• Authentication: AWS Cognito OAuth 2.0 — JWT on every API call; MFA for recruiter accounts</a:t>
            </a:r>
            <a:endParaRPr lang="en-US" sz="1200" dirty="0"/>
          </a:p>
          <a:p>
            <a:pPr marL="0" indent="0">
              <a:buNone/>
            </a:pPr>
            <a:r>
              <a:rPr lang="en-US" sz="1200" dirty="0">
                <a:solidFill>
                  <a:srgbClr val="595959"/>
                </a:solidFill>
              </a:rPr>
              <a:t>• Authorization: IAM execution role limits Lambda to S3 + DynamoDB only</a:t>
            </a:r>
            <a:endParaRPr lang="en-US" sz="1200" dirty="0"/>
          </a:p>
          <a:p>
            <a:pPr marL="0" indent="0">
              <a:buNone/>
            </a:pPr>
            <a:r>
              <a:rPr lang="en-US" sz="1200" dirty="0">
                <a:solidFill>
                  <a:srgbClr val="595959"/>
                </a:solidFill>
              </a:rPr>
              <a:t>• Validation: API GW schema validation rejects malformed requests</a:t>
            </a:r>
            <a:endParaRPr lang="en-US" sz="1200" dirty="0"/>
          </a:p>
          <a:p>
            <a:pPr marL="0" indent="0">
              <a:buNone/>
            </a:pPr>
            <a:r>
              <a:rPr lang="en-US" sz="1200" dirty="0">
                <a:solidFill>
                  <a:srgbClr val="595959"/>
                </a:solidFill>
              </a:rPr>
              <a:t>• Audit trail: CloudWatch logs every Lambda invocation with user_id tag</a:t>
            </a:r>
            <a:endParaRPr lang="en-US" sz="1200" dirty="0"/>
          </a:p>
        </p:txBody>
      </p:sp>
      <p:sp>
        <p:nvSpPr>
          <p:cNvPr id="13" name="Shape 11"/>
          <p:cNvSpPr/>
          <p:nvPr/>
        </p:nvSpPr>
        <p:spPr>
          <a:xfrm>
            <a:off x="6217920" y="1005840"/>
            <a:ext cx="5394960" cy="2194560"/>
          </a:xfrm>
          <a:prstGeom prst="rect">
            <a:avLst/>
          </a:prstGeom>
          <a:solidFill>
            <a:srgbClr val="EFF3F8"/>
          </a:solidFill>
          <a:ln w="12700">
            <a:solidFill>
              <a:srgbClr val="D0D8E4"/>
            </a:solidFill>
            <a:prstDash val="solid"/>
          </a:ln>
        </p:spPr>
      </p:sp>
      <p:sp>
        <p:nvSpPr>
          <p:cNvPr id="14" name="Shape 12"/>
          <p:cNvSpPr/>
          <p:nvPr/>
        </p:nvSpPr>
        <p:spPr>
          <a:xfrm>
            <a:off x="6217920" y="1005840"/>
            <a:ext cx="54864" cy="2194560"/>
          </a:xfrm>
          <a:prstGeom prst="rect">
            <a:avLst/>
          </a:prstGeom>
          <a:solidFill>
            <a:srgbClr val="1F3864"/>
          </a:solidFill>
          <a:ln/>
        </p:spPr>
      </p:sp>
      <p:sp>
        <p:nvSpPr>
          <p:cNvPr id="15" name="Text 13"/>
          <p:cNvSpPr/>
          <p:nvPr/>
        </p:nvSpPr>
        <p:spPr>
          <a:xfrm>
            <a:off x="6345936" y="1170432"/>
            <a:ext cx="5212080" cy="256032"/>
          </a:xfrm>
          <a:prstGeom prst="rect">
            <a:avLst/>
          </a:prstGeom>
          <a:noFill/>
          <a:ln/>
        </p:spPr>
        <p:txBody>
          <a:bodyPr wrap="square" rtlCol="0" anchor="ctr"/>
          <a:lstStyle/>
          <a:p>
            <a:pPr marL="0" indent="0">
              <a:buNone/>
            </a:pPr>
            <a:r>
              <a:rPr lang="en-US" sz="1400" b="1" dirty="0">
                <a:solidFill>
                  <a:srgbClr val="1F3864"/>
                </a:solidFill>
              </a:rPr>
              <a:t>Privacy</a:t>
            </a:r>
            <a:endParaRPr lang="en-US" sz="1400" dirty="0"/>
          </a:p>
        </p:txBody>
      </p:sp>
      <p:sp>
        <p:nvSpPr>
          <p:cNvPr id="16" name="Text 14"/>
          <p:cNvSpPr/>
          <p:nvPr/>
        </p:nvSpPr>
        <p:spPr>
          <a:xfrm>
            <a:off x="6345936" y="1463040"/>
            <a:ext cx="5212080" cy="1645920"/>
          </a:xfrm>
          <a:prstGeom prst="rect">
            <a:avLst/>
          </a:prstGeom>
          <a:noFill/>
          <a:ln/>
        </p:spPr>
        <p:txBody>
          <a:bodyPr wrap="square" rtlCol="0" anchor="ctr"/>
          <a:lstStyle/>
          <a:p>
            <a:pPr marL="0" indent="0">
              <a:buNone/>
            </a:pPr>
            <a:r>
              <a:rPr lang="en-US" sz="1200" dirty="0">
                <a:solidFill>
                  <a:srgbClr val="595959"/>
                </a:solidFill>
              </a:rPr>
              <a:t>• Resume PDFs are sensitive PII — stored in private S3 bucket (SSE-S3, public access blocked)</a:t>
            </a:r>
            <a:endParaRPr lang="en-US" sz="1200" dirty="0"/>
          </a:p>
          <a:p>
            <a:pPr marL="0" indent="0">
              <a:buNone/>
            </a:pPr>
            <a:r>
              <a:rPr lang="en-US" sz="1200" dirty="0">
                <a:solidFill>
                  <a:srgbClr val="595959"/>
                </a:solidFill>
              </a:rPr>
              <a:t>• S3 lifecycle rule: raw PDFs deleted after 90 days (GDPR compliance)</a:t>
            </a:r>
            <a:endParaRPr lang="en-US" sz="1200" dirty="0"/>
          </a:p>
          <a:p>
            <a:pPr marL="0" indent="0">
              <a:buNone/>
            </a:pPr>
            <a:r>
              <a:rPr lang="en-US" sz="1200" dirty="0">
                <a:solidFill>
                  <a:srgbClr val="595959"/>
                </a:solidFill>
              </a:rPr>
              <a:t>• Only the skill JSON (no personal text) is stored in DynamoDB</a:t>
            </a:r>
            <a:endParaRPr lang="en-US" sz="1200" dirty="0"/>
          </a:p>
          <a:p>
            <a:pPr marL="0" indent="0">
              <a:buNone/>
            </a:pPr>
            <a:r>
              <a:rPr lang="en-US" sz="1200" dirty="0">
                <a:solidFill>
                  <a:srgbClr val="595959"/>
                </a:solidFill>
              </a:rPr>
              <a:t>• Candidates can request deletion via DELETE /api/user/{id} endpoint</a:t>
            </a:r>
            <a:endParaRPr lang="en-US" sz="1200" dirty="0"/>
          </a:p>
        </p:txBody>
      </p:sp>
      <p:sp>
        <p:nvSpPr>
          <p:cNvPr id="17" name="Shape 15"/>
          <p:cNvSpPr/>
          <p:nvPr/>
        </p:nvSpPr>
        <p:spPr>
          <a:xfrm>
            <a:off x="365760" y="3383280"/>
            <a:ext cx="5394960" cy="2194560"/>
          </a:xfrm>
          <a:prstGeom prst="rect">
            <a:avLst/>
          </a:prstGeom>
          <a:solidFill>
            <a:srgbClr val="EFF3F8"/>
          </a:solidFill>
          <a:ln w="12700">
            <a:solidFill>
              <a:srgbClr val="D0D8E4"/>
            </a:solidFill>
            <a:prstDash val="solid"/>
          </a:ln>
        </p:spPr>
      </p:sp>
      <p:sp>
        <p:nvSpPr>
          <p:cNvPr id="18" name="Shape 16"/>
          <p:cNvSpPr/>
          <p:nvPr/>
        </p:nvSpPr>
        <p:spPr>
          <a:xfrm>
            <a:off x="365760" y="3383280"/>
            <a:ext cx="54864" cy="2194560"/>
          </a:xfrm>
          <a:prstGeom prst="rect">
            <a:avLst/>
          </a:prstGeom>
          <a:solidFill>
            <a:srgbClr val="217346"/>
          </a:solidFill>
          <a:ln/>
        </p:spPr>
      </p:sp>
      <p:sp>
        <p:nvSpPr>
          <p:cNvPr id="19" name="Text 17"/>
          <p:cNvSpPr/>
          <p:nvPr/>
        </p:nvSpPr>
        <p:spPr>
          <a:xfrm>
            <a:off x="493776" y="3547872"/>
            <a:ext cx="5212080" cy="256032"/>
          </a:xfrm>
          <a:prstGeom prst="rect">
            <a:avLst/>
          </a:prstGeom>
          <a:noFill/>
          <a:ln/>
        </p:spPr>
        <p:txBody>
          <a:bodyPr wrap="square" rtlCol="0" anchor="ctr"/>
          <a:lstStyle/>
          <a:p>
            <a:pPr marL="0" indent="0">
              <a:buNone/>
            </a:pPr>
            <a:r>
              <a:rPr lang="en-US" sz="1400" b="1" dirty="0">
                <a:solidFill>
                  <a:srgbClr val="217346"/>
                </a:solidFill>
              </a:rPr>
              <a:t>Scalability</a:t>
            </a:r>
            <a:endParaRPr lang="en-US" sz="1400" dirty="0"/>
          </a:p>
        </p:txBody>
      </p:sp>
      <p:sp>
        <p:nvSpPr>
          <p:cNvPr id="20" name="Text 18"/>
          <p:cNvSpPr/>
          <p:nvPr/>
        </p:nvSpPr>
        <p:spPr>
          <a:xfrm>
            <a:off x="493776" y="3840480"/>
            <a:ext cx="5212080" cy="1645920"/>
          </a:xfrm>
          <a:prstGeom prst="rect">
            <a:avLst/>
          </a:prstGeom>
          <a:noFill/>
          <a:ln/>
        </p:spPr>
        <p:txBody>
          <a:bodyPr wrap="square" rtlCol="0" anchor="ctr"/>
          <a:lstStyle/>
          <a:p>
            <a:pPr marL="0" indent="0">
              <a:buNone/>
            </a:pPr>
            <a:r>
              <a:rPr lang="en-US" sz="1200" dirty="0">
                <a:solidFill>
                  <a:srgbClr val="595959"/>
                </a:solidFill>
              </a:rPr>
              <a:t>• Lambda auto-scales to 500 concurrent NLP invocations — absorbs placement-season burst</a:t>
            </a:r>
            <a:endParaRPr lang="en-US" sz="1200" dirty="0"/>
          </a:p>
          <a:p>
            <a:pPr marL="0" indent="0">
              <a:buNone/>
            </a:pPr>
            <a:r>
              <a:rPr lang="en-US" sz="1200" dirty="0">
                <a:solidFill>
                  <a:srgbClr val="595959"/>
                </a:solidFill>
              </a:rPr>
              <a:t>• DynamoDB on-demand capacity — write throughput adjusts without any schema change</a:t>
            </a:r>
            <a:endParaRPr lang="en-US" sz="1200" dirty="0"/>
          </a:p>
          <a:p>
            <a:pPr marL="0" indent="0">
              <a:buNone/>
            </a:pPr>
            <a:r>
              <a:rPr lang="en-US" sz="1200" dirty="0">
                <a:solidFill>
                  <a:srgbClr val="595959"/>
                </a:solidFill>
              </a:rPr>
              <a:t>• CloudFront CDN — static React app served from edge nodes globally</a:t>
            </a:r>
            <a:endParaRPr lang="en-US" sz="1200" dirty="0"/>
          </a:p>
          <a:p>
            <a:pPr marL="0" indent="0">
              <a:buNone/>
            </a:pPr>
            <a:r>
              <a:rPr lang="en-US" sz="1200" dirty="0">
                <a:solidFill>
                  <a:srgbClr val="595959"/>
                </a:solidFill>
              </a:rPr>
              <a:t>• No redesign needed to grow from 50 students to 50,000 users</a:t>
            </a:r>
            <a:endParaRPr lang="en-US" sz="1200" dirty="0"/>
          </a:p>
        </p:txBody>
      </p:sp>
      <p:sp>
        <p:nvSpPr>
          <p:cNvPr id="21" name="Shape 19"/>
          <p:cNvSpPr/>
          <p:nvPr/>
        </p:nvSpPr>
        <p:spPr>
          <a:xfrm>
            <a:off x="6217920" y="3383280"/>
            <a:ext cx="5394960" cy="2194560"/>
          </a:xfrm>
          <a:prstGeom prst="rect">
            <a:avLst/>
          </a:prstGeom>
          <a:solidFill>
            <a:srgbClr val="EFF3F8"/>
          </a:solidFill>
          <a:ln w="12700">
            <a:solidFill>
              <a:srgbClr val="D0D8E4"/>
            </a:solidFill>
            <a:prstDash val="solid"/>
          </a:ln>
        </p:spPr>
      </p:sp>
      <p:sp>
        <p:nvSpPr>
          <p:cNvPr id="22" name="Shape 20"/>
          <p:cNvSpPr/>
          <p:nvPr/>
        </p:nvSpPr>
        <p:spPr>
          <a:xfrm>
            <a:off x="6217920" y="3383280"/>
            <a:ext cx="54864" cy="2194560"/>
          </a:xfrm>
          <a:prstGeom prst="rect">
            <a:avLst/>
          </a:prstGeom>
          <a:solidFill>
            <a:srgbClr val="C65911"/>
          </a:solidFill>
          <a:ln/>
        </p:spPr>
      </p:sp>
      <p:sp>
        <p:nvSpPr>
          <p:cNvPr id="23" name="Text 21"/>
          <p:cNvSpPr/>
          <p:nvPr/>
        </p:nvSpPr>
        <p:spPr>
          <a:xfrm>
            <a:off x="6345936" y="3547872"/>
            <a:ext cx="5212080" cy="256032"/>
          </a:xfrm>
          <a:prstGeom prst="rect">
            <a:avLst/>
          </a:prstGeom>
          <a:noFill/>
          <a:ln/>
        </p:spPr>
        <p:txBody>
          <a:bodyPr wrap="square" rtlCol="0" anchor="ctr"/>
          <a:lstStyle/>
          <a:p>
            <a:pPr marL="0" indent="0">
              <a:buNone/>
            </a:pPr>
            <a:r>
              <a:rPr lang="en-US" sz="1400" b="1" dirty="0">
                <a:solidFill>
                  <a:srgbClr val="C65911"/>
                </a:solidFill>
              </a:rPr>
              <a:t>Cost Awareness</a:t>
            </a:r>
            <a:endParaRPr lang="en-US" sz="1400" dirty="0"/>
          </a:p>
        </p:txBody>
      </p:sp>
      <p:sp>
        <p:nvSpPr>
          <p:cNvPr id="24" name="Text 22"/>
          <p:cNvSpPr/>
          <p:nvPr/>
        </p:nvSpPr>
        <p:spPr>
          <a:xfrm>
            <a:off x="6345936" y="3840480"/>
            <a:ext cx="5212080" cy="1645920"/>
          </a:xfrm>
          <a:prstGeom prst="rect">
            <a:avLst/>
          </a:prstGeom>
          <a:noFill/>
          <a:ln/>
        </p:spPr>
        <p:txBody>
          <a:bodyPr wrap="square" rtlCol="0" anchor="ctr"/>
          <a:lstStyle/>
          <a:p>
            <a:pPr marL="0" indent="0">
              <a:buNone/>
            </a:pPr>
            <a:r>
              <a:rPr lang="en-US" sz="1200" dirty="0">
                <a:solidFill>
                  <a:srgbClr val="595959"/>
                </a:solidFill>
              </a:rPr>
              <a:t>• Lambda: AWS free tier = 1M requests + 400K GB-s/month — entire pilot is free</a:t>
            </a:r>
            <a:endParaRPr lang="en-US" sz="1200" dirty="0"/>
          </a:p>
          <a:p>
            <a:pPr marL="0" indent="0">
              <a:buNone/>
            </a:pPr>
            <a:r>
              <a:rPr lang="en-US" sz="1200" dirty="0">
                <a:solidFill>
                  <a:srgbClr val="595959"/>
                </a:solidFill>
              </a:rPr>
              <a:t>• DynamoDB: 25 GB free storage; on-demand billing at $1.25/million writes</a:t>
            </a:r>
            <a:endParaRPr lang="en-US" sz="1200" dirty="0"/>
          </a:p>
          <a:p>
            <a:pPr marL="0" indent="0">
              <a:buNone/>
            </a:pPr>
            <a:r>
              <a:rPr lang="en-US" sz="1200" dirty="0">
                <a:solidFill>
                  <a:srgbClr val="595959"/>
                </a:solidFill>
              </a:rPr>
              <a:t>• S3: first 5 GB free; 90-day lifecycle keeps storage minimal</a:t>
            </a:r>
            <a:endParaRPr lang="en-US" sz="1200" dirty="0"/>
          </a:p>
          <a:p>
            <a:pPr marL="0" indent="0">
              <a:buNone/>
            </a:pPr>
            <a:r>
              <a:rPr lang="en-US" sz="1200" dirty="0">
                <a:solidFill>
                  <a:srgbClr val="595959"/>
                </a:solidFill>
              </a:rPr>
              <a:t>• Total estimated pilot cost: $0 under AWS free tier for ≤500 users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9728"/>
          </a:xfrm>
          <a:prstGeom prst="rect">
            <a:avLst/>
          </a:prstGeom>
          <a:solidFill>
            <a:srgbClr val="1F3864"/>
          </a:solidFill>
          <a:ln/>
        </p:spPr>
      </p:sp>
      <p:sp>
        <p:nvSpPr>
          <p:cNvPr id="3" name="Text 1"/>
          <p:cNvSpPr/>
          <p:nvPr/>
        </p:nvSpPr>
        <p:spPr>
          <a:xfrm>
            <a:off x="4572000" y="9144"/>
            <a:ext cx="7159752" cy="128016"/>
          </a:xfrm>
          <a:prstGeom prst="rect">
            <a:avLst/>
          </a:prstGeom>
          <a:noFill/>
          <a:ln/>
        </p:spPr>
        <p:txBody>
          <a:bodyPr wrap="square" rtlCol="0" anchor="ctr"/>
          <a:lstStyle/>
          <a:p>
            <a:pPr marL="0" indent="0" algn="r">
              <a:buNone/>
            </a:pPr>
            <a:r>
              <a:rPr lang="en-US" sz="900" b="1" dirty="0">
                <a:solidFill>
                  <a:srgbClr val="1F3864"/>
                </a:solidFill>
              </a:rPr>
              <a:t>CSA15 | Cloud Computing and Big Data Analytics</a:t>
            </a:r>
            <a:endParaRPr lang="en-US" sz="900" dirty="0"/>
          </a:p>
        </p:txBody>
      </p:sp>
      <p:sp>
        <p:nvSpPr>
          <p:cNvPr id="4" name="Shape 2"/>
          <p:cNvSpPr/>
          <p:nvPr/>
        </p:nvSpPr>
        <p:spPr>
          <a:xfrm>
            <a:off x="0" y="6720840"/>
            <a:ext cx="12192000" cy="137160"/>
          </a:xfrm>
          <a:prstGeom prst="rect">
            <a:avLst/>
          </a:prstGeom>
          <a:solidFill>
            <a:srgbClr val="FFFFFF"/>
          </a:solidFill>
          <a:ln/>
        </p:spPr>
      </p:sp>
      <p:sp>
        <p:nvSpPr>
          <p:cNvPr id="5" name="Text 3"/>
          <p:cNvSpPr/>
          <p:nvPr/>
        </p:nvSpPr>
        <p:spPr>
          <a:xfrm>
            <a:off x="274320" y="6729984"/>
            <a:ext cx="8229600" cy="109728"/>
          </a:xfrm>
          <a:prstGeom prst="rect">
            <a:avLst/>
          </a:prstGeom>
          <a:noFill/>
          <a:ln/>
        </p:spPr>
        <p:txBody>
          <a:bodyPr wrap="square" rtlCol="0" anchor="ctr"/>
          <a:lstStyle/>
          <a:p>
            <a:pPr marL="0" indent="0">
              <a:buNone/>
            </a:pPr>
            <a:r>
              <a:rPr lang="en-US" sz="800" dirty="0">
                <a:solidFill>
                  <a:srgbClr val="595959"/>
                </a:solidFill>
              </a:rPr>
              <a:t>Individual student submission template | Department of Computer Science and Engineering</a:t>
            </a:r>
            <a:endParaRPr lang="en-US" sz="800" dirty="0"/>
          </a:p>
        </p:txBody>
      </p:sp>
      <p:sp>
        <p:nvSpPr>
          <p:cNvPr id="6" name="Text 4"/>
          <p:cNvSpPr/>
          <p:nvPr/>
        </p:nvSpPr>
        <p:spPr>
          <a:xfrm>
            <a:off x="10515600" y="6729984"/>
            <a:ext cx="1554480" cy="109728"/>
          </a:xfrm>
          <a:prstGeom prst="rect">
            <a:avLst/>
          </a:prstGeom>
          <a:noFill/>
          <a:ln/>
        </p:spPr>
        <p:txBody>
          <a:bodyPr wrap="square" rtlCol="0" anchor="ctr"/>
          <a:lstStyle/>
          <a:p>
            <a:pPr marL="0" indent="0" algn="r">
              <a:buNone/>
            </a:pPr>
            <a:r>
              <a:rPr lang="en-US" sz="800" b="1" dirty="0">
                <a:solidFill>
                  <a:srgbClr val="1F3864"/>
                </a:solidFill>
              </a:rPr>
              <a:t>CO1 AT3 | 09</a:t>
            </a:r>
            <a:endParaRPr lang="en-US" sz="800" dirty="0"/>
          </a:p>
        </p:txBody>
      </p:sp>
      <p:sp>
        <p:nvSpPr>
          <p:cNvPr id="7" name="Text 5"/>
          <p:cNvSpPr/>
          <p:nvPr/>
        </p:nvSpPr>
        <p:spPr>
          <a:xfrm>
            <a:off x="365760" y="201168"/>
            <a:ext cx="11430000" cy="502920"/>
          </a:xfrm>
          <a:prstGeom prst="rect">
            <a:avLst/>
          </a:prstGeom>
          <a:noFill/>
          <a:ln/>
        </p:spPr>
        <p:txBody>
          <a:bodyPr wrap="square" rtlCol="0" anchor="ctr"/>
          <a:lstStyle/>
          <a:p>
            <a:pPr marL="0" indent="0">
              <a:buNone/>
            </a:pPr>
            <a:r>
              <a:rPr lang="en-US" sz="2800" b="1" dirty="0">
                <a:solidFill>
                  <a:srgbClr val="1F3864"/>
                </a:solidFill>
              </a:rPr>
              <a:t>Implementation Stack and Deployment Evidence</a:t>
            </a:r>
            <a:endParaRPr lang="en-US" sz="2800" dirty="0"/>
          </a:p>
        </p:txBody>
      </p:sp>
      <p:sp>
        <p:nvSpPr>
          <p:cNvPr id="8" name="Text 6"/>
          <p:cNvSpPr/>
          <p:nvPr/>
        </p:nvSpPr>
        <p:spPr>
          <a:xfrm>
            <a:off x="365760" y="713232"/>
            <a:ext cx="9144000" cy="201168"/>
          </a:xfrm>
          <a:prstGeom prst="rect">
            <a:avLst/>
          </a:prstGeom>
          <a:noFill/>
          <a:ln/>
        </p:spPr>
        <p:txBody>
          <a:bodyPr wrap="square" rtlCol="0" anchor="ctr"/>
          <a:lstStyle/>
          <a:p>
            <a:pPr marL="0" indent="0">
              <a:buNone/>
            </a:pPr>
            <a:r>
              <a:rPr lang="en-US" sz="1400" dirty="0">
                <a:solidFill>
                  <a:srgbClr val="595959"/>
                </a:solidFill>
              </a:rPr>
              <a:t>Our implementation stack shows how the design will be built</a:t>
            </a:r>
            <a:endParaRPr lang="en-US" sz="1400" dirty="0"/>
          </a:p>
        </p:txBody>
      </p:sp>
      <p:sp>
        <p:nvSpPr>
          <p:cNvPr id="9" name="Shape 7"/>
          <p:cNvSpPr/>
          <p:nvPr/>
        </p:nvSpPr>
        <p:spPr>
          <a:xfrm>
            <a:off x="365760" y="1005840"/>
            <a:ext cx="5394960" cy="2194560"/>
          </a:xfrm>
          <a:prstGeom prst="rect">
            <a:avLst/>
          </a:prstGeom>
          <a:solidFill>
            <a:srgbClr val="EFF3F8"/>
          </a:solidFill>
          <a:ln w="12700">
            <a:solidFill>
              <a:srgbClr val="D0D8E4"/>
            </a:solidFill>
            <a:prstDash val="solid"/>
          </a:ln>
        </p:spPr>
      </p:sp>
      <p:sp>
        <p:nvSpPr>
          <p:cNvPr id="10" name="Shape 8"/>
          <p:cNvSpPr/>
          <p:nvPr/>
        </p:nvSpPr>
        <p:spPr>
          <a:xfrm>
            <a:off x="365760" y="1005840"/>
            <a:ext cx="54864" cy="2194560"/>
          </a:xfrm>
          <a:prstGeom prst="rect">
            <a:avLst/>
          </a:prstGeom>
          <a:solidFill>
            <a:srgbClr val="2E75B6"/>
          </a:solidFill>
          <a:ln/>
        </p:spPr>
      </p:sp>
      <p:sp>
        <p:nvSpPr>
          <p:cNvPr id="11" name="Text 9"/>
          <p:cNvSpPr/>
          <p:nvPr/>
        </p:nvSpPr>
        <p:spPr>
          <a:xfrm>
            <a:off x="493776" y="1170432"/>
            <a:ext cx="5212080" cy="256032"/>
          </a:xfrm>
          <a:prstGeom prst="rect">
            <a:avLst/>
          </a:prstGeom>
          <a:noFill/>
          <a:ln/>
        </p:spPr>
        <p:txBody>
          <a:bodyPr wrap="square" rtlCol="0" anchor="ctr"/>
          <a:lstStyle/>
          <a:p>
            <a:pPr marL="0" indent="0">
              <a:buNone/>
            </a:pPr>
            <a:r>
              <a:rPr lang="en-US" sz="1400" b="1" dirty="0">
                <a:solidFill>
                  <a:srgbClr val="2E75B6"/>
                </a:solidFill>
              </a:rPr>
              <a:t>Mobile / Web Layer</a:t>
            </a:r>
            <a:endParaRPr lang="en-US" sz="1400" dirty="0"/>
          </a:p>
        </p:txBody>
      </p:sp>
      <p:sp>
        <p:nvSpPr>
          <p:cNvPr id="12" name="Text 10"/>
          <p:cNvSpPr/>
          <p:nvPr/>
        </p:nvSpPr>
        <p:spPr>
          <a:xfrm>
            <a:off x="493776" y="1463040"/>
            <a:ext cx="5212080" cy="1645920"/>
          </a:xfrm>
          <a:prstGeom prst="rect">
            <a:avLst/>
          </a:prstGeom>
          <a:noFill/>
          <a:ln/>
        </p:spPr>
        <p:txBody>
          <a:bodyPr wrap="square" rtlCol="0" anchor="ctr"/>
          <a:lstStyle/>
          <a:p>
            <a:pPr marL="0" indent="0">
              <a:buNone/>
            </a:pPr>
            <a:r>
              <a:rPr lang="en-US" sz="1200" dirty="0">
                <a:solidFill>
                  <a:srgbClr val="595959"/>
                </a:solidFill>
              </a:rPr>
              <a:t>• React.js SPA (TypeScript) hosted on AWS Amplify</a:t>
            </a:r>
            <a:endParaRPr lang="en-US" sz="1200" dirty="0"/>
          </a:p>
          <a:p>
            <a:pPr marL="0" indent="0">
              <a:buNone/>
            </a:pPr>
            <a:r>
              <a:rPr lang="en-US" sz="1200" dirty="0">
                <a:solidFill>
                  <a:srgbClr val="595959"/>
                </a:solidFill>
              </a:rPr>
              <a:t>• CloudFront CDN for global static asset delivery</a:t>
            </a:r>
            <a:endParaRPr lang="en-US" sz="1200" dirty="0"/>
          </a:p>
          <a:p>
            <a:pPr marL="0" indent="0">
              <a:buNone/>
            </a:pPr>
            <a:r>
              <a:rPr lang="en-US" sz="1200" dirty="0">
                <a:solidFill>
                  <a:srgbClr val="595959"/>
                </a:solidFill>
              </a:rPr>
              <a:t>• Amplify Auth SDK for Cognito login integration</a:t>
            </a:r>
            <a:endParaRPr lang="en-US" sz="1200" dirty="0"/>
          </a:p>
          <a:p>
            <a:pPr marL="0" indent="0">
              <a:buNone/>
            </a:pPr>
            <a:r>
              <a:rPr lang="en-US" sz="1200" dirty="0">
                <a:solidFill>
                  <a:srgbClr val="595959"/>
                </a:solidFill>
              </a:rPr>
              <a:t>• 3 screens: Upload Resume | Enter JD | View Skill-Gap Dashboard</a:t>
            </a:r>
            <a:endParaRPr lang="en-US" sz="1200" dirty="0"/>
          </a:p>
          <a:p>
            <a:pPr marL="0" indent="0">
              <a:buNone/>
            </a:pPr>
            <a:r>
              <a:rPr lang="en-US" sz="1200" dirty="0">
                <a:solidFill>
                  <a:srgbClr val="595959"/>
                </a:solidFill>
              </a:rPr>
              <a:t>• Recharts library for interactive gap bar chart</a:t>
            </a:r>
            <a:endParaRPr lang="en-US" sz="1200" dirty="0"/>
          </a:p>
        </p:txBody>
      </p:sp>
      <p:sp>
        <p:nvSpPr>
          <p:cNvPr id="13" name="Shape 11"/>
          <p:cNvSpPr/>
          <p:nvPr/>
        </p:nvSpPr>
        <p:spPr>
          <a:xfrm>
            <a:off x="6217920" y="1005840"/>
            <a:ext cx="5394960" cy="2194560"/>
          </a:xfrm>
          <a:prstGeom prst="rect">
            <a:avLst/>
          </a:prstGeom>
          <a:solidFill>
            <a:srgbClr val="EFF3F8"/>
          </a:solidFill>
          <a:ln w="12700">
            <a:solidFill>
              <a:srgbClr val="D0D8E4"/>
            </a:solidFill>
            <a:prstDash val="solid"/>
          </a:ln>
        </p:spPr>
      </p:sp>
      <p:sp>
        <p:nvSpPr>
          <p:cNvPr id="14" name="Shape 12"/>
          <p:cNvSpPr/>
          <p:nvPr/>
        </p:nvSpPr>
        <p:spPr>
          <a:xfrm>
            <a:off x="6217920" y="1005840"/>
            <a:ext cx="54864" cy="2194560"/>
          </a:xfrm>
          <a:prstGeom prst="rect">
            <a:avLst/>
          </a:prstGeom>
          <a:solidFill>
            <a:srgbClr val="217346"/>
          </a:solidFill>
          <a:ln/>
        </p:spPr>
      </p:sp>
      <p:sp>
        <p:nvSpPr>
          <p:cNvPr id="15" name="Text 13"/>
          <p:cNvSpPr/>
          <p:nvPr/>
        </p:nvSpPr>
        <p:spPr>
          <a:xfrm>
            <a:off x="6345936" y="1170432"/>
            <a:ext cx="5212080" cy="256032"/>
          </a:xfrm>
          <a:prstGeom prst="rect">
            <a:avLst/>
          </a:prstGeom>
          <a:noFill/>
          <a:ln/>
        </p:spPr>
        <p:txBody>
          <a:bodyPr wrap="square" rtlCol="0" anchor="ctr"/>
          <a:lstStyle/>
          <a:p>
            <a:pPr marL="0" indent="0">
              <a:buNone/>
            </a:pPr>
            <a:r>
              <a:rPr lang="en-US" sz="1400" b="1" dirty="0">
                <a:solidFill>
                  <a:srgbClr val="217346"/>
                </a:solidFill>
              </a:rPr>
              <a:t>Cloud Services</a:t>
            </a:r>
            <a:endParaRPr lang="en-US" sz="1400" dirty="0"/>
          </a:p>
        </p:txBody>
      </p:sp>
      <p:sp>
        <p:nvSpPr>
          <p:cNvPr id="16" name="Text 14"/>
          <p:cNvSpPr/>
          <p:nvPr/>
        </p:nvSpPr>
        <p:spPr>
          <a:xfrm>
            <a:off x="6345936" y="1463040"/>
            <a:ext cx="5212080" cy="1645920"/>
          </a:xfrm>
          <a:prstGeom prst="rect">
            <a:avLst/>
          </a:prstGeom>
          <a:noFill/>
          <a:ln/>
        </p:spPr>
        <p:txBody>
          <a:bodyPr wrap="square" rtlCol="0" anchor="ctr"/>
          <a:lstStyle/>
          <a:p>
            <a:pPr marL="0" indent="0">
              <a:buNone/>
            </a:pPr>
            <a:r>
              <a:rPr lang="en-US" sz="1200" dirty="0">
                <a:solidFill>
                  <a:srgbClr val="595959"/>
                </a:solidFill>
              </a:rPr>
              <a:t>• Compute: AWS Lambda (Python 3.11, Docker ECR image)</a:t>
            </a:r>
            <a:endParaRPr lang="en-US" sz="1200" dirty="0"/>
          </a:p>
          <a:p>
            <a:pPr marL="0" indent="0">
              <a:buNone/>
            </a:pPr>
            <a:r>
              <a:rPr lang="en-US" sz="1200" dirty="0">
                <a:solidFill>
                  <a:srgbClr val="595959"/>
                </a:solidFill>
              </a:rPr>
              <a:t>• API: API Gateway REST — rate limit 100 RPS/user</a:t>
            </a:r>
            <a:endParaRPr lang="en-US" sz="1200" dirty="0"/>
          </a:p>
          <a:p>
            <a:pPr marL="0" indent="0">
              <a:buNone/>
            </a:pPr>
            <a:r>
              <a:rPr lang="en-US" sz="1200" dirty="0">
                <a:solidFill>
                  <a:srgbClr val="595959"/>
                </a:solidFill>
              </a:rPr>
              <a:t>• Database: DynamoDB (SkillHireMatches table, on-demand)</a:t>
            </a:r>
            <a:endParaRPr lang="en-US" sz="1200" dirty="0"/>
          </a:p>
          <a:p>
            <a:pPr marL="0" indent="0">
              <a:buNone/>
            </a:pPr>
            <a:r>
              <a:rPr lang="en-US" sz="1200" dirty="0">
                <a:solidFill>
                  <a:srgbClr val="595959"/>
                </a:solidFill>
              </a:rPr>
              <a:t>• Storage: S3 private bucket (SSE-S3, 90-day lifecycle)</a:t>
            </a:r>
            <a:endParaRPr lang="en-US" sz="1200" dirty="0"/>
          </a:p>
          <a:p>
            <a:pPr marL="0" indent="0">
              <a:buNone/>
            </a:pPr>
            <a:r>
              <a:rPr lang="en-US" sz="1200" dirty="0">
                <a:solidFill>
                  <a:srgbClr val="595959"/>
                </a:solidFill>
              </a:rPr>
              <a:t>• Auth: Cognito User Pools | Monitor: CloudWatch + SNS</a:t>
            </a:r>
            <a:endParaRPr lang="en-US" sz="1200" dirty="0"/>
          </a:p>
        </p:txBody>
      </p:sp>
      <p:sp>
        <p:nvSpPr>
          <p:cNvPr id="17" name="Shape 15"/>
          <p:cNvSpPr/>
          <p:nvPr/>
        </p:nvSpPr>
        <p:spPr>
          <a:xfrm>
            <a:off x="365760" y="3383280"/>
            <a:ext cx="5394960" cy="2194560"/>
          </a:xfrm>
          <a:prstGeom prst="rect">
            <a:avLst/>
          </a:prstGeom>
          <a:solidFill>
            <a:srgbClr val="EFF3F8"/>
          </a:solidFill>
          <a:ln w="12700">
            <a:solidFill>
              <a:srgbClr val="D0D8E4"/>
            </a:solidFill>
            <a:prstDash val="solid"/>
          </a:ln>
        </p:spPr>
      </p:sp>
      <p:sp>
        <p:nvSpPr>
          <p:cNvPr id="18" name="Shape 16"/>
          <p:cNvSpPr/>
          <p:nvPr/>
        </p:nvSpPr>
        <p:spPr>
          <a:xfrm>
            <a:off x="365760" y="3383280"/>
            <a:ext cx="54864" cy="2194560"/>
          </a:xfrm>
          <a:prstGeom prst="rect">
            <a:avLst/>
          </a:prstGeom>
          <a:solidFill>
            <a:srgbClr val="107C41"/>
          </a:solidFill>
          <a:ln/>
        </p:spPr>
      </p:sp>
      <p:sp>
        <p:nvSpPr>
          <p:cNvPr id="19" name="Text 17"/>
          <p:cNvSpPr/>
          <p:nvPr/>
        </p:nvSpPr>
        <p:spPr>
          <a:xfrm>
            <a:off x="493776" y="3547872"/>
            <a:ext cx="5212080" cy="256032"/>
          </a:xfrm>
          <a:prstGeom prst="rect">
            <a:avLst/>
          </a:prstGeom>
          <a:noFill/>
          <a:ln/>
        </p:spPr>
        <p:txBody>
          <a:bodyPr wrap="square" rtlCol="0" anchor="ctr"/>
          <a:lstStyle/>
          <a:p>
            <a:pPr marL="0" indent="0">
              <a:buNone/>
            </a:pPr>
            <a:r>
              <a:rPr lang="en-US" sz="1400" b="1" dirty="0">
                <a:solidFill>
                  <a:srgbClr val="107C41"/>
                </a:solidFill>
              </a:rPr>
              <a:t>Evidence</a:t>
            </a:r>
            <a:endParaRPr lang="en-US" sz="1400" dirty="0"/>
          </a:p>
        </p:txBody>
      </p:sp>
      <p:sp>
        <p:nvSpPr>
          <p:cNvPr id="20" name="Text 18"/>
          <p:cNvSpPr/>
          <p:nvPr/>
        </p:nvSpPr>
        <p:spPr>
          <a:xfrm>
            <a:off x="493776" y="3840480"/>
            <a:ext cx="5212080" cy="1645920"/>
          </a:xfrm>
          <a:prstGeom prst="rect">
            <a:avLst/>
          </a:prstGeom>
          <a:noFill/>
          <a:ln/>
        </p:spPr>
        <p:txBody>
          <a:bodyPr wrap="square" rtlCol="0" anchor="ctr"/>
          <a:lstStyle/>
          <a:p>
            <a:pPr marL="0" indent="0">
              <a:buNone/>
            </a:pPr>
            <a:r>
              <a:rPr lang="en-US" sz="1200" dirty="0">
                <a:solidFill>
                  <a:srgbClr val="595959"/>
                </a:solidFill>
              </a:rPr>
              <a:t>• GitHub repo: CSA15-SkillHire-RegisterNumber</a:t>
            </a:r>
            <a:endParaRPr lang="en-US" sz="1200" dirty="0"/>
          </a:p>
          <a:p>
            <a:pPr marL="0" indent="0">
              <a:buNone/>
            </a:pPr>
            <a:r>
              <a:rPr lang="en-US" sz="1200" dirty="0">
                <a:solidFill>
                  <a:srgbClr val="595959"/>
                </a:solidFill>
              </a:rPr>
              <a:t>  — /lambda: NLP function code + requirements.txt</a:t>
            </a:r>
            <a:endParaRPr lang="en-US" sz="1200" dirty="0"/>
          </a:p>
          <a:p>
            <a:pPr marL="0" indent="0">
              <a:buNone/>
            </a:pPr>
            <a:r>
              <a:rPr lang="en-US" sz="1200" dirty="0">
                <a:solidFill>
                  <a:srgbClr val="595959"/>
                </a:solidFill>
              </a:rPr>
              <a:t>  — /frontend: React app</a:t>
            </a:r>
            <a:endParaRPr lang="en-US" sz="1200" dirty="0"/>
          </a:p>
          <a:p>
            <a:pPr marL="0" indent="0">
              <a:buNone/>
            </a:pPr>
            <a:r>
              <a:rPr lang="en-US" sz="1200" dirty="0">
                <a:solidFill>
                  <a:srgbClr val="595959"/>
                </a:solidFill>
              </a:rPr>
              <a:t>  — /docs: architecture diagram, API spec</a:t>
            </a:r>
            <a:endParaRPr lang="en-US" sz="1200" dirty="0"/>
          </a:p>
          <a:p>
            <a:pPr marL="0" indent="0">
              <a:buNone/>
            </a:pPr>
            <a:r>
              <a:rPr lang="en-US" sz="1200" dirty="0">
                <a:solidFill>
                  <a:srgbClr val="595959"/>
                </a:solidFill>
              </a:rPr>
              <a:t>• API test: Postman collection with POST /api/match sample</a:t>
            </a:r>
            <a:endParaRPr lang="en-US" sz="1200" dirty="0"/>
          </a:p>
          <a:p>
            <a:pPr marL="0" indent="0">
              <a:buNone/>
            </a:pPr>
            <a:r>
              <a:rPr lang="en-US" sz="1200" dirty="0">
                <a:solidFill>
                  <a:srgbClr val="595959"/>
                </a:solidFill>
              </a:rPr>
              <a:t>• CloudWatch log screenshot showing successful Lambda exec</a:t>
            </a:r>
            <a:endParaRPr lang="en-US" sz="1200" dirty="0"/>
          </a:p>
        </p:txBody>
      </p:sp>
      <p:sp>
        <p:nvSpPr>
          <p:cNvPr id="21" name="Shape 19"/>
          <p:cNvSpPr/>
          <p:nvPr/>
        </p:nvSpPr>
        <p:spPr>
          <a:xfrm>
            <a:off x="6217920" y="3383280"/>
            <a:ext cx="5394960" cy="2194560"/>
          </a:xfrm>
          <a:prstGeom prst="rect">
            <a:avLst/>
          </a:prstGeom>
          <a:solidFill>
            <a:srgbClr val="EFF3F8"/>
          </a:solidFill>
          <a:ln w="12700">
            <a:solidFill>
              <a:srgbClr val="D0D8E4"/>
            </a:solidFill>
            <a:prstDash val="solid"/>
          </a:ln>
        </p:spPr>
      </p:sp>
      <p:sp>
        <p:nvSpPr>
          <p:cNvPr id="22" name="Shape 20"/>
          <p:cNvSpPr/>
          <p:nvPr/>
        </p:nvSpPr>
        <p:spPr>
          <a:xfrm>
            <a:off x="6217920" y="3383280"/>
            <a:ext cx="54864" cy="2194560"/>
          </a:xfrm>
          <a:prstGeom prst="rect">
            <a:avLst/>
          </a:prstGeom>
          <a:solidFill>
            <a:srgbClr val="1F3864"/>
          </a:solidFill>
          <a:ln/>
        </p:spPr>
      </p:sp>
      <p:sp>
        <p:nvSpPr>
          <p:cNvPr id="23" name="Text 21"/>
          <p:cNvSpPr/>
          <p:nvPr/>
        </p:nvSpPr>
        <p:spPr>
          <a:xfrm>
            <a:off x="6345936" y="3547872"/>
            <a:ext cx="5212080" cy="256032"/>
          </a:xfrm>
          <a:prstGeom prst="rect">
            <a:avLst/>
          </a:prstGeom>
          <a:noFill/>
          <a:ln/>
        </p:spPr>
        <p:txBody>
          <a:bodyPr wrap="square" rtlCol="0" anchor="ctr"/>
          <a:lstStyle/>
          <a:p>
            <a:pPr marL="0" indent="0">
              <a:buNone/>
            </a:pPr>
            <a:r>
              <a:rPr lang="en-US" sz="1400" b="1" dirty="0">
                <a:solidFill>
                  <a:srgbClr val="1F3864"/>
                </a:solidFill>
              </a:rPr>
              <a:t>Version Control</a:t>
            </a:r>
            <a:endParaRPr lang="en-US" sz="1400" dirty="0"/>
          </a:p>
        </p:txBody>
      </p:sp>
      <p:sp>
        <p:nvSpPr>
          <p:cNvPr id="24" name="Text 22"/>
          <p:cNvSpPr/>
          <p:nvPr/>
        </p:nvSpPr>
        <p:spPr>
          <a:xfrm>
            <a:off x="6345936" y="3840480"/>
            <a:ext cx="5212080" cy="1645920"/>
          </a:xfrm>
          <a:prstGeom prst="rect">
            <a:avLst/>
          </a:prstGeom>
          <a:noFill/>
          <a:ln/>
        </p:spPr>
        <p:txBody>
          <a:bodyPr wrap="square" rtlCol="0" anchor="ctr"/>
          <a:lstStyle/>
          <a:p>
            <a:pPr marL="0" indent="0">
              <a:buNone/>
            </a:pPr>
            <a:r>
              <a:rPr lang="en-US" sz="1200" dirty="0">
                <a:solidFill>
                  <a:srgbClr val="595959"/>
                </a:solidFill>
              </a:rPr>
              <a:t>• main branch: production-ready Lambda + React code</a:t>
            </a:r>
            <a:endParaRPr lang="en-US" sz="1200" dirty="0"/>
          </a:p>
          <a:p>
            <a:pPr marL="0" indent="0">
              <a:buNone/>
            </a:pPr>
            <a:r>
              <a:rPr lang="en-US" sz="1200" dirty="0">
                <a:solidFill>
                  <a:srgbClr val="595959"/>
                </a:solidFill>
              </a:rPr>
              <a:t>• dev branch: active feature development</a:t>
            </a:r>
            <a:endParaRPr lang="en-US" sz="1200" dirty="0"/>
          </a:p>
          <a:p>
            <a:pPr marL="0" indent="0">
              <a:buNone/>
            </a:pPr>
            <a:r>
              <a:rPr lang="en-US" sz="1200" dirty="0">
                <a:solidFill>
                  <a:srgbClr val="595959"/>
                </a:solidFill>
              </a:rPr>
              <a:t>• Commits: meaningful messages per feature (e.g., 'Add spaCy NER skill extraction')</a:t>
            </a:r>
            <a:endParaRPr lang="en-US" sz="1200" dirty="0"/>
          </a:p>
          <a:p>
            <a:pPr marL="0" indent="0">
              <a:buNone/>
            </a:pPr>
            <a:r>
              <a:rPr lang="en-US" sz="1200" dirty="0">
                <a:solidFill>
                  <a:srgbClr val="595959"/>
                </a:solidFill>
              </a:rPr>
              <a:t>• README.md: setup guide, API endpoints, sample input/output</a:t>
            </a:r>
            <a:endParaRPr lang="en-US" sz="1200" dirty="0"/>
          </a:p>
          <a:p>
            <a:pPr marL="0" indent="0">
              <a:buNone/>
            </a:pPr>
            <a:r>
              <a:rPr lang="en-US" sz="1200" dirty="0">
                <a:solidFill>
                  <a:srgbClr val="595959"/>
                </a:solidFill>
              </a:rPr>
              <a:t>• GitHub Actions CI: runs pytest on every push</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9728"/>
          </a:xfrm>
          <a:prstGeom prst="rect">
            <a:avLst/>
          </a:prstGeom>
          <a:solidFill>
            <a:srgbClr val="1F3864"/>
          </a:solidFill>
          <a:ln/>
        </p:spPr>
      </p:sp>
      <p:sp>
        <p:nvSpPr>
          <p:cNvPr id="3" name="Text 1"/>
          <p:cNvSpPr/>
          <p:nvPr/>
        </p:nvSpPr>
        <p:spPr>
          <a:xfrm>
            <a:off x="4572000" y="9144"/>
            <a:ext cx="7159752" cy="128016"/>
          </a:xfrm>
          <a:prstGeom prst="rect">
            <a:avLst/>
          </a:prstGeom>
          <a:noFill/>
          <a:ln/>
        </p:spPr>
        <p:txBody>
          <a:bodyPr wrap="square" rtlCol="0" anchor="ctr"/>
          <a:lstStyle/>
          <a:p>
            <a:pPr marL="0" indent="0" algn="r">
              <a:buNone/>
            </a:pPr>
            <a:r>
              <a:rPr lang="en-US" sz="900" b="1" dirty="0">
                <a:solidFill>
                  <a:srgbClr val="1F3864"/>
                </a:solidFill>
              </a:rPr>
              <a:t>CSA15 | Cloud Computing and Big Data Analytics</a:t>
            </a:r>
            <a:endParaRPr lang="en-US" sz="900" dirty="0"/>
          </a:p>
        </p:txBody>
      </p:sp>
      <p:sp>
        <p:nvSpPr>
          <p:cNvPr id="4" name="Shape 2"/>
          <p:cNvSpPr/>
          <p:nvPr/>
        </p:nvSpPr>
        <p:spPr>
          <a:xfrm>
            <a:off x="0" y="6720840"/>
            <a:ext cx="12192000" cy="137160"/>
          </a:xfrm>
          <a:prstGeom prst="rect">
            <a:avLst/>
          </a:prstGeom>
          <a:solidFill>
            <a:srgbClr val="FFFFFF"/>
          </a:solidFill>
          <a:ln/>
        </p:spPr>
      </p:sp>
      <p:sp>
        <p:nvSpPr>
          <p:cNvPr id="5" name="Text 3"/>
          <p:cNvSpPr/>
          <p:nvPr/>
        </p:nvSpPr>
        <p:spPr>
          <a:xfrm>
            <a:off x="274320" y="6729984"/>
            <a:ext cx="8229600" cy="109728"/>
          </a:xfrm>
          <a:prstGeom prst="rect">
            <a:avLst/>
          </a:prstGeom>
          <a:noFill/>
          <a:ln/>
        </p:spPr>
        <p:txBody>
          <a:bodyPr wrap="square" rtlCol="0" anchor="ctr"/>
          <a:lstStyle/>
          <a:p>
            <a:pPr marL="0" indent="0">
              <a:buNone/>
            </a:pPr>
            <a:r>
              <a:rPr lang="en-US" sz="800" dirty="0">
                <a:solidFill>
                  <a:srgbClr val="595959"/>
                </a:solidFill>
              </a:rPr>
              <a:t>Individual student submission template | Department of Computer Science and Engineering</a:t>
            </a:r>
            <a:endParaRPr lang="en-US" sz="800" dirty="0"/>
          </a:p>
        </p:txBody>
      </p:sp>
      <p:sp>
        <p:nvSpPr>
          <p:cNvPr id="6" name="Text 4"/>
          <p:cNvSpPr/>
          <p:nvPr/>
        </p:nvSpPr>
        <p:spPr>
          <a:xfrm>
            <a:off x="10515600" y="6729984"/>
            <a:ext cx="1554480" cy="109728"/>
          </a:xfrm>
          <a:prstGeom prst="rect">
            <a:avLst/>
          </a:prstGeom>
          <a:noFill/>
          <a:ln/>
        </p:spPr>
        <p:txBody>
          <a:bodyPr wrap="square" rtlCol="0" anchor="ctr"/>
          <a:lstStyle/>
          <a:p>
            <a:pPr marL="0" indent="0" algn="r">
              <a:buNone/>
            </a:pPr>
            <a:r>
              <a:rPr lang="en-US" sz="800" b="1" dirty="0">
                <a:solidFill>
                  <a:srgbClr val="1F3864"/>
                </a:solidFill>
              </a:rPr>
              <a:t>CO1 AT3 | 10</a:t>
            </a:r>
            <a:endParaRPr lang="en-US" sz="800" dirty="0"/>
          </a:p>
        </p:txBody>
      </p:sp>
      <p:sp>
        <p:nvSpPr>
          <p:cNvPr id="7" name="Text 5"/>
          <p:cNvSpPr/>
          <p:nvPr/>
        </p:nvSpPr>
        <p:spPr>
          <a:xfrm>
            <a:off x="365760" y="201168"/>
            <a:ext cx="11430000" cy="502920"/>
          </a:xfrm>
          <a:prstGeom prst="rect">
            <a:avLst/>
          </a:prstGeom>
          <a:noFill/>
          <a:ln/>
        </p:spPr>
        <p:txBody>
          <a:bodyPr wrap="square" rtlCol="0" anchor="ctr"/>
          <a:lstStyle/>
          <a:p>
            <a:pPr marL="0" indent="0">
              <a:buNone/>
            </a:pPr>
            <a:r>
              <a:rPr lang="en-US" sz="2800" b="1" dirty="0">
                <a:solidFill>
                  <a:srgbClr val="1F3864"/>
                </a:solidFill>
              </a:rPr>
              <a:t>Demo Storyboard and User Journey</a:t>
            </a:r>
            <a:endParaRPr lang="en-US" sz="2800" dirty="0"/>
          </a:p>
        </p:txBody>
      </p:sp>
      <p:sp>
        <p:nvSpPr>
          <p:cNvPr id="8" name="Text 6"/>
          <p:cNvSpPr/>
          <p:nvPr/>
        </p:nvSpPr>
        <p:spPr>
          <a:xfrm>
            <a:off x="365760" y="713232"/>
            <a:ext cx="9144000" cy="201168"/>
          </a:xfrm>
          <a:prstGeom prst="rect">
            <a:avLst/>
          </a:prstGeom>
          <a:noFill/>
          <a:ln/>
        </p:spPr>
        <p:txBody>
          <a:bodyPr wrap="square" rtlCol="0" anchor="ctr"/>
          <a:lstStyle/>
          <a:p>
            <a:pPr marL="0" indent="0">
              <a:buNone/>
            </a:pPr>
            <a:r>
              <a:rPr lang="en-US" sz="1400" dirty="0">
                <a:solidFill>
                  <a:srgbClr val="595959"/>
                </a:solidFill>
              </a:rPr>
              <a:t>A complete user journey proves the product flow</a:t>
            </a:r>
            <a:endParaRPr lang="en-US" sz="1400" dirty="0"/>
          </a:p>
        </p:txBody>
      </p:sp>
      <p:sp>
        <p:nvSpPr>
          <p:cNvPr id="9" name="Shape 7"/>
          <p:cNvSpPr/>
          <p:nvPr/>
        </p:nvSpPr>
        <p:spPr>
          <a:xfrm>
            <a:off x="320040" y="1005840"/>
            <a:ext cx="3749040" cy="2377440"/>
          </a:xfrm>
          <a:prstGeom prst="rect">
            <a:avLst/>
          </a:prstGeom>
          <a:solidFill>
            <a:srgbClr val="EFF3F8"/>
          </a:solidFill>
          <a:ln w="12700">
            <a:solidFill>
              <a:srgbClr val="C8D4E8"/>
            </a:solidFill>
            <a:prstDash val="solid"/>
          </a:ln>
        </p:spPr>
      </p:sp>
      <p:sp>
        <p:nvSpPr>
          <p:cNvPr id="10" name="Shape 8"/>
          <p:cNvSpPr/>
          <p:nvPr/>
        </p:nvSpPr>
        <p:spPr>
          <a:xfrm>
            <a:off x="320040" y="1005840"/>
            <a:ext cx="3749040" cy="36576"/>
          </a:xfrm>
          <a:prstGeom prst="rect">
            <a:avLst/>
          </a:prstGeom>
          <a:solidFill>
            <a:srgbClr val="1F3864"/>
          </a:solidFill>
          <a:ln/>
        </p:spPr>
      </p:sp>
      <p:sp>
        <p:nvSpPr>
          <p:cNvPr id="11" name="Text 9"/>
          <p:cNvSpPr/>
          <p:nvPr/>
        </p:nvSpPr>
        <p:spPr>
          <a:xfrm>
            <a:off x="429768" y="1097280"/>
            <a:ext cx="3566160" cy="201168"/>
          </a:xfrm>
          <a:prstGeom prst="rect">
            <a:avLst/>
          </a:prstGeom>
          <a:noFill/>
          <a:ln/>
        </p:spPr>
        <p:txBody>
          <a:bodyPr wrap="square" rtlCol="0" anchor="ctr"/>
          <a:lstStyle/>
          <a:p>
            <a:pPr marL="0" indent="0">
              <a:buNone/>
            </a:pPr>
            <a:r>
              <a:rPr lang="en-US" sz="1000" dirty="0">
                <a:solidFill>
                  <a:srgbClr val="595959"/>
                </a:solidFill>
              </a:rPr>
              <a:t>Scene 1</a:t>
            </a:r>
            <a:endParaRPr lang="en-US" sz="1000" dirty="0"/>
          </a:p>
        </p:txBody>
      </p:sp>
      <p:sp>
        <p:nvSpPr>
          <p:cNvPr id="12" name="Text 10"/>
          <p:cNvSpPr/>
          <p:nvPr/>
        </p:nvSpPr>
        <p:spPr>
          <a:xfrm>
            <a:off x="429768" y="1298448"/>
            <a:ext cx="3566160" cy="256032"/>
          </a:xfrm>
          <a:prstGeom prst="rect">
            <a:avLst/>
          </a:prstGeom>
          <a:noFill/>
          <a:ln/>
        </p:spPr>
        <p:txBody>
          <a:bodyPr wrap="square" rtlCol="0" anchor="ctr"/>
          <a:lstStyle/>
          <a:p>
            <a:pPr marL="0" indent="0">
              <a:buNone/>
            </a:pPr>
            <a:r>
              <a:rPr lang="en-US" sz="1300" b="1" dirty="0">
                <a:solidFill>
                  <a:srgbClr val="2E75B6"/>
                </a:solidFill>
              </a:rPr>
              <a:t>Candidate Login</a:t>
            </a:r>
            <a:endParaRPr lang="en-US" sz="1300" dirty="0"/>
          </a:p>
        </p:txBody>
      </p:sp>
      <p:sp>
        <p:nvSpPr>
          <p:cNvPr id="13" name="Text 11"/>
          <p:cNvSpPr/>
          <p:nvPr/>
        </p:nvSpPr>
        <p:spPr>
          <a:xfrm>
            <a:off x="429768" y="1600200"/>
            <a:ext cx="3566160" cy="1645920"/>
          </a:xfrm>
          <a:prstGeom prst="rect">
            <a:avLst/>
          </a:prstGeom>
          <a:noFill/>
          <a:ln/>
        </p:spPr>
        <p:txBody>
          <a:bodyPr wrap="square" rtlCol="0" anchor="ctr"/>
          <a:lstStyle/>
          <a:p>
            <a:pPr marL="0" indent="0">
              <a:buNone/>
            </a:pPr>
            <a:r>
              <a:rPr lang="en-US" sz="1000" dirty="0">
                <a:solidFill>
                  <a:srgbClr val="595959"/>
                </a:solidFill>
              </a:rPr>
              <a:t>User opens SkillHire URL → clicks Login → Cognito hosted UI → enters credentials → JWT issued.</a:t>
            </a:r>
            <a:endParaRPr lang="en-US" sz="1000" dirty="0"/>
          </a:p>
          <a:p>
            <a:pPr marL="0" indent="0">
              <a:buNone/>
            </a:pPr>
            <a:r>
              <a:rPr lang="en-US" sz="1000" dirty="0">
                <a:solidFill>
                  <a:srgbClr val="595959"/>
                </a:solidFill>
              </a:rPr>
              <a:t>☁ Cloud: Cognito User Pool authenticates; JWT returned to React app.</a:t>
            </a:r>
            <a:endParaRPr lang="en-US" sz="1000" dirty="0"/>
          </a:p>
        </p:txBody>
      </p:sp>
      <p:sp>
        <p:nvSpPr>
          <p:cNvPr id="14" name="Shape 12"/>
          <p:cNvSpPr/>
          <p:nvPr/>
        </p:nvSpPr>
        <p:spPr>
          <a:xfrm>
            <a:off x="4279392" y="1005840"/>
            <a:ext cx="3749040" cy="2377440"/>
          </a:xfrm>
          <a:prstGeom prst="rect">
            <a:avLst/>
          </a:prstGeom>
          <a:solidFill>
            <a:srgbClr val="EFF3F8"/>
          </a:solidFill>
          <a:ln w="12700">
            <a:solidFill>
              <a:srgbClr val="C8D4E8"/>
            </a:solidFill>
            <a:prstDash val="solid"/>
          </a:ln>
        </p:spPr>
      </p:sp>
      <p:sp>
        <p:nvSpPr>
          <p:cNvPr id="15" name="Shape 13"/>
          <p:cNvSpPr/>
          <p:nvPr/>
        </p:nvSpPr>
        <p:spPr>
          <a:xfrm>
            <a:off x="4279392" y="1005840"/>
            <a:ext cx="3749040" cy="36576"/>
          </a:xfrm>
          <a:prstGeom prst="rect">
            <a:avLst/>
          </a:prstGeom>
          <a:solidFill>
            <a:srgbClr val="1F3864"/>
          </a:solidFill>
          <a:ln/>
        </p:spPr>
      </p:sp>
      <p:sp>
        <p:nvSpPr>
          <p:cNvPr id="16" name="Text 14"/>
          <p:cNvSpPr/>
          <p:nvPr/>
        </p:nvSpPr>
        <p:spPr>
          <a:xfrm>
            <a:off x="4389120" y="1097280"/>
            <a:ext cx="3566160" cy="201168"/>
          </a:xfrm>
          <a:prstGeom prst="rect">
            <a:avLst/>
          </a:prstGeom>
          <a:noFill/>
          <a:ln/>
        </p:spPr>
        <p:txBody>
          <a:bodyPr wrap="square" rtlCol="0" anchor="ctr"/>
          <a:lstStyle/>
          <a:p>
            <a:pPr marL="0" indent="0">
              <a:buNone/>
            </a:pPr>
            <a:r>
              <a:rPr lang="en-US" sz="1000" dirty="0">
                <a:solidFill>
                  <a:srgbClr val="595959"/>
                </a:solidFill>
              </a:rPr>
              <a:t>Scene 2</a:t>
            </a:r>
            <a:endParaRPr lang="en-US" sz="1000" dirty="0"/>
          </a:p>
        </p:txBody>
      </p:sp>
      <p:sp>
        <p:nvSpPr>
          <p:cNvPr id="17" name="Text 15"/>
          <p:cNvSpPr/>
          <p:nvPr/>
        </p:nvSpPr>
        <p:spPr>
          <a:xfrm>
            <a:off x="4389120" y="1298448"/>
            <a:ext cx="3566160" cy="256032"/>
          </a:xfrm>
          <a:prstGeom prst="rect">
            <a:avLst/>
          </a:prstGeom>
          <a:noFill/>
          <a:ln/>
        </p:spPr>
        <p:txBody>
          <a:bodyPr wrap="square" rtlCol="0" anchor="ctr"/>
          <a:lstStyle/>
          <a:p>
            <a:pPr marL="0" indent="0">
              <a:buNone/>
            </a:pPr>
            <a:r>
              <a:rPr lang="en-US" sz="1300" b="1" dirty="0">
                <a:solidFill>
                  <a:srgbClr val="2E75B6"/>
                </a:solidFill>
              </a:rPr>
              <a:t>Resume Upload</a:t>
            </a:r>
            <a:endParaRPr lang="en-US" sz="1300" dirty="0"/>
          </a:p>
        </p:txBody>
      </p:sp>
      <p:sp>
        <p:nvSpPr>
          <p:cNvPr id="18" name="Text 16"/>
          <p:cNvSpPr/>
          <p:nvPr/>
        </p:nvSpPr>
        <p:spPr>
          <a:xfrm>
            <a:off x="4389120" y="1600200"/>
            <a:ext cx="3566160" cy="1645920"/>
          </a:xfrm>
          <a:prstGeom prst="rect">
            <a:avLst/>
          </a:prstGeom>
          <a:noFill/>
          <a:ln/>
        </p:spPr>
        <p:txBody>
          <a:bodyPr wrap="square" rtlCol="0" anchor="ctr"/>
          <a:lstStyle/>
          <a:p>
            <a:pPr marL="0" indent="0">
              <a:buNone/>
            </a:pPr>
            <a:r>
              <a:rPr lang="en-US" sz="1000" dirty="0">
                <a:solidFill>
                  <a:srgbClr val="595959"/>
                </a:solidFill>
              </a:rPr>
              <a:t>User drags PDF to Upload screen → React sends POST /api/upload with JWT header → API GW validates token → Lambda parses PDF → S3 stores file → upload_id returned.</a:t>
            </a:r>
            <a:endParaRPr lang="en-US" sz="1000" dirty="0"/>
          </a:p>
          <a:p>
            <a:pPr marL="0" indent="0">
              <a:buNone/>
            </a:pPr>
            <a:r>
              <a:rPr lang="en-US" sz="1000" dirty="0">
                <a:solidFill>
                  <a:srgbClr val="595959"/>
                </a:solidFill>
              </a:rPr>
              <a:t>☁ Cloud: API Gateway + Lambda + S3.</a:t>
            </a:r>
            <a:endParaRPr lang="en-US" sz="1000" dirty="0"/>
          </a:p>
        </p:txBody>
      </p:sp>
      <p:sp>
        <p:nvSpPr>
          <p:cNvPr id="19" name="Shape 17"/>
          <p:cNvSpPr/>
          <p:nvPr/>
        </p:nvSpPr>
        <p:spPr>
          <a:xfrm>
            <a:off x="8238744" y="1005840"/>
            <a:ext cx="3749040" cy="2377440"/>
          </a:xfrm>
          <a:prstGeom prst="rect">
            <a:avLst/>
          </a:prstGeom>
          <a:solidFill>
            <a:srgbClr val="EFF3F8"/>
          </a:solidFill>
          <a:ln w="12700">
            <a:solidFill>
              <a:srgbClr val="C8D4E8"/>
            </a:solidFill>
            <a:prstDash val="solid"/>
          </a:ln>
        </p:spPr>
      </p:sp>
      <p:sp>
        <p:nvSpPr>
          <p:cNvPr id="20" name="Shape 18"/>
          <p:cNvSpPr/>
          <p:nvPr/>
        </p:nvSpPr>
        <p:spPr>
          <a:xfrm>
            <a:off x="8238744" y="1005840"/>
            <a:ext cx="3749040" cy="36576"/>
          </a:xfrm>
          <a:prstGeom prst="rect">
            <a:avLst/>
          </a:prstGeom>
          <a:solidFill>
            <a:srgbClr val="1F3864"/>
          </a:solidFill>
          <a:ln/>
        </p:spPr>
      </p:sp>
      <p:sp>
        <p:nvSpPr>
          <p:cNvPr id="21" name="Text 19"/>
          <p:cNvSpPr/>
          <p:nvPr/>
        </p:nvSpPr>
        <p:spPr>
          <a:xfrm>
            <a:off x="8348472" y="1097280"/>
            <a:ext cx="3566160" cy="201168"/>
          </a:xfrm>
          <a:prstGeom prst="rect">
            <a:avLst/>
          </a:prstGeom>
          <a:noFill/>
          <a:ln/>
        </p:spPr>
        <p:txBody>
          <a:bodyPr wrap="square" rtlCol="0" anchor="ctr"/>
          <a:lstStyle/>
          <a:p>
            <a:pPr marL="0" indent="0">
              <a:buNone/>
            </a:pPr>
            <a:r>
              <a:rPr lang="en-US" sz="1000" dirty="0">
                <a:solidFill>
                  <a:srgbClr val="595959"/>
                </a:solidFill>
              </a:rPr>
              <a:t>Scene 3</a:t>
            </a:r>
            <a:endParaRPr lang="en-US" sz="1000" dirty="0"/>
          </a:p>
        </p:txBody>
      </p:sp>
      <p:sp>
        <p:nvSpPr>
          <p:cNvPr id="22" name="Text 20"/>
          <p:cNvSpPr/>
          <p:nvPr/>
        </p:nvSpPr>
        <p:spPr>
          <a:xfrm>
            <a:off x="8348472" y="1298448"/>
            <a:ext cx="3566160" cy="256032"/>
          </a:xfrm>
          <a:prstGeom prst="rect">
            <a:avLst/>
          </a:prstGeom>
          <a:noFill/>
          <a:ln/>
        </p:spPr>
        <p:txBody>
          <a:bodyPr wrap="square" rtlCol="0" anchor="ctr"/>
          <a:lstStyle/>
          <a:p>
            <a:pPr marL="0" indent="0">
              <a:buNone/>
            </a:pPr>
            <a:r>
              <a:rPr lang="en-US" sz="1300" b="1" dirty="0">
                <a:solidFill>
                  <a:srgbClr val="2E75B6"/>
                </a:solidFill>
              </a:rPr>
              <a:t>JD Input &amp; Match</a:t>
            </a:r>
            <a:endParaRPr lang="en-US" sz="1300" dirty="0"/>
          </a:p>
        </p:txBody>
      </p:sp>
      <p:sp>
        <p:nvSpPr>
          <p:cNvPr id="23" name="Text 21"/>
          <p:cNvSpPr/>
          <p:nvPr/>
        </p:nvSpPr>
        <p:spPr>
          <a:xfrm>
            <a:off x="8348472" y="1600200"/>
            <a:ext cx="3566160" cy="1645920"/>
          </a:xfrm>
          <a:prstGeom prst="rect">
            <a:avLst/>
          </a:prstGeom>
          <a:noFill/>
          <a:ln/>
        </p:spPr>
        <p:txBody>
          <a:bodyPr wrap="square" rtlCol="0" anchor="ctr"/>
          <a:lstStyle/>
          <a:p>
            <a:pPr marL="0" indent="0">
              <a:buNone/>
            </a:pPr>
            <a:r>
              <a:rPr lang="en-US" sz="1000" dirty="0">
                <a:solidFill>
                  <a:srgbClr val="595959"/>
                </a:solidFill>
              </a:rPr>
              <a:t>User enters job description text → clicks Match → POST /api/match triggered → NLP Lambda runs spaCy NER on resume + JD → computes skill gap JSON.</a:t>
            </a:r>
            <a:endParaRPr lang="en-US" sz="1000" dirty="0"/>
          </a:p>
          <a:p>
            <a:pPr marL="0" indent="0">
              <a:buNone/>
            </a:pPr>
            <a:r>
              <a:rPr lang="en-US" sz="1000" dirty="0">
                <a:solidFill>
                  <a:srgbClr val="595959"/>
                </a:solidFill>
              </a:rPr>
              <a:t>☁ Cloud: Lambda NLP Engine (spaCy).</a:t>
            </a:r>
            <a:endParaRPr lang="en-US" sz="1000" dirty="0"/>
          </a:p>
        </p:txBody>
      </p:sp>
      <p:sp>
        <p:nvSpPr>
          <p:cNvPr id="24" name="Shape 22"/>
          <p:cNvSpPr/>
          <p:nvPr/>
        </p:nvSpPr>
        <p:spPr>
          <a:xfrm>
            <a:off x="320040" y="3639312"/>
            <a:ext cx="3749040" cy="2377440"/>
          </a:xfrm>
          <a:prstGeom prst="rect">
            <a:avLst/>
          </a:prstGeom>
          <a:solidFill>
            <a:srgbClr val="EFF3F8"/>
          </a:solidFill>
          <a:ln w="12700">
            <a:solidFill>
              <a:srgbClr val="C8D4E8"/>
            </a:solidFill>
            <a:prstDash val="solid"/>
          </a:ln>
        </p:spPr>
      </p:sp>
      <p:sp>
        <p:nvSpPr>
          <p:cNvPr id="25" name="Shape 23"/>
          <p:cNvSpPr/>
          <p:nvPr/>
        </p:nvSpPr>
        <p:spPr>
          <a:xfrm>
            <a:off x="320040" y="3639312"/>
            <a:ext cx="3749040" cy="36576"/>
          </a:xfrm>
          <a:prstGeom prst="rect">
            <a:avLst/>
          </a:prstGeom>
          <a:solidFill>
            <a:srgbClr val="1F3864"/>
          </a:solidFill>
          <a:ln/>
        </p:spPr>
      </p:sp>
      <p:sp>
        <p:nvSpPr>
          <p:cNvPr id="26" name="Text 24"/>
          <p:cNvSpPr/>
          <p:nvPr/>
        </p:nvSpPr>
        <p:spPr>
          <a:xfrm>
            <a:off x="429768" y="3730752"/>
            <a:ext cx="3566160" cy="201168"/>
          </a:xfrm>
          <a:prstGeom prst="rect">
            <a:avLst/>
          </a:prstGeom>
          <a:noFill/>
          <a:ln/>
        </p:spPr>
        <p:txBody>
          <a:bodyPr wrap="square" rtlCol="0" anchor="ctr"/>
          <a:lstStyle/>
          <a:p>
            <a:pPr marL="0" indent="0">
              <a:buNone/>
            </a:pPr>
            <a:r>
              <a:rPr lang="en-US" sz="1000" dirty="0">
                <a:solidFill>
                  <a:srgbClr val="595959"/>
                </a:solidFill>
              </a:rPr>
              <a:t>Scene 4</a:t>
            </a:r>
            <a:endParaRPr lang="en-US" sz="1000" dirty="0"/>
          </a:p>
        </p:txBody>
      </p:sp>
      <p:sp>
        <p:nvSpPr>
          <p:cNvPr id="27" name="Text 25"/>
          <p:cNvSpPr/>
          <p:nvPr/>
        </p:nvSpPr>
        <p:spPr>
          <a:xfrm>
            <a:off x="429768" y="3931920"/>
            <a:ext cx="3566160" cy="256032"/>
          </a:xfrm>
          <a:prstGeom prst="rect">
            <a:avLst/>
          </a:prstGeom>
          <a:noFill/>
          <a:ln/>
        </p:spPr>
        <p:txBody>
          <a:bodyPr wrap="square" rtlCol="0" anchor="ctr"/>
          <a:lstStyle/>
          <a:p>
            <a:pPr marL="0" indent="0">
              <a:buNone/>
            </a:pPr>
            <a:r>
              <a:rPr lang="en-US" sz="1300" b="1" dirty="0">
                <a:solidFill>
                  <a:srgbClr val="2E75B6"/>
                </a:solidFill>
              </a:rPr>
              <a:t>Score &amp; Gap Display</a:t>
            </a:r>
            <a:endParaRPr lang="en-US" sz="1300" dirty="0"/>
          </a:p>
        </p:txBody>
      </p:sp>
      <p:sp>
        <p:nvSpPr>
          <p:cNvPr id="28" name="Text 26"/>
          <p:cNvSpPr/>
          <p:nvPr/>
        </p:nvSpPr>
        <p:spPr>
          <a:xfrm>
            <a:off x="429768" y="4233672"/>
            <a:ext cx="3566160" cy="1645920"/>
          </a:xfrm>
          <a:prstGeom prst="rect">
            <a:avLst/>
          </a:prstGeom>
          <a:noFill/>
          <a:ln/>
        </p:spPr>
        <p:txBody>
          <a:bodyPr wrap="square" rtlCol="0" anchor="ctr"/>
          <a:lstStyle/>
          <a:p>
            <a:pPr marL="0" indent="0">
              <a:buNone/>
            </a:pPr>
            <a:r>
              <a:rPr lang="en-US" sz="1000" dirty="0">
                <a:solidFill>
                  <a:srgbClr val="595959"/>
                </a:solidFill>
              </a:rPr>
              <a:t>Dashboard renders: match_score = 72%, missing_skills = [Docker, K8s, CI/CD], matched = [Python, SQL, REST].</a:t>
            </a:r>
            <a:endParaRPr lang="en-US" sz="1000" dirty="0"/>
          </a:p>
          <a:p>
            <a:pPr marL="0" indent="0">
              <a:buNone/>
            </a:pPr>
            <a:r>
              <a:rPr lang="en-US" sz="1000" dirty="0">
                <a:solidFill>
                  <a:srgbClr val="595959"/>
                </a:solidFill>
              </a:rPr>
              <a:t>Bar chart shows skill-by-skill overlap.</a:t>
            </a:r>
            <a:endParaRPr lang="en-US" sz="1000" dirty="0"/>
          </a:p>
          <a:p>
            <a:pPr marL="0" indent="0">
              <a:buNone/>
            </a:pPr>
            <a:r>
              <a:rPr lang="en-US" sz="1000" dirty="0">
                <a:solidFill>
                  <a:srgbClr val="595959"/>
                </a:solidFill>
              </a:rPr>
              <a:t>☁ Cloud: DynamoDB read + React recharts.</a:t>
            </a:r>
            <a:endParaRPr lang="en-US" sz="1000" dirty="0"/>
          </a:p>
        </p:txBody>
      </p:sp>
      <p:sp>
        <p:nvSpPr>
          <p:cNvPr id="29" name="Shape 27"/>
          <p:cNvSpPr/>
          <p:nvPr/>
        </p:nvSpPr>
        <p:spPr>
          <a:xfrm>
            <a:off x="4279392" y="3639312"/>
            <a:ext cx="3749040" cy="2377440"/>
          </a:xfrm>
          <a:prstGeom prst="rect">
            <a:avLst/>
          </a:prstGeom>
          <a:solidFill>
            <a:srgbClr val="EFF3F8"/>
          </a:solidFill>
          <a:ln w="12700">
            <a:solidFill>
              <a:srgbClr val="C8D4E8"/>
            </a:solidFill>
            <a:prstDash val="solid"/>
          </a:ln>
        </p:spPr>
      </p:sp>
      <p:sp>
        <p:nvSpPr>
          <p:cNvPr id="30" name="Shape 28"/>
          <p:cNvSpPr/>
          <p:nvPr/>
        </p:nvSpPr>
        <p:spPr>
          <a:xfrm>
            <a:off x="4279392" y="3639312"/>
            <a:ext cx="3749040" cy="36576"/>
          </a:xfrm>
          <a:prstGeom prst="rect">
            <a:avLst/>
          </a:prstGeom>
          <a:solidFill>
            <a:srgbClr val="1F3864"/>
          </a:solidFill>
          <a:ln/>
        </p:spPr>
      </p:sp>
      <p:sp>
        <p:nvSpPr>
          <p:cNvPr id="31" name="Text 29"/>
          <p:cNvSpPr/>
          <p:nvPr/>
        </p:nvSpPr>
        <p:spPr>
          <a:xfrm>
            <a:off x="4389120" y="3730752"/>
            <a:ext cx="3566160" cy="201168"/>
          </a:xfrm>
          <a:prstGeom prst="rect">
            <a:avLst/>
          </a:prstGeom>
          <a:noFill/>
          <a:ln/>
        </p:spPr>
        <p:txBody>
          <a:bodyPr wrap="square" rtlCol="0" anchor="ctr"/>
          <a:lstStyle/>
          <a:p>
            <a:pPr marL="0" indent="0">
              <a:buNone/>
            </a:pPr>
            <a:r>
              <a:rPr lang="en-US" sz="1000" dirty="0">
                <a:solidFill>
                  <a:srgbClr val="595959"/>
                </a:solidFill>
              </a:rPr>
              <a:t>Scene 5</a:t>
            </a:r>
            <a:endParaRPr lang="en-US" sz="1000" dirty="0"/>
          </a:p>
        </p:txBody>
      </p:sp>
      <p:sp>
        <p:nvSpPr>
          <p:cNvPr id="32" name="Text 30"/>
          <p:cNvSpPr/>
          <p:nvPr/>
        </p:nvSpPr>
        <p:spPr>
          <a:xfrm>
            <a:off x="4389120" y="3931920"/>
            <a:ext cx="3566160" cy="256032"/>
          </a:xfrm>
          <a:prstGeom prst="rect">
            <a:avLst/>
          </a:prstGeom>
          <a:noFill/>
          <a:ln/>
        </p:spPr>
        <p:txBody>
          <a:bodyPr wrap="square" rtlCol="0" anchor="ctr"/>
          <a:lstStyle/>
          <a:p>
            <a:pPr marL="0" indent="0">
              <a:buNone/>
            </a:pPr>
            <a:r>
              <a:rPr lang="en-US" sz="1300" b="1" dirty="0">
                <a:solidFill>
                  <a:srgbClr val="2E75B6"/>
                </a:solidFill>
              </a:rPr>
              <a:t>Recruiter View</a:t>
            </a:r>
            <a:endParaRPr lang="en-US" sz="1300" dirty="0"/>
          </a:p>
        </p:txBody>
      </p:sp>
      <p:sp>
        <p:nvSpPr>
          <p:cNvPr id="33" name="Text 31"/>
          <p:cNvSpPr/>
          <p:nvPr/>
        </p:nvSpPr>
        <p:spPr>
          <a:xfrm>
            <a:off x="4389120" y="4233672"/>
            <a:ext cx="3566160" cy="1645920"/>
          </a:xfrm>
          <a:prstGeom prst="rect">
            <a:avLst/>
          </a:prstGeom>
          <a:noFill/>
          <a:ln/>
        </p:spPr>
        <p:txBody>
          <a:bodyPr wrap="square" rtlCol="0" anchor="ctr"/>
          <a:lstStyle/>
          <a:p>
            <a:pPr marL="0" indent="0">
              <a:buNone/>
            </a:pPr>
            <a:r>
              <a:rPr lang="en-US" sz="1000" dirty="0">
                <a:solidFill>
                  <a:srgbClr val="595959"/>
                </a:solidFill>
              </a:rPr>
              <a:t>Recruiter logs in → views all candidates' scores for a JD → sorted by match % → selects top 5 → shortlist generated.</a:t>
            </a:r>
            <a:endParaRPr lang="en-US" sz="1000" dirty="0"/>
          </a:p>
          <a:p>
            <a:pPr marL="0" indent="0">
              <a:buNone/>
            </a:pPr>
            <a:r>
              <a:rPr lang="en-US" sz="1000" dirty="0">
                <a:solidFill>
                  <a:srgbClr val="595959"/>
                </a:solidFill>
              </a:rPr>
              <a:t>☁ Cloud: DynamoDB query by job_id + QuickSight row-level security.</a:t>
            </a:r>
            <a:endParaRPr lang="en-US" sz="1000" dirty="0"/>
          </a:p>
        </p:txBody>
      </p:sp>
      <p:sp>
        <p:nvSpPr>
          <p:cNvPr id="34" name="Shape 32"/>
          <p:cNvSpPr/>
          <p:nvPr/>
        </p:nvSpPr>
        <p:spPr>
          <a:xfrm>
            <a:off x="8238744" y="3639312"/>
            <a:ext cx="3749040" cy="2377440"/>
          </a:xfrm>
          <a:prstGeom prst="rect">
            <a:avLst/>
          </a:prstGeom>
          <a:solidFill>
            <a:srgbClr val="EFF3F8"/>
          </a:solidFill>
          <a:ln w="12700">
            <a:solidFill>
              <a:srgbClr val="C8D4E8"/>
            </a:solidFill>
            <a:prstDash val="solid"/>
          </a:ln>
        </p:spPr>
      </p:sp>
      <p:sp>
        <p:nvSpPr>
          <p:cNvPr id="35" name="Shape 33"/>
          <p:cNvSpPr/>
          <p:nvPr/>
        </p:nvSpPr>
        <p:spPr>
          <a:xfrm>
            <a:off x="8238744" y="3639312"/>
            <a:ext cx="3749040" cy="36576"/>
          </a:xfrm>
          <a:prstGeom prst="rect">
            <a:avLst/>
          </a:prstGeom>
          <a:solidFill>
            <a:srgbClr val="1F3864"/>
          </a:solidFill>
          <a:ln/>
        </p:spPr>
      </p:sp>
      <p:sp>
        <p:nvSpPr>
          <p:cNvPr id="36" name="Text 34"/>
          <p:cNvSpPr/>
          <p:nvPr/>
        </p:nvSpPr>
        <p:spPr>
          <a:xfrm>
            <a:off x="8348472" y="3730752"/>
            <a:ext cx="3566160" cy="201168"/>
          </a:xfrm>
          <a:prstGeom prst="rect">
            <a:avLst/>
          </a:prstGeom>
          <a:noFill/>
          <a:ln/>
        </p:spPr>
        <p:txBody>
          <a:bodyPr wrap="square" rtlCol="0" anchor="ctr"/>
          <a:lstStyle/>
          <a:p>
            <a:pPr marL="0" indent="0">
              <a:buNone/>
            </a:pPr>
            <a:r>
              <a:rPr lang="en-US" sz="1000" dirty="0">
                <a:solidFill>
                  <a:srgbClr val="595959"/>
                </a:solidFill>
              </a:rPr>
              <a:t>Scene 6</a:t>
            </a:r>
            <a:endParaRPr lang="en-US" sz="1000" dirty="0"/>
          </a:p>
        </p:txBody>
      </p:sp>
      <p:sp>
        <p:nvSpPr>
          <p:cNvPr id="37" name="Text 35"/>
          <p:cNvSpPr/>
          <p:nvPr/>
        </p:nvSpPr>
        <p:spPr>
          <a:xfrm>
            <a:off x="8348472" y="3931920"/>
            <a:ext cx="3566160" cy="256032"/>
          </a:xfrm>
          <a:prstGeom prst="rect">
            <a:avLst/>
          </a:prstGeom>
          <a:noFill/>
          <a:ln/>
        </p:spPr>
        <p:txBody>
          <a:bodyPr wrap="square" rtlCol="0" anchor="ctr"/>
          <a:lstStyle/>
          <a:p>
            <a:pPr marL="0" indent="0">
              <a:buNone/>
            </a:pPr>
            <a:r>
              <a:rPr lang="en-US" sz="1300" b="1" dirty="0">
                <a:solidFill>
                  <a:srgbClr val="2E75B6"/>
                </a:solidFill>
              </a:rPr>
              <a:t>Alert &amp; Monitoring</a:t>
            </a:r>
            <a:endParaRPr lang="en-US" sz="1300" dirty="0"/>
          </a:p>
        </p:txBody>
      </p:sp>
      <p:sp>
        <p:nvSpPr>
          <p:cNvPr id="38" name="Text 36"/>
          <p:cNvSpPr/>
          <p:nvPr/>
        </p:nvSpPr>
        <p:spPr>
          <a:xfrm>
            <a:off x="8348472" y="4233672"/>
            <a:ext cx="3566160" cy="1645920"/>
          </a:xfrm>
          <a:prstGeom prst="rect">
            <a:avLst/>
          </a:prstGeom>
          <a:noFill/>
          <a:ln/>
        </p:spPr>
        <p:txBody>
          <a:bodyPr wrap="square" rtlCol="0" anchor="ctr"/>
          <a:lstStyle/>
          <a:p>
            <a:pPr marL="0" indent="0">
              <a:buNone/>
            </a:pPr>
            <a:r>
              <a:rPr lang="en-US" sz="1000" dirty="0">
                <a:solidFill>
                  <a:srgbClr val="595959"/>
                </a:solidFill>
              </a:rPr>
              <a:t>CloudWatch detects Lambda error rate &gt; 1% → SNS notification sent to admin email → admin reviews error logs in CloudWatch → fix deployed.</a:t>
            </a:r>
            <a:endParaRPr lang="en-US" sz="1000" dirty="0"/>
          </a:p>
          <a:p>
            <a:pPr marL="0" indent="0">
              <a:buNone/>
            </a:pPr>
            <a:r>
              <a:rPr lang="en-US" sz="1000" dirty="0">
                <a:solidFill>
                  <a:srgbClr val="595959"/>
                </a:solidFill>
              </a:rPr>
              <a:t>☁ Cloud: CloudWatch Alarms + SNS + Lambda logs.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9728"/>
          </a:xfrm>
          <a:prstGeom prst="rect">
            <a:avLst/>
          </a:prstGeom>
          <a:solidFill>
            <a:srgbClr val="1F3864"/>
          </a:solidFill>
          <a:ln/>
        </p:spPr>
      </p:sp>
      <p:sp>
        <p:nvSpPr>
          <p:cNvPr id="3" name="Text 1"/>
          <p:cNvSpPr/>
          <p:nvPr/>
        </p:nvSpPr>
        <p:spPr>
          <a:xfrm>
            <a:off x="4572000" y="9144"/>
            <a:ext cx="7159752" cy="128016"/>
          </a:xfrm>
          <a:prstGeom prst="rect">
            <a:avLst/>
          </a:prstGeom>
          <a:noFill/>
          <a:ln/>
        </p:spPr>
        <p:txBody>
          <a:bodyPr wrap="square" rtlCol="0" anchor="ctr"/>
          <a:lstStyle/>
          <a:p>
            <a:pPr marL="0" indent="0" algn="r">
              <a:buNone/>
            </a:pPr>
            <a:r>
              <a:rPr lang="en-US" sz="900" b="1" dirty="0">
                <a:solidFill>
                  <a:srgbClr val="1F3864"/>
                </a:solidFill>
              </a:rPr>
              <a:t>CSA15 | Cloud Computing and Big Data Analytics</a:t>
            </a:r>
            <a:endParaRPr lang="en-US" sz="900" dirty="0"/>
          </a:p>
        </p:txBody>
      </p:sp>
      <p:sp>
        <p:nvSpPr>
          <p:cNvPr id="4" name="Shape 2"/>
          <p:cNvSpPr/>
          <p:nvPr/>
        </p:nvSpPr>
        <p:spPr>
          <a:xfrm>
            <a:off x="0" y="6720840"/>
            <a:ext cx="12192000" cy="137160"/>
          </a:xfrm>
          <a:prstGeom prst="rect">
            <a:avLst/>
          </a:prstGeom>
          <a:solidFill>
            <a:srgbClr val="FFFFFF"/>
          </a:solidFill>
          <a:ln/>
        </p:spPr>
      </p:sp>
      <p:sp>
        <p:nvSpPr>
          <p:cNvPr id="5" name="Text 3"/>
          <p:cNvSpPr/>
          <p:nvPr/>
        </p:nvSpPr>
        <p:spPr>
          <a:xfrm>
            <a:off x="274320" y="6729984"/>
            <a:ext cx="8229600" cy="109728"/>
          </a:xfrm>
          <a:prstGeom prst="rect">
            <a:avLst/>
          </a:prstGeom>
          <a:noFill/>
          <a:ln/>
        </p:spPr>
        <p:txBody>
          <a:bodyPr wrap="square" rtlCol="0" anchor="ctr"/>
          <a:lstStyle/>
          <a:p>
            <a:pPr marL="0" indent="0">
              <a:buNone/>
            </a:pPr>
            <a:r>
              <a:rPr lang="en-US" sz="800" dirty="0">
                <a:solidFill>
                  <a:srgbClr val="595959"/>
                </a:solidFill>
              </a:rPr>
              <a:t>Individual student submission template | Department of Computer Science and Engineering</a:t>
            </a:r>
            <a:endParaRPr lang="en-US" sz="800" dirty="0"/>
          </a:p>
        </p:txBody>
      </p:sp>
      <p:sp>
        <p:nvSpPr>
          <p:cNvPr id="6" name="Text 4"/>
          <p:cNvSpPr/>
          <p:nvPr/>
        </p:nvSpPr>
        <p:spPr>
          <a:xfrm>
            <a:off x="10515600" y="6729984"/>
            <a:ext cx="1554480" cy="109728"/>
          </a:xfrm>
          <a:prstGeom prst="rect">
            <a:avLst/>
          </a:prstGeom>
          <a:noFill/>
          <a:ln/>
        </p:spPr>
        <p:txBody>
          <a:bodyPr wrap="square" rtlCol="0" anchor="ctr"/>
          <a:lstStyle/>
          <a:p>
            <a:pPr marL="0" indent="0" algn="r">
              <a:buNone/>
            </a:pPr>
            <a:r>
              <a:rPr lang="en-US" sz="800" b="1" dirty="0">
                <a:solidFill>
                  <a:srgbClr val="1F3864"/>
                </a:solidFill>
              </a:rPr>
              <a:t>CO1 AT3 | 11</a:t>
            </a:r>
            <a:endParaRPr lang="en-US" sz="800" dirty="0"/>
          </a:p>
        </p:txBody>
      </p:sp>
      <p:sp>
        <p:nvSpPr>
          <p:cNvPr id="7" name="Text 5"/>
          <p:cNvSpPr/>
          <p:nvPr/>
        </p:nvSpPr>
        <p:spPr>
          <a:xfrm>
            <a:off x="365760" y="201168"/>
            <a:ext cx="11430000" cy="502920"/>
          </a:xfrm>
          <a:prstGeom prst="rect">
            <a:avLst/>
          </a:prstGeom>
          <a:noFill/>
          <a:ln/>
        </p:spPr>
        <p:txBody>
          <a:bodyPr wrap="square" rtlCol="0" anchor="ctr"/>
          <a:lstStyle/>
          <a:p>
            <a:pPr marL="0" indent="0">
              <a:buNone/>
            </a:pPr>
            <a:r>
              <a:rPr lang="en-US" sz="2800" b="1" dirty="0">
                <a:solidFill>
                  <a:srgbClr val="1F3864"/>
                </a:solidFill>
              </a:rPr>
              <a:t>Evaluation Readiness Checklist</a:t>
            </a:r>
            <a:endParaRPr lang="en-US" sz="2800" dirty="0"/>
          </a:p>
        </p:txBody>
      </p:sp>
      <p:sp>
        <p:nvSpPr>
          <p:cNvPr id="8" name="Text 6"/>
          <p:cNvSpPr/>
          <p:nvPr/>
        </p:nvSpPr>
        <p:spPr>
          <a:xfrm>
            <a:off x="365760" y="713232"/>
            <a:ext cx="9144000" cy="201168"/>
          </a:xfrm>
          <a:prstGeom prst="rect">
            <a:avLst/>
          </a:prstGeom>
          <a:noFill/>
          <a:ln/>
        </p:spPr>
        <p:txBody>
          <a:bodyPr wrap="square" rtlCol="0" anchor="ctr"/>
          <a:lstStyle/>
          <a:p>
            <a:pPr marL="0" indent="0">
              <a:buNone/>
            </a:pPr>
            <a:r>
              <a:rPr lang="en-US" sz="1400" dirty="0">
                <a:solidFill>
                  <a:srgbClr val="595959"/>
                </a:solidFill>
              </a:rPr>
              <a:t>Our evidence confirms that the presentation is ready</a:t>
            </a:r>
            <a:endParaRPr lang="en-US" sz="1400" dirty="0"/>
          </a:p>
        </p:txBody>
      </p:sp>
      <p:sp>
        <p:nvSpPr>
          <p:cNvPr id="9" name="Shape 7"/>
          <p:cNvSpPr/>
          <p:nvPr/>
        </p:nvSpPr>
        <p:spPr>
          <a:xfrm>
            <a:off x="320040" y="1005840"/>
            <a:ext cx="5669280" cy="987552"/>
          </a:xfrm>
          <a:prstGeom prst="rect">
            <a:avLst/>
          </a:prstGeom>
          <a:solidFill>
            <a:srgbClr val="EFF3F8"/>
          </a:solidFill>
          <a:ln w="12700">
            <a:solidFill>
              <a:srgbClr val="C8D4E8"/>
            </a:solidFill>
            <a:prstDash val="solid"/>
          </a:ln>
        </p:spPr>
      </p:sp>
      <p:sp>
        <p:nvSpPr>
          <p:cNvPr id="10" name="Shape 8"/>
          <p:cNvSpPr/>
          <p:nvPr/>
        </p:nvSpPr>
        <p:spPr>
          <a:xfrm>
            <a:off x="457200" y="1261872"/>
            <a:ext cx="329184" cy="329184"/>
          </a:xfrm>
          <a:prstGeom prst="rect">
            <a:avLst/>
          </a:prstGeom>
          <a:solidFill>
            <a:srgbClr val="FFFFFF"/>
          </a:solidFill>
          <a:ln w="19050">
            <a:solidFill>
              <a:srgbClr val="2E75B6"/>
            </a:solidFill>
            <a:prstDash val="solid"/>
          </a:ln>
        </p:spPr>
      </p:sp>
      <p:sp>
        <p:nvSpPr>
          <p:cNvPr id="11" name="Text 9"/>
          <p:cNvSpPr/>
          <p:nvPr/>
        </p:nvSpPr>
        <p:spPr>
          <a:xfrm>
            <a:off x="466344" y="1252728"/>
            <a:ext cx="320040" cy="338328"/>
          </a:xfrm>
          <a:prstGeom prst="rect">
            <a:avLst/>
          </a:prstGeom>
          <a:noFill/>
          <a:ln/>
        </p:spPr>
        <p:txBody>
          <a:bodyPr wrap="square" rtlCol="0" anchor="ctr"/>
          <a:lstStyle/>
          <a:p>
            <a:pPr marL="0" indent="0" algn="ctr">
              <a:buNone/>
            </a:pPr>
            <a:r>
              <a:rPr lang="en-US" sz="1400" b="1" dirty="0">
                <a:solidFill>
                  <a:srgbClr val="217346"/>
                </a:solidFill>
              </a:rPr>
              <a:t>✓</a:t>
            </a:r>
            <a:endParaRPr lang="en-US" sz="1400" dirty="0"/>
          </a:p>
        </p:txBody>
      </p:sp>
      <p:sp>
        <p:nvSpPr>
          <p:cNvPr id="12" name="Text 10"/>
          <p:cNvSpPr/>
          <p:nvPr/>
        </p:nvSpPr>
        <p:spPr>
          <a:xfrm>
            <a:off x="914400" y="1170432"/>
            <a:ext cx="4937760" cy="658368"/>
          </a:xfrm>
          <a:prstGeom prst="rect">
            <a:avLst/>
          </a:prstGeom>
          <a:noFill/>
          <a:ln/>
        </p:spPr>
        <p:txBody>
          <a:bodyPr wrap="square" rtlCol="0" anchor="ctr"/>
          <a:lstStyle/>
          <a:p>
            <a:pPr marL="0" indent="0">
              <a:buNone/>
            </a:pPr>
            <a:r>
              <a:rPr lang="en-US" sz="1300" b="1" dirty="0">
                <a:solidFill>
                  <a:srgbClr val="1F3864"/>
                </a:solidFill>
              </a:rPr>
              <a:t>Cloud ecosystem and service model explained</a:t>
            </a:r>
            <a:endParaRPr lang="en-US" sz="1300" dirty="0"/>
          </a:p>
        </p:txBody>
      </p:sp>
      <p:sp>
        <p:nvSpPr>
          <p:cNvPr id="13" name="Shape 11"/>
          <p:cNvSpPr/>
          <p:nvPr/>
        </p:nvSpPr>
        <p:spPr>
          <a:xfrm>
            <a:off x="320040" y="2176272"/>
            <a:ext cx="5669280" cy="987552"/>
          </a:xfrm>
          <a:prstGeom prst="rect">
            <a:avLst/>
          </a:prstGeom>
          <a:solidFill>
            <a:srgbClr val="EFF3F8"/>
          </a:solidFill>
          <a:ln w="12700">
            <a:solidFill>
              <a:srgbClr val="C8D4E8"/>
            </a:solidFill>
            <a:prstDash val="solid"/>
          </a:ln>
        </p:spPr>
      </p:sp>
      <p:sp>
        <p:nvSpPr>
          <p:cNvPr id="14" name="Shape 12"/>
          <p:cNvSpPr/>
          <p:nvPr/>
        </p:nvSpPr>
        <p:spPr>
          <a:xfrm>
            <a:off x="457200" y="2432304"/>
            <a:ext cx="329184" cy="329184"/>
          </a:xfrm>
          <a:prstGeom prst="rect">
            <a:avLst/>
          </a:prstGeom>
          <a:solidFill>
            <a:srgbClr val="FFFFFF"/>
          </a:solidFill>
          <a:ln w="19050">
            <a:solidFill>
              <a:srgbClr val="2E75B6"/>
            </a:solidFill>
            <a:prstDash val="solid"/>
          </a:ln>
        </p:spPr>
      </p:sp>
      <p:sp>
        <p:nvSpPr>
          <p:cNvPr id="15" name="Text 13"/>
          <p:cNvSpPr/>
          <p:nvPr/>
        </p:nvSpPr>
        <p:spPr>
          <a:xfrm>
            <a:off x="466344" y="2423160"/>
            <a:ext cx="320040" cy="338328"/>
          </a:xfrm>
          <a:prstGeom prst="rect">
            <a:avLst/>
          </a:prstGeom>
          <a:noFill/>
          <a:ln/>
        </p:spPr>
        <p:txBody>
          <a:bodyPr wrap="square" rtlCol="0" anchor="ctr"/>
          <a:lstStyle/>
          <a:p>
            <a:pPr marL="0" indent="0" algn="ctr">
              <a:buNone/>
            </a:pPr>
            <a:r>
              <a:rPr lang="en-US" sz="1400" b="1" dirty="0">
                <a:solidFill>
                  <a:srgbClr val="217346"/>
                </a:solidFill>
              </a:rPr>
              <a:t>✓</a:t>
            </a:r>
            <a:endParaRPr lang="en-US" sz="1400" dirty="0"/>
          </a:p>
        </p:txBody>
      </p:sp>
      <p:sp>
        <p:nvSpPr>
          <p:cNvPr id="16" name="Text 14"/>
          <p:cNvSpPr/>
          <p:nvPr/>
        </p:nvSpPr>
        <p:spPr>
          <a:xfrm>
            <a:off x="914400" y="2340864"/>
            <a:ext cx="4937760" cy="658368"/>
          </a:xfrm>
          <a:prstGeom prst="rect">
            <a:avLst/>
          </a:prstGeom>
          <a:noFill/>
          <a:ln/>
        </p:spPr>
        <p:txBody>
          <a:bodyPr wrap="square" rtlCol="0" anchor="ctr"/>
          <a:lstStyle/>
          <a:p>
            <a:pPr marL="0" indent="0">
              <a:buNone/>
            </a:pPr>
            <a:r>
              <a:rPr lang="en-US" sz="1300" b="1" dirty="0">
                <a:solidFill>
                  <a:srgbClr val="1F3864"/>
                </a:solidFill>
              </a:rPr>
              <a:t>REST / SOAP / API role connected to capstone</a:t>
            </a:r>
            <a:endParaRPr lang="en-US" sz="1300" dirty="0"/>
          </a:p>
        </p:txBody>
      </p:sp>
      <p:sp>
        <p:nvSpPr>
          <p:cNvPr id="17" name="Shape 15"/>
          <p:cNvSpPr/>
          <p:nvPr/>
        </p:nvSpPr>
        <p:spPr>
          <a:xfrm>
            <a:off x="320040" y="3346704"/>
            <a:ext cx="5669280" cy="987552"/>
          </a:xfrm>
          <a:prstGeom prst="rect">
            <a:avLst/>
          </a:prstGeom>
          <a:solidFill>
            <a:srgbClr val="EFF3F8"/>
          </a:solidFill>
          <a:ln w="12700">
            <a:solidFill>
              <a:srgbClr val="C8D4E8"/>
            </a:solidFill>
            <a:prstDash val="solid"/>
          </a:ln>
        </p:spPr>
      </p:sp>
      <p:sp>
        <p:nvSpPr>
          <p:cNvPr id="18" name="Shape 16"/>
          <p:cNvSpPr/>
          <p:nvPr/>
        </p:nvSpPr>
        <p:spPr>
          <a:xfrm>
            <a:off x="457200" y="3602736"/>
            <a:ext cx="329184" cy="329184"/>
          </a:xfrm>
          <a:prstGeom prst="rect">
            <a:avLst/>
          </a:prstGeom>
          <a:solidFill>
            <a:srgbClr val="FFFFFF"/>
          </a:solidFill>
          <a:ln w="19050">
            <a:solidFill>
              <a:srgbClr val="2E75B6"/>
            </a:solidFill>
            <a:prstDash val="solid"/>
          </a:ln>
        </p:spPr>
      </p:sp>
      <p:sp>
        <p:nvSpPr>
          <p:cNvPr id="19" name="Text 17"/>
          <p:cNvSpPr/>
          <p:nvPr/>
        </p:nvSpPr>
        <p:spPr>
          <a:xfrm>
            <a:off x="466344" y="3593592"/>
            <a:ext cx="320040" cy="338328"/>
          </a:xfrm>
          <a:prstGeom prst="rect">
            <a:avLst/>
          </a:prstGeom>
          <a:noFill/>
          <a:ln/>
        </p:spPr>
        <p:txBody>
          <a:bodyPr wrap="square" rtlCol="0" anchor="ctr"/>
          <a:lstStyle/>
          <a:p>
            <a:pPr marL="0" indent="0" algn="ctr">
              <a:buNone/>
            </a:pPr>
            <a:r>
              <a:rPr lang="en-US" sz="1400" b="1" dirty="0">
                <a:solidFill>
                  <a:srgbClr val="217346"/>
                </a:solidFill>
              </a:rPr>
              <a:t>✓</a:t>
            </a:r>
            <a:endParaRPr lang="en-US" sz="1400" dirty="0"/>
          </a:p>
        </p:txBody>
      </p:sp>
      <p:sp>
        <p:nvSpPr>
          <p:cNvPr id="20" name="Text 18"/>
          <p:cNvSpPr/>
          <p:nvPr/>
        </p:nvSpPr>
        <p:spPr>
          <a:xfrm>
            <a:off x="914400" y="3511296"/>
            <a:ext cx="4937760" cy="658368"/>
          </a:xfrm>
          <a:prstGeom prst="rect">
            <a:avLst/>
          </a:prstGeom>
          <a:noFill/>
          <a:ln/>
        </p:spPr>
        <p:txBody>
          <a:bodyPr wrap="square" rtlCol="0" anchor="ctr"/>
          <a:lstStyle/>
          <a:p>
            <a:pPr marL="0" indent="0">
              <a:buNone/>
            </a:pPr>
            <a:r>
              <a:rPr lang="en-US" sz="1300" b="1" dirty="0">
                <a:solidFill>
                  <a:srgbClr val="1F3864"/>
                </a:solidFill>
              </a:rPr>
              <a:t>Architecture has compute, data, storage, security, monitoring</a:t>
            </a:r>
            <a:endParaRPr lang="en-US" sz="1300" dirty="0"/>
          </a:p>
        </p:txBody>
      </p:sp>
      <p:sp>
        <p:nvSpPr>
          <p:cNvPr id="21" name="Shape 19"/>
          <p:cNvSpPr/>
          <p:nvPr/>
        </p:nvSpPr>
        <p:spPr>
          <a:xfrm>
            <a:off x="6263640" y="1005840"/>
            <a:ext cx="5669280" cy="987552"/>
          </a:xfrm>
          <a:prstGeom prst="rect">
            <a:avLst/>
          </a:prstGeom>
          <a:solidFill>
            <a:srgbClr val="EFF3F8"/>
          </a:solidFill>
          <a:ln w="12700">
            <a:solidFill>
              <a:srgbClr val="C8D4E8"/>
            </a:solidFill>
            <a:prstDash val="solid"/>
          </a:ln>
        </p:spPr>
      </p:sp>
      <p:sp>
        <p:nvSpPr>
          <p:cNvPr id="22" name="Shape 20"/>
          <p:cNvSpPr/>
          <p:nvPr/>
        </p:nvSpPr>
        <p:spPr>
          <a:xfrm>
            <a:off x="6400800" y="1261872"/>
            <a:ext cx="329184" cy="329184"/>
          </a:xfrm>
          <a:prstGeom prst="rect">
            <a:avLst/>
          </a:prstGeom>
          <a:solidFill>
            <a:srgbClr val="FFFFFF"/>
          </a:solidFill>
          <a:ln w="19050">
            <a:solidFill>
              <a:srgbClr val="2E75B6"/>
            </a:solidFill>
            <a:prstDash val="solid"/>
          </a:ln>
        </p:spPr>
      </p:sp>
      <p:sp>
        <p:nvSpPr>
          <p:cNvPr id="23" name="Text 21"/>
          <p:cNvSpPr/>
          <p:nvPr/>
        </p:nvSpPr>
        <p:spPr>
          <a:xfrm>
            <a:off x="6409944" y="1252728"/>
            <a:ext cx="320040" cy="338328"/>
          </a:xfrm>
          <a:prstGeom prst="rect">
            <a:avLst/>
          </a:prstGeom>
          <a:noFill/>
          <a:ln/>
        </p:spPr>
        <p:txBody>
          <a:bodyPr wrap="square" rtlCol="0" anchor="ctr"/>
          <a:lstStyle/>
          <a:p>
            <a:pPr marL="0" indent="0" algn="ctr">
              <a:buNone/>
            </a:pPr>
            <a:r>
              <a:rPr lang="en-US" sz="1400" b="1" dirty="0">
                <a:solidFill>
                  <a:srgbClr val="217346"/>
                </a:solidFill>
              </a:rPr>
              <a:t>✓</a:t>
            </a:r>
            <a:endParaRPr lang="en-US" sz="1400" dirty="0"/>
          </a:p>
        </p:txBody>
      </p:sp>
      <p:sp>
        <p:nvSpPr>
          <p:cNvPr id="24" name="Text 22"/>
          <p:cNvSpPr/>
          <p:nvPr/>
        </p:nvSpPr>
        <p:spPr>
          <a:xfrm>
            <a:off x="6858000" y="1170432"/>
            <a:ext cx="4937760" cy="658368"/>
          </a:xfrm>
          <a:prstGeom prst="rect">
            <a:avLst/>
          </a:prstGeom>
          <a:noFill/>
          <a:ln/>
        </p:spPr>
        <p:txBody>
          <a:bodyPr wrap="square" rtlCol="0" anchor="ctr"/>
          <a:lstStyle/>
          <a:p>
            <a:pPr marL="0" indent="0">
              <a:buNone/>
            </a:pPr>
            <a:r>
              <a:rPr lang="en-US" sz="1300" b="1" dirty="0">
                <a:solidFill>
                  <a:srgbClr val="1F3864"/>
                </a:solidFill>
              </a:rPr>
              <a:t>Elasticity and scalability decisions are visible</a:t>
            </a:r>
            <a:endParaRPr lang="en-US" sz="1300" dirty="0"/>
          </a:p>
        </p:txBody>
      </p:sp>
      <p:sp>
        <p:nvSpPr>
          <p:cNvPr id="25" name="Shape 23"/>
          <p:cNvSpPr/>
          <p:nvPr/>
        </p:nvSpPr>
        <p:spPr>
          <a:xfrm>
            <a:off x="6263640" y="2176272"/>
            <a:ext cx="5669280" cy="987552"/>
          </a:xfrm>
          <a:prstGeom prst="rect">
            <a:avLst/>
          </a:prstGeom>
          <a:solidFill>
            <a:srgbClr val="EFF3F8"/>
          </a:solidFill>
          <a:ln w="12700">
            <a:solidFill>
              <a:srgbClr val="C8D4E8"/>
            </a:solidFill>
            <a:prstDash val="solid"/>
          </a:ln>
        </p:spPr>
      </p:sp>
      <p:sp>
        <p:nvSpPr>
          <p:cNvPr id="26" name="Shape 24"/>
          <p:cNvSpPr/>
          <p:nvPr/>
        </p:nvSpPr>
        <p:spPr>
          <a:xfrm>
            <a:off x="6400800" y="2432304"/>
            <a:ext cx="329184" cy="329184"/>
          </a:xfrm>
          <a:prstGeom prst="rect">
            <a:avLst/>
          </a:prstGeom>
          <a:solidFill>
            <a:srgbClr val="FFFFFF"/>
          </a:solidFill>
          <a:ln w="19050">
            <a:solidFill>
              <a:srgbClr val="2E75B6"/>
            </a:solidFill>
            <a:prstDash val="solid"/>
          </a:ln>
        </p:spPr>
      </p:sp>
      <p:sp>
        <p:nvSpPr>
          <p:cNvPr id="27" name="Text 25"/>
          <p:cNvSpPr/>
          <p:nvPr/>
        </p:nvSpPr>
        <p:spPr>
          <a:xfrm>
            <a:off x="6409944" y="2423160"/>
            <a:ext cx="320040" cy="338328"/>
          </a:xfrm>
          <a:prstGeom prst="rect">
            <a:avLst/>
          </a:prstGeom>
          <a:noFill/>
          <a:ln/>
        </p:spPr>
        <p:txBody>
          <a:bodyPr wrap="square" rtlCol="0" anchor="ctr"/>
          <a:lstStyle/>
          <a:p>
            <a:pPr marL="0" indent="0" algn="ctr">
              <a:buNone/>
            </a:pPr>
            <a:r>
              <a:rPr lang="en-US" sz="1400" b="1" dirty="0">
                <a:solidFill>
                  <a:srgbClr val="217346"/>
                </a:solidFill>
              </a:rPr>
              <a:t>✓</a:t>
            </a:r>
            <a:endParaRPr lang="en-US" sz="1400" dirty="0"/>
          </a:p>
        </p:txBody>
      </p:sp>
      <p:sp>
        <p:nvSpPr>
          <p:cNvPr id="28" name="Text 26"/>
          <p:cNvSpPr/>
          <p:nvPr/>
        </p:nvSpPr>
        <p:spPr>
          <a:xfrm>
            <a:off x="6858000" y="2340864"/>
            <a:ext cx="4937760" cy="658368"/>
          </a:xfrm>
          <a:prstGeom prst="rect">
            <a:avLst/>
          </a:prstGeom>
          <a:noFill/>
          <a:ln/>
        </p:spPr>
        <p:txBody>
          <a:bodyPr wrap="square" rtlCol="0" anchor="ctr"/>
          <a:lstStyle/>
          <a:p>
            <a:pPr marL="0" indent="0">
              <a:buNone/>
            </a:pPr>
            <a:r>
              <a:rPr lang="en-US" sz="1300" b="1" dirty="0">
                <a:solidFill>
                  <a:srgbClr val="1F3864"/>
                </a:solidFill>
              </a:rPr>
              <a:t>GitHub and cloud evidence are inspectable</a:t>
            </a:r>
            <a:endParaRPr lang="en-US" sz="1300" dirty="0"/>
          </a:p>
        </p:txBody>
      </p:sp>
      <p:sp>
        <p:nvSpPr>
          <p:cNvPr id="29" name="Shape 27"/>
          <p:cNvSpPr/>
          <p:nvPr/>
        </p:nvSpPr>
        <p:spPr>
          <a:xfrm>
            <a:off x="6263640" y="3346704"/>
            <a:ext cx="5669280" cy="987552"/>
          </a:xfrm>
          <a:prstGeom prst="rect">
            <a:avLst/>
          </a:prstGeom>
          <a:solidFill>
            <a:srgbClr val="EFF3F8"/>
          </a:solidFill>
          <a:ln w="12700">
            <a:solidFill>
              <a:srgbClr val="C8D4E8"/>
            </a:solidFill>
            <a:prstDash val="solid"/>
          </a:ln>
        </p:spPr>
      </p:sp>
      <p:sp>
        <p:nvSpPr>
          <p:cNvPr id="30" name="Shape 28"/>
          <p:cNvSpPr/>
          <p:nvPr/>
        </p:nvSpPr>
        <p:spPr>
          <a:xfrm>
            <a:off x="6400800" y="3602736"/>
            <a:ext cx="329184" cy="329184"/>
          </a:xfrm>
          <a:prstGeom prst="rect">
            <a:avLst/>
          </a:prstGeom>
          <a:solidFill>
            <a:srgbClr val="FFFFFF"/>
          </a:solidFill>
          <a:ln w="19050">
            <a:solidFill>
              <a:srgbClr val="2E75B6"/>
            </a:solidFill>
            <a:prstDash val="solid"/>
          </a:ln>
        </p:spPr>
      </p:sp>
      <p:sp>
        <p:nvSpPr>
          <p:cNvPr id="31" name="Text 29"/>
          <p:cNvSpPr/>
          <p:nvPr/>
        </p:nvSpPr>
        <p:spPr>
          <a:xfrm>
            <a:off x="6409944" y="3593592"/>
            <a:ext cx="320040" cy="338328"/>
          </a:xfrm>
          <a:prstGeom prst="rect">
            <a:avLst/>
          </a:prstGeom>
          <a:noFill/>
          <a:ln/>
        </p:spPr>
        <p:txBody>
          <a:bodyPr wrap="square" rtlCol="0" anchor="ctr"/>
          <a:lstStyle/>
          <a:p>
            <a:pPr marL="0" indent="0" algn="ctr">
              <a:buNone/>
            </a:pPr>
            <a:r>
              <a:rPr lang="en-US" sz="1400" b="1" dirty="0">
                <a:solidFill>
                  <a:srgbClr val="217346"/>
                </a:solidFill>
              </a:rPr>
              <a:t>✓</a:t>
            </a:r>
            <a:endParaRPr lang="en-US" sz="1400" dirty="0"/>
          </a:p>
        </p:txBody>
      </p:sp>
      <p:sp>
        <p:nvSpPr>
          <p:cNvPr id="32" name="Text 30"/>
          <p:cNvSpPr/>
          <p:nvPr/>
        </p:nvSpPr>
        <p:spPr>
          <a:xfrm>
            <a:off x="6858000" y="3511296"/>
            <a:ext cx="4937760" cy="658368"/>
          </a:xfrm>
          <a:prstGeom prst="rect">
            <a:avLst/>
          </a:prstGeom>
          <a:noFill/>
          <a:ln/>
        </p:spPr>
        <p:txBody>
          <a:bodyPr wrap="square" rtlCol="0" anchor="ctr"/>
          <a:lstStyle/>
          <a:p>
            <a:pPr marL="0" indent="0">
              <a:buNone/>
            </a:pPr>
            <a:r>
              <a:rPr lang="en-US" sz="1300" b="1" dirty="0">
                <a:solidFill>
                  <a:srgbClr val="1F3864"/>
                </a:solidFill>
              </a:rPr>
              <a:t>References and integrity statement are included</a:t>
            </a:r>
            <a:endParaRPr lang="en-US" sz="1300" dirty="0"/>
          </a:p>
        </p:txBody>
      </p:sp>
      <p:sp>
        <p:nvSpPr>
          <p:cNvPr id="33" name="Shape 31"/>
          <p:cNvSpPr/>
          <p:nvPr/>
        </p:nvSpPr>
        <p:spPr>
          <a:xfrm>
            <a:off x="1371600" y="4617720"/>
            <a:ext cx="9418320" cy="731520"/>
          </a:xfrm>
          <a:prstGeom prst="rect">
            <a:avLst/>
          </a:prstGeom>
          <a:solidFill>
            <a:srgbClr val="1F3864"/>
          </a:solidFill>
          <a:ln/>
        </p:spPr>
      </p:sp>
      <p:sp>
        <p:nvSpPr>
          <p:cNvPr id="34" name="Text 32"/>
          <p:cNvSpPr/>
          <p:nvPr/>
        </p:nvSpPr>
        <p:spPr>
          <a:xfrm>
            <a:off x="1508760" y="4663440"/>
            <a:ext cx="2286000" cy="256032"/>
          </a:xfrm>
          <a:prstGeom prst="rect">
            <a:avLst/>
          </a:prstGeom>
          <a:noFill/>
          <a:ln/>
        </p:spPr>
        <p:txBody>
          <a:bodyPr wrap="square" rtlCol="0" anchor="ctr"/>
          <a:lstStyle/>
          <a:p>
            <a:pPr marL="0" indent="0">
              <a:buNone/>
            </a:pPr>
            <a:r>
              <a:rPr lang="en-US" sz="1200" b="1" dirty="0">
                <a:solidFill>
                  <a:srgbClr val="FFFFFF"/>
                </a:solidFill>
              </a:rPr>
              <a:t>Evaluator Focus</a:t>
            </a:r>
            <a:endParaRPr lang="en-US" sz="1200" dirty="0"/>
          </a:p>
        </p:txBody>
      </p:sp>
      <p:sp>
        <p:nvSpPr>
          <p:cNvPr id="35" name="Text 33"/>
          <p:cNvSpPr/>
          <p:nvPr/>
        </p:nvSpPr>
        <p:spPr>
          <a:xfrm>
            <a:off x="1508760" y="4956048"/>
            <a:ext cx="9144000" cy="320040"/>
          </a:xfrm>
          <a:prstGeom prst="rect">
            <a:avLst/>
          </a:prstGeom>
          <a:noFill/>
          <a:ln/>
        </p:spPr>
        <p:txBody>
          <a:bodyPr wrap="square" rtlCol="0" anchor="ctr"/>
          <a:lstStyle/>
          <a:p>
            <a:pPr marL="0" indent="0">
              <a:buNone/>
            </a:pPr>
            <a:r>
              <a:rPr lang="en-US" sz="1100" dirty="0">
                <a:solidFill>
                  <a:srgbClr val="AACCEE"/>
                </a:solidFill>
              </a:rPr>
              <a:t>CO1 is verified through cloud design reasoning, service choices, evidence, and individual explanation.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9728"/>
          </a:xfrm>
          <a:prstGeom prst="rect">
            <a:avLst/>
          </a:prstGeom>
          <a:solidFill>
            <a:srgbClr val="1F3864"/>
          </a:solidFill>
          <a:ln/>
        </p:spPr>
      </p:sp>
      <p:sp>
        <p:nvSpPr>
          <p:cNvPr id="3" name="Text 1"/>
          <p:cNvSpPr/>
          <p:nvPr/>
        </p:nvSpPr>
        <p:spPr>
          <a:xfrm>
            <a:off x="4572000" y="9144"/>
            <a:ext cx="7159752" cy="128016"/>
          </a:xfrm>
          <a:prstGeom prst="rect">
            <a:avLst/>
          </a:prstGeom>
          <a:noFill/>
          <a:ln/>
        </p:spPr>
        <p:txBody>
          <a:bodyPr wrap="square" rtlCol="0" anchor="ctr"/>
          <a:lstStyle/>
          <a:p>
            <a:pPr marL="0" indent="0" algn="r">
              <a:buNone/>
            </a:pPr>
            <a:r>
              <a:rPr lang="en-US" sz="900" b="1" dirty="0">
                <a:solidFill>
                  <a:srgbClr val="1F3864"/>
                </a:solidFill>
              </a:rPr>
              <a:t>CSA15 | Cloud Computing and Big Data Analytics</a:t>
            </a:r>
            <a:endParaRPr lang="en-US" sz="900" dirty="0"/>
          </a:p>
        </p:txBody>
      </p:sp>
      <p:sp>
        <p:nvSpPr>
          <p:cNvPr id="4" name="Shape 2"/>
          <p:cNvSpPr/>
          <p:nvPr/>
        </p:nvSpPr>
        <p:spPr>
          <a:xfrm>
            <a:off x="0" y="6720840"/>
            <a:ext cx="12192000" cy="137160"/>
          </a:xfrm>
          <a:prstGeom prst="rect">
            <a:avLst/>
          </a:prstGeom>
          <a:solidFill>
            <a:srgbClr val="FFFFFF"/>
          </a:solidFill>
          <a:ln/>
        </p:spPr>
      </p:sp>
      <p:sp>
        <p:nvSpPr>
          <p:cNvPr id="5" name="Text 3"/>
          <p:cNvSpPr/>
          <p:nvPr/>
        </p:nvSpPr>
        <p:spPr>
          <a:xfrm>
            <a:off x="274320" y="6729984"/>
            <a:ext cx="8229600" cy="109728"/>
          </a:xfrm>
          <a:prstGeom prst="rect">
            <a:avLst/>
          </a:prstGeom>
          <a:noFill/>
          <a:ln/>
        </p:spPr>
        <p:txBody>
          <a:bodyPr wrap="square" rtlCol="0" anchor="ctr"/>
          <a:lstStyle/>
          <a:p>
            <a:pPr marL="0" indent="0">
              <a:buNone/>
            </a:pPr>
            <a:r>
              <a:rPr lang="en-US" sz="800" dirty="0">
                <a:solidFill>
                  <a:srgbClr val="595959"/>
                </a:solidFill>
              </a:rPr>
              <a:t>Individual student submission template | Department of Computer Science and Engineering</a:t>
            </a:r>
            <a:endParaRPr lang="en-US" sz="800" dirty="0"/>
          </a:p>
        </p:txBody>
      </p:sp>
      <p:sp>
        <p:nvSpPr>
          <p:cNvPr id="6" name="Text 4"/>
          <p:cNvSpPr/>
          <p:nvPr/>
        </p:nvSpPr>
        <p:spPr>
          <a:xfrm>
            <a:off x="10515600" y="6729984"/>
            <a:ext cx="1554480" cy="109728"/>
          </a:xfrm>
          <a:prstGeom prst="rect">
            <a:avLst/>
          </a:prstGeom>
          <a:noFill/>
          <a:ln/>
        </p:spPr>
        <p:txBody>
          <a:bodyPr wrap="square" rtlCol="0" anchor="ctr"/>
          <a:lstStyle/>
          <a:p>
            <a:pPr marL="0" indent="0" algn="r">
              <a:buNone/>
            </a:pPr>
            <a:r>
              <a:rPr lang="en-US" sz="800" b="1" dirty="0">
                <a:solidFill>
                  <a:srgbClr val="1F3864"/>
                </a:solidFill>
              </a:rPr>
              <a:t>CO1 AT3 | 12</a:t>
            </a:r>
            <a:endParaRPr lang="en-US" sz="800" dirty="0"/>
          </a:p>
        </p:txBody>
      </p:sp>
      <p:sp>
        <p:nvSpPr>
          <p:cNvPr id="7" name="Text 5"/>
          <p:cNvSpPr/>
          <p:nvPr/>
        </p:nvSpPr>
        <p:spPr>
          <a:xfrm>
            <a:off x="365760" y="201168"/>
            <a:ext cx="11430000" cy="502920"/>
          </a:xfrm>
          <a:prstGeom prst="rect">
            <a:avLst/>
          </a:prstGeom>
          <a:noFill/>
          <a:ln/>
        </p:spPr>
        <p:txBody>
          <a:bodyPr wrap="square" rtlCol="0" anchor="ctr"/>
          <a:lstStyle/>
          <a:p>
            <a:pPr marL="0" indent="0">
              <a:buNone/>
            </a:pPr>
            <a:r>
              <a:rPr lang="en-US" sz="2800" b="1" dirty="0">
                <a:solidFill>
                  <a:srgbClr val="1F3864"/>
                </a:solidFill>
              </a:rPr>
              <a:t>Conclusion, Limitations and Future Scope</a:t>
            </a:r>
            <a:endParaRPr lang="en-US" sz="2800" dirty="0"/>
          </a:p>
        </p:txBody>
      </p:sp>
      <p:sp>
        <p:nvSpPr>
          <p:cNvPr id="8" name="Text 6"/>
          <p:cNvSpPr/>
          <p:nvPr/>
        </p:nvSpPr>
        <p:spPr>
          <a:xfrm>
            <a:off x="365760" y="713232"/>
            <a:ext cx="9144000" cy="201168"/>
          </a:xfrm>
          <a:prstGeom prst="rect">
            <a:avLst/>
          </a:prstGeom>
          <a:noFill/>
          <a:ln/>
        </p:spPr>
        <p:txBody>
          <a:bodyPr wrap="square" rtlCol="0" anchor="ctr"/>
          <a:lstStyle/>
          <a:p>
            <a:pPr marL="0" indent="0">
              <a:buNone/>
            </a:pPr>
            <a:r>
              <a:rPr lang="en-US" sz="1400" dirty="0">
                <a:solidFill>
                  <a:srgbClr val="595959"/>
                </a:solidFill>
              </a:rPr>
              <a:t>We close with learning, limitations and next steps</a:t>
            </a:r>
            <a:endParaRPr lang="en-US" sz="1400" dirty="0"/>
          </a:p>
        </p:txBody>
      </p:sp>
      <p:sp>
        <p:nvSpPr>
          <p:cNvPr id="9" name="Shape 7"/>
          <p:cNvSpPr/>
          <p:nvPr/>
        </p:nvSpPr>
        <p:spPr>
          <a:xfrm>
            <a:off x="365760" y="1005840"/>
            <a:ext cx="5394960" cy="2194560"/>
          </a:xfrm>
          <a:prstGeom prst="rect">
            <a:avLst/>
          </a:prstGeom>
          <a:solidFill>
            <a:srgbClr val="EFF3F8"/>
          </a:solidFill>
          <a:ln w="12700">
            <a:solidFill>
              <a:srgbClr val="D0D8E4"/>
            </a:solidFill>
            <a:prstDash val="solid"/>
          </a:ln>
        </p:spPr>
      </p:sp>
      <p:sp>
        <p:nvSpPr>
          <p:cNvPr id="10" name="Shape 8"/>
          <p:cNvSpPr/>
          <p:nvPr/>
        </p:nvSpPr>
        <p:spPr>
          <a:xfrm>
            <a:off x="365760" y="1005840"/>
            <a:ext cx="54864" cy="2194560"/>
          </a:xfrm>
          <a:prstGeom prst="rect">
            <a:avLst/>
          </a:prstGeom>
          <a:solidFill>
            <a:srgbClr val="2E75B6"/>
          </a:solidFill>
          <a:ln/>
        </p:spPr>
      </p:sp>
      <p:sp>
        <p:nvSpPr>
          <p:cNvPr id="11" name="Text 9"/>
          <p:cNvSpPr/>
          <p:nvPr/>
        </p:nvSpPr>
        <p:spPr>
          <a:xfrm>
            <a:off x="493776" y="1170432"/>
            <a:ext cx="5212080" cy="256032"/>
          </a:xfrm>
          <a:prstGeom prst="rect">
            <a:avLst/>
          </a:prstGeom>
          <a:noFill/>
          <a:ln/>
        </p:spPr>
        <p:txBody>
          <a:bodyPr wrap="square" rtlCol="0" anchor="ctr"/>
          <a:lstStyle/>
          <a:p>
            <a:pPr marL="0" indent="0">
              <a:buNone/>
            </a:pPr>
            <a:r>
              <a:rPr lang="en-US" sz="1400" b="1" dirty="0">
                <a:solidFill>
                  <a:srgbClr val="2E75B6"/>
                </a:solidFill>
              </a:rPr>
              <a:t>Learning Outcome</a:t>
            </a:r>
            <a:endParaRPr lang="en-US" sz="1400" dirty="0"/>
          </a:p>
        </p:txBody>
      </p:sp>
      <p:sp>
        <p:nvSpPr>
          <p:cNvPr id="12" name="Text 10"/>
          <p:cNvSpPr/>
          <p:nvPr/>
        </p:nvSpPr>
        <p:spPr>
          <a:xfrm>
            <a:off x="493776" y="1463040"/>
            <a:ext cx="5212080" cy="1645920"/>
          </a:xfrm>
          <a:prstGeom prst="rect">
            <a:avLst/>
          </a:prstGeom>
          <a:noFill/>
          <a:ln/>
        </p:spPr>
        <p:txBody>
          <a:bodyPr wrap="square" rtlCol="0" anchor="ctr"/>
          <a:lstStyle/>
          <a:p>
            <a:pPr marL="0" indent="0">
              <a:buNone/>
            </a:pPr>
            <a:r>
              <a:rPr lang="en-US" sz="1200" dirty="0">
                <a:solidFill>
                  <a:srgbClr val="595959"/>
                </a:solidFill>
              </a:rPr>
              <a:t>This project clarified that IaaS / PaaS / SaaS are not just labels but a spectrum of responsibility transfer. Choosing Lambda (PaaS) meant explicitly handing OS management, scaling, and patching to AWS. The shared responsibility model became concrete through the IAM role and S3 bucket policy decisions. I also understood elasticity as a cost model — Lambda charges per use, not per reservation, which directly shapes product economics.</a:t>
            </a:r>
            <a:endParaRPr lang="en-US" sz="1200" dirty="0"/>
          </a:p>
        </p:txBody>
      </p:sp>
      <p:sp>
        <p:nvSpPr>
          <p:cNvPr id="13" name="Shape 11"/>
          <p:cNvSpPr/>
          <p:nvPr/>
        </p:nvSpPr>
        <p:spPr>
          <a:xfrm>
            <a:off x="6217920" y="1005840"/>
            <a:ext cx="5394960" cy="2194560"/>
          </a:xfrm>
          <a:prstGeom prst="rect">
            <a:avLst/>
          </a:prstGeom>
          <a:solidFill>
            <a:srgbClr val="EFF3F8"/>
          </a:solidFill>
          <a:ln w="12700">
            <a:solidFill>
              <a:srgbClr val="D0D8E4"/>
            </a:solidFill>
            <a:prstDash val="solid"/>
          </a:ln>
        </p:spPr>
      </p:sp>
      <p:sp>
        <p:nvSpPr>
          <p:cNvPr id="14" name="Shape 12"/>
          <p:cNvSpPr/>
          <p:nvPr/>
        </p:nvSpPr>
        <p:spPr>
          <a:xfrm>
            <a:off x="6217920" y="1005840"/>
            <a:ext cx="54864" cy="2194560"/>
          </a:xfrm>
          <a:prstGeom prst="rect">
            <a:avLst/>
          </a:prstGeom>
          <a:solidFill>
            <a:srgbClr val="C0392B"/>
          </a:solidFill>
          <a:ln/>
        </p:spPr>
      </p:sp>
      <p:sp>
        <p:nvSpPr>
          <p:cNvPr id="15" name="Text 13"/>
          <p:cNvSpPr/>
          <p:nvPr/>
        </p:nvSpPr>
        <p:spPr>
          <a:xfrm>
            <a:off x="6345936" y="1170432"/>
            <a:ext cx="5212080" cy="256032"/>
          </a:xfrm>
          <a:prstGeom prst="rect">
            <a:avLst/>
          </a:prstGeom>
          <a:noFill/>
          <a:ln/>
        </p:spPr>
        <p:txBody>
          <a:bodyPr wrap="square" rtlCol="0" anchor="ctr"/>
          <a:lstStyle/>
          <a:p>
            <a:pPr marL="0" indent="0">
              <a:buNone/>
            </a:pPr>
            <a:r>
              <a:rPr lang="en-US" sz="1400" b="1" dirty="0">
                <a:solidFill>
                  <a:srgbClr val="C0392B"/>
                </a:solidFill>
              </a:rPr>
              <a:t>Limitations</a:t>
            </a:r>
            <a:endParaRPr lang="en-US" sz="1400" dirty="0"/>
          </a:p>
        </p:txBody>
      </p:sp>
      <p:sp>
        <p:nvSpPr>
          <p:cNvPr id="16" name="Text 14"/>
          <p:cNvSpPr/>
          <p:nvPr/>
        </p:nvSpPr>
        <p:spPr>
          <a:xfrm>
            <a:off x="6345936" y="1463040"/>
            <a:ext cx="5212080" cy="1645920"/>
          </a:xfrm>
          <a:prstGeom prst="rect">
            <a:avLst/>
          </a:prstGeom>
          <a:noFill/>
          <a:ln/>
        </p:spPr>
        <p:txBody>
          <a:bodyPr wrap="square" rtlCol="0" anchor="ctr"/>
          <a:lstStyle/>
          <a:p>
            <a:pPr marL="0" indent="0">
              <a:buNone/>
            </a:pPr>
            <a:r>
              <a:rPr lang="en-US" sz="1200" dirty="0">
                <a:solidFill>
                  <a:srgbClr val="595959"/>
                </a:solidFill>
              </a:rPr>
              <a:t>• spaCy NER accuracy is ~80% on generic skill taxonomies — domain-specific skill gaps (e.g., finance certifications) may be missed</a:t>
            </a:r>
            <a:endParaRPr lang="en-US" sz="1200" dirty="0"/>
          </a:p>
          <a:p>
            <a:pPr marL="0" indent="0">
              <a:buNone/>
            </a:pPr>
            <a:r>
              <a:rPr lang="en-US" sz="1200" dirty="0">
                <a:solidFill>
                  <a:srgbClr val="595959"/>
                </a:solidFill>
              </a:rPr>
              <a:t>• V1 supports only English-language resumes</a:t>
            </a:r>
            <a:endParaRPr lang="en-US" sz="1200" dirty="0"/>
          </a:p>
          <a:p>
            <a:pPr marL="0" indent="0">
              <a:buNone/>
            </a:pPr>
            <a:r>
              <a:rPr lang="en-US" sz="1200" dirty="0">
                <a:solidFill>
                  <a:srgbClr val="595959"/>
                </a:solidFill>
              </a:rPr>
              <a:t>• CloudWatch alerting is reactive — no predictive scaling policy yet</a:t>
            </a:r>
            <a:endParaRPr lang="en-US" sz="1200" dirty="0"/>
          </a:p>
          <a:p>
            <a:pPr marL="0" indent="0">
              <a:buNone/>
            </a:pPr>
            <a:r>
              <a:rPr lang="en-US" sz="1200" dirty="0">
                <a:solidFill>
                  <a:srgbClr val="595959"/>
                </a:solidFill>
              </a:rPr>
              <a:t>• QuickSight dashboard requires AWS account access; no public-share URL available for V1 demo</a:t>
            </a:r>
            <a:endParaRPr lang="en-US" sz="1200" dirty="0"/>
          </a:p>
        </p:txBody>
      </p:sp>
      <p:sp>
        <p:nvSpPr>
          <p:cNvPr id="17" name="Shape 15"/>
          <p:cNvSpPr/>
          <p:nvPr/>
        </p:nvSpPr>
        <p:spPr>
          <a:xfrm>
            <a:off x="365760" y="3383280"/>
            <a:ext cx="5394960" cy="2194560"/>
          </a:xfrm>
          <a:prstGeom prst="rect">
            <a:avLst/>
          </a:prstGeom>
          <a:solidFill>
            <a:srgbClr val="EFF3F8"/>
          </a:solidFill>
          <a:ln w="12700">
            <a:solidFill>
              <a:srgbClr val="D0D8E4"/>
            </a:solidFill>
            <a:prstDash val="solid"/>
          </a:ln>
        </p:spPr>
      </p:sp>
      <p:sp>
        <p:nvSpPr>
          <p:cNvPr id="18" name="Shape 16"/>
          <p:cNvSpPr/>
          <p:nvPr/>
        </p:nvSpPr>
        <p:spPr>
          <a:xfrm>
            <a:off x="365760" y="3383280"/>
            <a:ext cx="54864" cy="2194560"/>
          </a:xfrm>
          <a:prstGeom prst="rect">
            <a:avLst/>
          </a:prstGeom>
          <a:solidFill>
            <a:srgbClr val="217346"/>
          </a:solidFill>
          <a:ln/>
        </p:spPr>
      </p:sp>
      <p:sp>
        <p:nvSpPr>
          <p:cNvPr id="19" name="Text 17"/>
          <p:cNvSpPr/>
          <p:nvPr/>
        </p:nvSpPr>
        <p:spPr>
          <a:xfrm>
            <a:off x="493776" y="3547872"/>
            <a:ext cx="5212080" cy="256032"/>
          </a:xfrm>
          <a:prstGeom prst="rect">
            <a:avLst/>
          </a:prstGeom>
          <a:noFill/>
          <a:ln/>
        </p:spPr>
        <p:txBody>
          <a:bodyPr wrap="square" rtlCol="0" anchor="ctr"/>
          <a:lstStyle/>
          <a:p>
            <a:pPr marL="0" indent="0">
              <a:buNone/>
            </a:pPr>
            <a:r>
              <a:rPr lang="en-US" sz="1400" b="1" dirty="0">
                <a:solidFill>
                  <a:srgbClr val="217346"/>
                </a:solidFill>
              </a:rPr>
              <a:t>Future Improvement</a:t>
            </a:r>
            <a:endParaRPr lang="en-US" sz="1400" dirty="0"/>
          </a:p>
        </p:txBody>
      </p:sp>
      <p:sp>
        <p:nvSpPr>
          <p:cNvPr id="20" name="Text 18"/>
          <p:cNvSpPr/>
          <p:nvPr/>
        </p:nvSpPr>
        <p:spPr>
          <a:xfrm>
            <a:off x="493776" y="3840480"/>
            <a:ext cx="5212080" cy="1645920"/>
          </a:xfrm>
          <a:prstGeom prst="rect">
            <a:avLst/>
          </a:prstGeom>
          <a:noFill/>
          <a:ln/>
        </p:spPr>
        <p:txBody>
          <a:bodyPr wrap="square" rtlCol="0" anchor="ctr"/>
          <a:lstStyle/>
          <a:p>
            <a:pPr marL="0" indent="0">
              <a:buNone/>
            </a:pPr>
            <a:r>
              <a:rPr lang="en-US" sz="1200" dirty="0">
                <a:solidFill>
                  <a:srgbClr val="595959"/>
                </a:solidFill>
              </a:rPr>
              <a:t>• Fine-tune spaCy NER on a labelled skill dataset (O*NET taxonomy)</a:t>
            </a:r>
            <a:endParaRPr lang="en-US" sz="1200" dirty="0"/>
          </a:p>
          <a:p>
            <a:pPr marL="0" indent="0">
              <a:buNone/>
            </a:pPr>
            <a:r>
              <a:rPr lang="en-US" sz="1200" dirty="0">
                <a:solidFill>
                  <a:srgbClr val="595959"/>
                </a:solidFill>
              </a:rPr>
              <a:t>• Add Kinesis Data Streams for real-time job-posting ingestion from job boards</a:t>
            </a:r>
            <a:endParaRPr lang="en-US" sz="1200" dirty="0"/>
          </a:p>
          <a:p>
            <a:pPr marL="0" indent="0">
              <a:buNone/>
            </a:pPr>
            <a:r>
              <a:rPr lang="en-US" sz="1200" dirty="0">
                <a:solidFill>
                  <a:srgbClr val="595959"/>
                </a:solidFill>
              </a:rPr>
              <a:t>• Implement edge inference for offline mobile resume pre-screening</a:t>
            </a:r>
            <a:endParaRPr lang="en-US" sz="1200" dirty="0"/>
          </a:p>
          <a:p>
            <a:pPr marL="0" indent="0">
              <a:buNone/>
            </a:pPr>
            <a:r>
              <a:rPr lang="en-US" sz="1200" dirty="0">
                <a:solidFill>
                  <a:srgbClr val="595959"/>
                </a:solidFill>
              </a:rPr>
              <a:t>• Build recruiter-facing batch shortlisting API for ATS (Applicant Tracking System) integration</a:t>
            </a:r>
            <a:endParaRPr lang="en-US" sz="1200" dirty="0"/>
          </a:p>
          <a:p>
            <a:pPr marL="0" indent="0">
              <a:buNone/>
            </a:pPr>
            <a:r>
              <a:rPr lang="en-US" sz="1200" dirty="0">
                <a:solidFill>
                  <a:srgbClr val="595959"/>
                </a:solidFill>
              </a:rPr>
              <a:t>• Add multi-language resume support (Tamil, Hindi) using AWS Translate</a:t>
            </a:r>
            <a:endParaRPr lang="en-US" sz="1200" dirty="0"/>
          </a:p>
        </p:txBody>
      </p:sp>
      <p:sp>
        <p:nvSpPr>
          <p:cNvPr id="21" name="Shape 19"/>
          <p:cNvSpPr/>
          <p:nvPr/>
        </p:nvSpPr>
        <p:spPr>
          <a:xfrm>
            <a:off x="6217920" y="3383280"/>
            <a:ext cx="5394960" cy="2194560"/>
          </a:xfrm>
          <a:prstGeom prst="rect">
            <a:avLst/>
          </a:prstGeom>
          <a:solidFill>
            <a:srgbClr val="EFF3F8"/>
          </a:solidFill>
          <a:ln w="12700">
            <a:solidFill>
              <a:srgbClr val="D0D8E4"/>
            </a:solidFill>
            <a:prstDash val="solid"/>
          </a:ln>
        </p:spPr>
      </p:sp>
      <p:sp>
        <p:nvSpPr>
          <p:cNvPr id="22" name="Shape 20"/>
          <p:cNvSpPr/>
          <p:nvPr/>
        </p:nvSpPr>
        <p:spPr>
          <a:xfrm>
            <a:off x="6217920" y="3383280"/>
            <a:ext cx="54864" cy="2194560"/>
          </a:xfrm>
          <a:prstGeom prst="rect">
            <a:avLst/>
          </a:prstGeom>
          <a:solidFill>
            <a:srgbClr val="C65911"/>
          </a:solidFill>
          <a:ln/>
        </p:spPr>
      </p:sp>
      <p:sp>
        <p:nvSpPr>
          <p:cNvPr id="23" name="Text 21"/>
          <p:cNvSpPr/>
          <p:nvPr/>
        </p:nvSpPr>
        <p:spPr>
          <a:xfrm>
            <a:off x="6345936" y="3547872"/>
            <a:ext cx="5212080" cy="256032"/>
          </a:xfrm>
          <a:prstGeom prst="rect">
            <a:avLst/>
          </a:prstGeom>
          <a:noFill/>
          <a:ln/>
        </p:spPr>
        <p:txBody>
          <a:bodyPr wrap="square" rtlCol="0" anchor="ctr"/>
          <a:lstStyle/>
          <a:p>
            <a:pPr marL="0" indent="0">
              <a:buNone/>
            </a:pPr>
            <a:r>
              <a:rPr lang="en-US" sz="1400" b="1" dirty="0">
                <a:solidFill>
                  <a:srgbClr val="C65911"/>
                </a:solidFill>
              </a:rPr>
              <a:t>Integrity Statement</a:t>
            </a:r>
            <a:endParaRPr lang="en-US" sz="1400" dirty="0"/>
          </a:p>
        </p:txBody>
      </p:sp>
      <p:sp>
        <p:nvSpPr>
          <p:cNvPr id="24" name="Text 22"/>
          <p:cNvSpPr/>
          <p:nvPr/>
        </p:nvSpPr>
        <p:spPr>
          <a:xfrm>
            <a:off x="6345936" y="3840480"/>
            <a:ext cx="5212080" cy="1645920"/>
          </a:xfrm>
          <a:prstGeom prst="rect">
            <a:avLst/>
          </a:prstGeom>
          <a:noFill/>
          <a:ln/>
        </p:spPr>
        <p:txBody>
          <a:bodyPr wrap="square" rtlCol="0" anchor="ctr"/>
          <a:lstStyle/>
          <a:p>
            <a:pPr marL="0" indent="0">
              <a:buNone/>
            </a:pPr>
            <a:r>
              <a:rPr lang="en-US" sz="1200" dirty="0">
                <a:solidFill>
                  <a:srgbClr val="595959"/>
                </a:solidFill>
              </a:rPr>
              <a:t>• Cloud design references: AWS Well-Architected Framework, AWS Lambda Developer Guide</a:t>
            </a:r>
            <a:endParaRPr lang="en-US" sz="1200" dirty="0"/>
          </a:p>
          <a:p>
            <a:pPr marL="0" indent="0">
              <a:buNone/>
            </a:pPr>
            <a:r>
              <a:rPr lang="en-US" sz="1200" dirty="0">
                <a:solidFill>
                  <a:srgbClr val="595959"/>
                </a:solidFill>
              </a:rPr>
              <a:t>• NLP library: spaCy v3 (MIT License), pdfplumber (MIT License)</a:t>
            </a:r>
            <a:endParaRPr lang="en-US" sz="1200" dirty="0"/>
          </a:p>
          <a:p>
            <a:pPr marL="0" indent="0">
              <a:buNone/>
            </a:pPr>
            <a:r>
              <a:rPr lang="en-US" sz="1200" dirty="0">
                <a:solidFill>
                  <a:srgbClr val="595959"/>
                </a:solidFill>
              </a:rPr>
              <a:t>• Concept map and flow diagrams prepared individually using draw.io</a:t>
            </a:r>
            <a:endParaRPr lang="en-US" sz="1200" dirty="0"/>
          </a:p>
          <a:p>
            <a:pPr marL="0" indent="0">
              <a:buNone/>
            </a:pPr>
            <a:r>
              <a:rPr lang="en-US" sz="1200" dirty="0">
                <a:solidFill>
                  <a:srgbClr val="595959"/>
                </a:solidFill>
              </a:rPr>
              <a:t>• AI assistance: Claude (Anthropic) used for drafting explanations; all code, architecture, and evidence are individually prepared</a:t>
            </a:r>
            <a:endParaRPr lang="en-US" sz="1200" dirty="0"/>
          </a:p>
          <a:p>
            <a:pPr marL="0" indent="0">
              <a:buNone/>
            </a:pPr>
            <a:r>
              <a:rPr lang="en-US" sz="1200" dirty="0">
                <a:solidFill>
                  <a:srgbClr val="595959"/>
                </a:solidFill>
              </a:rPr>
              <a:t>• No common team content submitted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2695</Words>
  <Application>Microsoft Office PowerPoint</Application>
  <PresentationFormat>Widescreen</PresentationFormat>
  <Paragraphs>333</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Nihas Goud Lingala</cp:lastModifiedBy>
  <cp:revision>2</cp:revision>
  <dcterms:created xsi:type="dcterms:W3CDTF">2026-07-19T16:28:33Z</dcterms:created>
  <dcterms:modified xsi:type="dcterms:W3CDTF">2026-07-19T16:36:57Z</dcterms:modified>
</cp:coreProperties>
</file>